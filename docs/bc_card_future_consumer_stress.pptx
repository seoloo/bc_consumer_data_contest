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2" r:id="rId15"/>
    <p:sldId id="269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성장군</c:v>
          </c:tx>
          <c:spPr>
            <a:solidFill>
              <a:srgbClr val="4D6EC7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서울</c:v>
                </c:pt>
                <c:pt idx="1">
                  <c:v>부산</c:v>
                </c:pt>
                <c:pt idx="2">
                  <c:v>경기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-9</c:v>
                </c:pt>
                <c:pt idx="1">
                  <c:v>-16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2E-4F02-A4C3-76547A506322}"/>
            </c:ext>
          </c:extLst>
        </c:ser>
        <c:ser>
          <c:idx val="1"/>
          <c:order val="1"/>
          <c:tx>
            <c:v>비성장군</c:v>
          </c:tx>
          <c:spPr>
            <a:solidFill>
              <a:srgbClr val="A8B9E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algun Gothic"/>
                    <a:ea typeface="Malgun Gothic"/>
                    <a:cs typeface="Malgun Gothic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서울</c:v>
                </c:pt>
                <c:pt idx="1">
                  <c:v>부산</c:v>
                </c:pt>
                <c:pt idx="2">
                  <c:v>경기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-6</c:v>
                </c:pt>
                <c:pt idx="1">
                  <c:v>-11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2E-4F02-A4C3-76547A50632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  <a:endParaRPr lang="ko-K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>
              <a:latin typeface="Malgun Gothic"/>
              <a:ea typeface="Malgun Gothic"/>
              <a:cs typeface="Malgun Gothic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기준: bc_contest_v2.2_full_reference_layout_final.pptx</a:t>
            </a:r>
          </a:p>
          <a:p>
            <a:r>
              <a:t>디자인 기준: 사용자가 제공한 4페이지 레이아웃 이미지.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기존 8단계 목차에 09 분석 기술을 추가한 9단계 개요 슬라이드.</a:t>
            </a:r>
          </a:p>
          <a:p>
            <a:r>
              <a:t>09 분석 기술은 Python, 통계 검정, 민감도 분석을 설명하는 독립 슬라이드와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bc_contest_v2.2_full_reference_layout_final.pptx</a:t>
            </a:r>
          </a:p>
          <a:p>
            <a:r>
              <a:t>문제 정의와 카드 데이터의 관측 한계를 함께 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비교대상: 6개월 완전 사례, 지역별 Q75, 성장 3조건. 외부유입 자료는 지역별 데이터가 서로 동일하지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Future Stress는 매출예측이 아니라 인구구조 변화에 대한 상대적 노출도.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차트 값: 서울 -9/-6, 부산 -16/-11, 경기 10/7. 부산 성장군 n=4로 해석 제한.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Q75 176건: 회복기회 58, 지속성장 9, 구조취약 92, 착시성장 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02_naver_api.ipynb</a:t>
            </a:r>
          </a:p>
          <a:p>
            <a:r>
              <a:t>결제와 관심의 차이는 부모카드 등 특정 원인으로 단정하지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02_naver_api.ipynb</a:t>
            </a:r>
          </a:p>
          <a:p>
            <a:r>
              <a:t>대표 사례는 유형 작동방식을 설명하며 유형 전체 평균을 대표하지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03_bc_data.ipynb</a:t>
            </a:r>
          </a:p>
          <a:p>
            <a:r>
              <a:t>사상구 What-if 상대적 위험완화 약 1.3%.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01_population.ipynb · data/processed/final_3region_robustness.csv</a:t>
            </a:r>
          </a:p>
          <a:p>
            <a:r>
              <a:t>세 지역 데이터는 기간·구조·보정 방식이 달라 직접 비교하지 않음. 실제 고객 거주지 보정이 아닌 민감도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01_population.ipynb · 02_naver_api.ipynb · 03_bc_data.ipynb</a:t>
            </a:r>
          </a:p>
          <a:p>
            <a:r>
              <a:t>현재 소비에서 미래 고객과 실행전략까지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구현 근거: notebook/01_population.ipynb, notebook/02_naver_api.ipynb, notebook/03_bc_data.ipynb</a:t>
            </a:r>
          </a:p>
          <a:p>
            <a:r>
              <a:t>기술 설명용 독립 슬라이드. 분석 환경, 라이브러리 역할, 통계 검정 선택 이유, 대표 코드를 한 페이지에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분석 근거: 사용자 최종 발표자료 bc_contest_v2.7.pptx와 notebook/01_population.ipynb, 02_naver_api.ipynb, 03_bc_data.ipynb. 소비비중은 0~1 비율을 사용한다. 외부유입은 지역별 민감도 검증이며 실제 고객 거주지를 식별하거나 보정한 결과가 아니다. 서울의 고연령 생활인구는 60~74세 대리구간을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BC Card 데이터 공모전 발표 마지막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714B2D41-947E-4E1F-89BB-253316AB9F4F}"/>
              </a:ext>
            </a:extLst>
          </p:cNvPr>
          <p:cNvSpPr>
            <a:spLocks noGrp="1"/>
          </p:cNvSpPr>
          <p:nvPr/>
        </p:nvSpPr>
        <p:spPr>
          <a:xfrm>
            <a:off x="8648700" y="0"/>
            <a:ext cx="3543300" cy="6858000"/>
          </a:xfrm>
          <a:prstGeom prst="rect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462E04F-9AE3-41A1-84C5-93FF534314A6}"/>
              </a:ext>
            </a:extLst>
          </p:cNvPr>
          <p:cNvSpPr>
            <a:spLocks noGrp="1"/>
          </p:cNvSpPr>
          <p:nvPr/>
        </p:nvSpPr>
        <p:spPr>
          <a:xfrm>
            <a:off x="9791700" y="0"/>
            <a:ext cx="1181100" cy="6858000"/>
          </a:xfrm>
          <a:prstGeom prst="rect">
            <a:avLst/>
          </a:prstGeom>
          <a:solidFill>
            <a:srgbClr val="D9E6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3B1ACBE-CB8F-4F7F-8162-E758798BBFA3}"/>
              </a:ext>
            </a:extLst>
          </p:cNvPr>
          <p:cNvSpPr>
            <a:spLocks noGrp="1"/>
          </p:cNvSpPr>
          <p:nvPr/>
        </p:nvSpPr>
        <p:spPr>
          <a:xfrm>
            <a:off x="10972800" y="0"/>
            <a:ext cx="1219200" cy="685800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BFE7F78-9357-4F82-96AF-AB55BE824211}"/>
              </a:ext>
            </a:extLst>
          </p:cNvPr>
          <p:cNvSpPr>
            <a:spLocks noGrp="1"/>
          </p:cNvSpPr>
          <p:nvPr/>
        </p:nvSpPr>
        <p:spPr>
          <a:xfrm>
            <a:off x="609600" y="1630680"/>
            <a:ext cx="70104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3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33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소비기반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B60FC1-FFDE-43DF-9143-902D83BCB5FC}"/>
              </a:ext>
            </a:extLst>
          </p:cNvPr>
          <p:cNvSpPr>
            <a:spLocks noGrp="1"/>
          </p:cNvSpPr>
          <p:nvPr/>
        </p:nvSpPr>
        <p:spPr>
          <a:xfrm>
            <a:off x="609600" y="2225040"/>
            <a:ext cx="7010400" cy="594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33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33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스트레스 테스트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9D9961-74FE-4566-B360-79516E6D67E8}"/>
              </a:ext>
            </a:extLst>
          </p:cNvPr>
          <p:cNvSpPr>
            <a:spLocks noGrp="1"/>
          </p:cNvSpPr>
          <p:nvPr/>
        </p:nvSpPr>
        <p:spPr>
          <a:xfrm>
            <a:off x="624840" y="3078480"/>
            <a:ext cx="6477000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지금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성장해도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2040년엔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안전하지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않다</a:t>
            </a:r>
            <a:endParaRPr sz="174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F13EF8-7262-4821-9CE9-AECD42128D59}"/>
              </a:ext>
            </a:extLst>
          </p:cNvPr>
          <p:cNvSpPr>
            <a:spLocks noGrp="1"/>
          </p:cNvSpPr>
          <p:nvPr/>
        </p:nvSpPr>
        <p:spPr>
          <a:xfrm>
            <a:off x="624840" y="3642360"/>
            <a:ext cx="6858000" cy="563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소비구조에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인구변화를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가중해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소비기반을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진단하고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l">
              <a:defRPr sz="12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lang="en-US"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lang="en-US" sz="126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연결해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유형별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전략을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제안</a:t>
            </a:r>
            <a:r>
              <a:rPr sz="12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870257-E12E-4C45-BA74-9238FA057463}"/>
              </a:ext>
            </a:extLst>
          </p:cNvPr>
          <p:cNvSpPr>
            <a:spLocks noGrp="1"/>
          </p:cNvSpPr>
          <p:nvPr/>
        </p:nvSpPr>
        <p:spPr>
          <a:xfrm>
            <a:off x="624840" y="5245099"/>
            <a:ext cx="763651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3A24EE2-806E-44B6-B094-C4B635391F39}"/>
              </a:ext>
            </a:extLst>
          </p:cNvPr>
          <p:cNvSpPr>
            <a:spLocks noGrp="1"/>
          </p:cNvSpPr>
          <p:nvPr/>
        </p:nvSpPr>
        <p:spPr>
          <a:xfrm>
            <a:off x="62484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379D556-B4EE-4453-B33B-6CB51D2B2F14}"/>
              </a:ext>
            </a:extLst>
          </p:cNvPr>
          <p:cNvSpPr>
            <a:spLocks noGrp="1"/>
          </p:cNvSpPr>
          <p:nvPr/>
        </p:nvSpPr>
        <p:spPr>
          <a:xfrm>
            <a:off x="74676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8589E3B-4080-4240-B671-3A8F23A0EE5D}"/>
              </a:ext>
            </a:extLst>
          </p:cNvPr>
          <p:cNvSpPr>
            <a:spLocks noGrp="1"/>
          </p:cNvSpPr>
          <p:nvPr/>
        </p:nvSpPr>
        <p:spPr>
          <a:xfrm>
            <a:off x="74676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현재소비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7B254EA-9B2E-4110-8145-A0476A6BE853}"/>
              </a:ext>
            </a:extLst>
          </p:cNvPr>
          <p:cNvSpPr>
            <a:spLocks noGrp="1"/>
          </p:cNvSpPr>
          <p:nvPr/>
        </p:nvSpPr>
        <p:spPr>
          <a:xfrm>
            <a:off x="265684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5113F8-73E5-4CDB-9625-E048FCB3C162}"/>
              </a:ext>
            </a:extLst>
          </p:cNvPr>
          <p:cNvSpPr>
            <a:spLocks noGrp="1"/>
          </p:cNvSpPr>
          <p:nvPr/>
        </p:nvSpPr>
        <p:spPr>
          <a:xfrm>
            <a:off x="277876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  <a:endParaRPr sz="10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EC2A3F-56A2-4558-827F-6D91CFDDCFE5}"/>
              </a:ext>
            </a:extLst>
          </p:cNvPr>
          <p:cNvSpPr>
            <a:spLocks noGrp="1"/>
          </p:cNvSpPr>
          <p:nvPr/>
        </p:nvSpPr>
        <p:spPr>
          <a:xfrm>
            <a:off x="277876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미래노출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0C0665B-AD3C-4855-A3E6-358376CEA608}"/>
              </a:ext>
            </a:extLst>
          </p:cNvPr>
          <p:cNvSpPr>
            <a:spLocks noGrp="1"/>
          </p:cNvSpPr>
          <p:nvPr/>
        </p:nvSpPr>
        <p:spPr>
          <a:xfrm>
            <a:off x="466344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07E8481-1402-4A41-BED9-1AA761EFBF94}"/>
              </a:ext>
            </a:extLst>
          </p:cNvPr>
          <p:cNvSpPr>
            <a:spLocks noGrp="1"/>
          </p:cNvSpPr>
          <p:nvPr/>
        </p:nvSpPr>
        <p:spPr>
          <a:xfrm>
            <a:off x="478536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349879-5809-46EE-9C4C-E0EAD3B6005F}"/>
              </a:ext>
            </a:extLst>
          </p:cNvPr>
          <p:cNvSpPr>
            <a:spLocks noGrp="1"/>
          </p:cNvSpPr>
          <p:nvPr/>
        </p:nvSpPr>
        <p:spPr>
          <a:xfrm>
            <a:off x="478536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관심신호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0D84A25-DE16-4775-8494-BB71F0F0AFA4}"/>
              </a:ext>
            </a:extLst>
          </p:cNvPr>
          <p:cNvSpPr>
            <a:spLocks noGrp="1"/>
          </p:cNvSpPr>
          <p:nvPr/>
        </p:nvSpPr>
        <p:spPr>
          <a:xfrm>
            <a:off x="6701790" y="5435600"/>
            <a:ext cx="1508760" cy="586740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E0F51A8-E8EC-441D-BB48-CEB5DE6909AA}"/>
              </a:ext>
            </a:extLst>
          </p:cNvPr>
          <p:cNvSpPr>
            <a:spLocks noGrp="1"/>
          </p:cNvSpPr>
          <p:nvPr/>
        </p:nvSpPr>
        <p:spPr>
          <a:xfrm>
            <a:off x="6823710" y="5519420"/>
            <a:ext cx="126492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외부유입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BA3008-6689-427D-95BB-EA6BE0EE16FB}"/>
              </a:ext>
            </a:extLst>
          </p:cNvPr>
          <p:cNvSpPr>
            <a:spLocks noGrp="1"/>
          </p:cNvSpPr>
          <p:nvPr/>
        </p:nvSpPr>
        <p:spPr>
          <a:xfrm>
            <a:off x="6823710" y="5778500"/>
            <a:ext cx="1264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민감도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2E8949-6E9E-6227-3A03-A8853A88D562}"/>
              </a:ext>
            </a:extLst>
          </p:cNvPr>
          <p:cNvSpPr txBox="1"/>
          <p:nvPr/>
        </p:nvSpPr>
        <p:spPr>
          <a:xfrm>
            <a:off x="6645910" y="4783434"/>
            <a:ext cx="1615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설호현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00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타원 53">
            <a:extLst>
              <a:ext uri="{FF2B5EF4-FFF2-40B4-BE49-F238E27FC236}">
                <a16:creationId xmlns:a16="http://schemas.microsoft.com/office/drawing/2014/main" id="{C612E39F-90F8-4C10-B552-A04C37655E67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438150" cy="43815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D7B10B1-846E-4EAA-8E1B-3982CD952785}"/>
              </a:ext>
            </a:extLst>
          </p:cNvPr>
          <p:cNvSpPr>
            <a:spLocks noGrp="1"/>
          </p:cNvSpPr>
          <p:nvPr/>
        </p:nvSpPr>
        <p:spPr>
          <a:xfrm>
            <a:off x="381000" y="161925"/>
            <a:ext cx="438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A516D3-9B22-4193-92EB-E359660C5A73}"/>
              </a:ext>
            </a:extLst>
          </p:cNvPr>
          <p:cNvSpPr>
            <a:spLocks noGrp="1"/>
          </p:cNvSpPr>
          <p:nvPr/>
        </p:nvSpPr>
        <p:spPr>
          <a:xfrm>
            <a:off x="962025" y="123825"/>
            <a:ext cx="47625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OVERVIEW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E937746-576C-45DE-96E2-A38E02D0BC53}"/>
              </a:ext>
            </a:extLst>
          </p:cNvPr>
          <p:cNvSpPr>
            <a:spLocks noGrp="1"/>
          </p:cNvSpPr>
          <p:nvPr/>
        </p:nvSpPr>
        <p:spPr>
          <a:xfrm>
            <a:off x="381000" y="823912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36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목록</a:t>
            </a:r>
            <a:endParaRPr sz="36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A61C7D-CD29-4191-A0D6-9DAD481C7D32}"/>
              </a:ext>
            </a:extLst>
          </p:cNvPr>
          <p:cNvSpPr>
            <a:spLocks noGrp="1"/>
          </p:cNvSpPr>
          <p:nvPr/>
        </p:nvSpPr>
        <p:spPr>
          <a:xfrm>
            <a:off x="361950" y="158115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0AAFFB6-E0A1-4810-8C5E-370A94D3B7D2}"/>
              </a:ext>
            </a:extLst>
          </p:cNvPr>
          <p:cNvSpPr>
            <a:spLocks noGrp="1"/>
          </p:cNvSpPr>
          <p:nvPr/>
        </p:nvSpPr>
        <p:spPr>
          <a:xfrm>
            <a:off x="552450" y="197167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DC8D700-4B32-4629-8B4A-76D50DC9C46A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A73E6C-1F66-4096-B27A-95D1007054EB}"/>
              </a:ext>
            </a:extLst>
          </p:cNvPr>
          <p:cNvSpPr>
            <a:spLocks noGrp="1"/>
          </p:cNvSpPr>
          <p:nvPr/>
        </p:nvSpPr>
        <p:spPr>
          <a:xfrm>
            <a:off x="1228725" y="184785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문제 정의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29F3347-A632-4673-A1A1-E42433BEBF76}"/>
              </a:ext>
            </a:extLst>
          </p:cNvPr>
          <p:cNvSpPr>
            <a:spLocks noGrp="1"/>
          </p:cNvSpPr>
          <p:nvPr/>
        </p:nvSpPr>
        <p:spPr>
          <a:xfrm>
            <a:off x="1228725" y="22669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성장만으로 미래를 판단할 수 있는가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EF29C12-BB89-4142-8D19-963651F16C6E}"/>
              </a:ext>
            </a:extLst>
          </p:cNvPr>
          <p:cNvSpPr>
            <a:spLocks noGrp="1"/>
          </p:cNvSpPr>
          <p:nvPr/>
        </p:nvSpPr>
        <p:spPr>
          <a:xfrm>
            <a:off x="4276725" y="158115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A06EB22-8057-4333-B974-5321BB0BBEE2}"/>
              </a:ext>
            </a:extLst>
          </p:cNvPr>
          <p:cNvSpPr>
            <a:spLocks noGrp="1"/>
          </p:cNvSpPr>
          <p:nvPr/>
        </p:nvSpPr>
        <p:spPr>
          <a:xfrm>
            <a:off x="4467225" y="197167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6AC6BF8-549A-4391-9A73-9BEB9696FD32}"/>
              </a:ext>
            </a:extLst>
          </p:cNvPr>
          <p:cNvSpPr>
            <a:spLocks noGrp="1"/>
          </p:cNvSpPr>
          <p:nvPr/>
        </p:nvSpPr>
        <p:spPr>
          <a:xfrm>
            <a:off x="4467225" y="20383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C0CB47A-B8F8-4D3F-AC63-B3718C205D2A}"/>
              </a:ext>
            </a:extLst>
          </p:cNvPr>
          <p:cNvSpPr>
            <a:spLocks noGrp="1"/>
          </p:cNvSpPr>
          <p:nvPr/>
        </p:nvSpPr>
        <p:spPr>
          <a:xfrm>
            <a:off x="5143500" y="184785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설계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39D22E-1BBB-444E-BC02-5EFC2082CDB7}"/>
              </a:ext>
            </a:extLst>
          </p:cNvPr>
          <p:cNvSpPr>
            <a:spLocks noGrp="1"/>
          </p:cNvSpPr>
          <p:nvPr/>
        </p:nvSpPr>
        <p:spPr>
          <a:xfrm>
            <a:off x="5143500" y="22669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 및 성장 기준과 Stress 계산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8523F7-B3D9-4D5F-BBCF-02DC0802E7FE}"/>
              </a:ext>
            </a:extLst>
          </p:cNvPr>
          <p:cNvSpPr>
            <a:spLocks noGrp="1"/>
          </p:cNvSpPr>
          <p:nvPr/>
        </p:nvSpPr>
        <p:spPr>
          <a:xfrm>
            <a:off x="8191500" y="158115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11FB100-8C48-477F-B841-480A91A4CE0A}"/>
              </a:ext>
            </a:extLst>
          </p:cNvPr>
          <p:cNvSpPr>
            <a:spLocks noGrp="1"/>
          </p:cNvSpPr>
          <p:nvPr/>
        </p:nvSpPr>
        <p:spPr>
          <a:xfrm>
            <a:off x="8382000" y="197167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FA5FC19-6A57-4914-8F9B-AFC6DA134ADA}"/>
              </a:ext>
            </a:extLst>
          </p:cNvPr>
          <p:cNvSpPr>
            <a:spLocks noGrp="1"/>
          </p:cNvSpPr>
          <p:nvPr/>
        </p:nvSpPr>
        <p:spPr>
          <a:xfrm>
            <a:off x="8382000" y="203835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38DA1F3-703A-4E67-B2B4-715614E4F3E6}"/>
              </a:ext>
            </a:extLst>
          </p:cNvPr>
          <p:cNvSpPr>
            <a:spLocks noGrp="1"/>
          </p:cNvSpPr>
          <p:nvPr/>
        </p:nvSpPr>
        <p:spPr>
          <a:xfrm>
            <a:off x="9058275" y="184785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핵심 발견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D14621C-B810-4B13-87B5-24FE745098C9}"/>
              </a:ext>
            </a:extLst>
          </p:cNvPr>
          <p:cNvSpPr>
            <a:spLocks noGrp="1"/>
          </p:cNvSpPr>
          <p:nvPr/>
        </p:nvSpPr>
        <p:spPr>
          <a:xfrm>
            <a:off x="9058275" y="226695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서울, 부산, 경기에서 같은 성장이 달랐다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A6666EA-CC29-42ED-A40B-C5ACF896C958}"/>
              </a:ext>
            </a:extLst>
          </p:cNvPr>
          <p:cNvSpPr>
            <a:spLocks noGrp="1"/>
          </p:cNvSpPr>
          <p:nvPr/>
        </p:nvSpPr>
        <p:spPr>
          <a:xfrm>
            <a:off x="361950" y="3171825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47B6CD6-5761-4F59-A5F6-F89B52304802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41C51A4-C447-438F-83BD-18D7D9996C73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BEC1C1-2549-4774-9A67-DB5268872F4A}"/>
              </a:ext>
            </a:extLst>
          </p:cNvPr>
          <p:cNvSpPr>
            <a:spLocks noGrp="1"/>
          </p:cNvSpPr>
          <p:nvPr/>
        </p:nvSpPr>
        <p:spPr>
          <a:xfrm>
            <a:off x="1228725" y="3438525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진단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504BC4-55A8-4603-8A17-1852DD6D9199}"/>
              </a:ext>
            </a:extLst>
          </p:cNvPr>
          <p:cNvSpPr>
            <a:spLocks noGrp="1"/>
          </p:cNvSpPr>
          <p:nvPr/>
        </p:nvSpPr>
        <p:spPr>
          <a:xfrm>
            <a:off x="1228725" y="3857625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x 미래에 따른 상권 처방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E3C8932-CE2A-4B7F-9068-FB15D507BCC5}"/>
              </a:ext>
            </a:extLst>
          </p:cNvPr>
          <p:cNvSpPr>
            <a:spLocks noGrp="1"/>
          </p:cNvSpPr>
          <p:nvPr/>
        </p:nvSpPr>
        <p:spPr>
          <a:xfrm>
            <a:off x="4276725" y="3171825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260D103-7D18-4F46-876F-8C47F140BE0C}"/>
              </a:ext>
            </a:extLst>
          </p:cNvPr>
          <p:cNvSpPr>
            <a:spLocks noGrp="1"/>
          </p:cNvSpPr>
          <p:nvPr/>
        </p:nvSpPr>
        <p:spPr>
          <a:xfrm>
            <a:off x="4467225" y="3562350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100F73-2670-44C2-B5F2-69F2F03FF6A4}"/>
              </a:ext>
            </a:extLst>
          </p:cNvPr>
          <p:cNvSpPr>
            <a:spLocks noGrp="1"/>
          </p:cNvSpPr>
          <p:nvPr/>
        </p:nvSpPr>
        <p:spPr>
          <a:xfrm>
            <a:off x="4467225" y="3629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26561F-A4D7-4F44-891F-E5DCC4508998}"/>
              </a:ext>
            </a:extLst>
          </p:cNvPr>
          <p:cNvSpPr>
            <a:spLocks noGrp="1"/>
          </p:cNvSpPr>
          <p:nvPr/>
        </p:nvSpPr>
        <p:spPr>
          <a:xfrm>
            <a:off x="5143500" y="3438525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 재해석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57EA4B8-E463-4B81-A712-2CD344238F7A}"/>
              </a:ext>
            </a:extLst>
          </p:cNvPr>
          <p:cNvSpPr>
            <a:spLocks noGrp="1"/>
          </p:cNvSpPr>
          <p:nvPr/>
        </p:nvSpPr>
        <p:spPr>
          <a:xfrm>
            <a:off x="5143500" y="3857625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현재, 관심, 미래 고객을 구분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BCFB280-7337-4EF8-B1C8-014414F9F05E}"/>
              </a:ext>
            </a:extLst>
          </p:cNvPr>
          <p:cNvSpPr>
            <a:spLocks noGrp="1"/>
          </p:cNvSpPr>
          <p:nvPr/>
        </p:nvSpPr>
        <p:spPr>
          <a:xfrm>
            <a:off x="8191500" y="3171825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938BDDD-508B-4BBB-BAE5-137B0D0E2A07}"/>
              </a:ext>
            </a:extLst>
          </p:cNvPr>
          <p:cNvSpPr>
            <a:spLocks noGrp="1"/>
          </p:cNvSpPr>
          <p:nvPr/>
        </p:nvSpPr>
        <p:spPr>
          <a:xfrm>
            <a:off x="8382000" y="3562350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B2B6C5B-26C7-4C0F-B354-AB9CDB98C0B0}"/>
              </a:ext>
            </a:extLst>
          </p:cNvPr>
          <p:cNvSpPr>
            <a:spLocks noGrp="1"/>
          </p:cNvSpPr>
          <p:nvPr/>
        </p:nvSpPr>
        <p:spPr>
          <a:xfrm>
            <a:off x="8382000" y="36290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E81C01-77FC-43F6-B0E4-DE18F247A1D0}"/>
              </a:ext>
            </a:extLst>
          </p:cNvPr>
          <p:cNvSpPr>
            <a:spLocks noGrp="1"/>
          </p:cNvSpPr>
          <p:nvPr/>
        </p:nvSpPr>
        <p:spPr>
          <a:xfrm>
            <a:off x="9058275" y="3438525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대표 전략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11194E-3BA5-45B0-A8D9-4BF198595CBC}"/>
              </a:ext>
            </a:extLst>
          </p:cNvPr>
          <p:cNvSpPr>
            <a:spLocks noGrp="1"/>
          </p:cNvSpPr>
          <p:nvPr/>
        </p:nvSpPr>
        <p:spPr>
          <a:xfrm>
            <a:off x="9058275" y="3857625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4개 유형의 실제 사례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12774A0-1E57-4488-9D92-FAB7030D3755}"/>
              </a:ext>
            </a:extLst>
          </p:cNvPr>
          <p:cNvSpPr>
            <a:spLocks noGrp="1"/>
          </p:cNvSpPr>
          <p:nvPr/>
        </p:nvSpPr>
        <p:spPr>
          <a:xfrm>
            <a:off x="361950" y="476250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E318028-8F33-454D-B1CE-190EEF9A05A7}"/>
              </a:ext>
            </a:extLst>
          </p:cNvPr>
          <p:cNvSpPr>
            <a:spLocks noGrp="1"/>
          </p:cNvSpPr>
          <p:nvPr/>
        </p:nvSpPr>
        <p:spPr>
          <a:xfrm>
            <a:off x="552450" y="515302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F18595C-F5FB-4054-B83E-BFF19844E923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4997CA0-1230-45BD-9927-51C38320435C}"/>
              </a:ext>
            </a:extLst>
          </p:cNvPr>
          <p:cNvSpPr>
            <a:spLocks noGrp="1"/>
          </p:cNvSpPr>
          <p:nvPr/>
        </p:nvSpPr>
        <p:spPr>
          <a:xfrm>
            <a:off x="1228725" y="502920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강건성 검증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D30D661-4C82-46FE-B770-2CB9A5FD85AD}"/>
              </a:ext>
            </a:extLst>
          </p:cNvPr>
          <p:cNvSpPr>
            <a:spLocks noGrp="1"/>
          </p:cNvSpPr>
          <p:nvPr/>
        </p:nvSpPr>
        <p:spPr>
          <a:xfrm>
            <a:off x="1228725" y="54483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 외부유입 민감도 검증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14E9D83-EE5D-4597-88C6-70FBE2DB4B49}"/>
              </a:ext>
            </a:extLst>
          </p:cNvPr>
          <p:cNvSpPr>
            <a:spLocks noGrp="1"/>
          </p:cNvSpPr>
          <p:nvPr/>
        </p:nvSpPr>
        <p:spPr>
          <a:xfrm>
            <a:off x="4276725" y="476250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188DC0E-A671-47C6-8D69-054C30EFA943}"/>
              </a:ext>
            </a:extLst>
          </p:cNvPr>
          <p:cNvSpPr>
            <a:spLocks noGrp="1"/>
          </p:cNvSpPr>
          <p:nvPr/>
        </p:nvSpPr>
        <p:spPr>
          <a:xfrm>
            <a:off x="4467225" y="515302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95ABDAB-0999-486F-9A43-C451BD6BD6B9}"/>
              </a:ext>
            </a:extLst>
          </p:cNvPr>
          <p:cNvSpPr>
            <a:spLocks noGrp="1"/>
          </p:cNvSpPr>
          <p:nvPr/>
        </p:nvSpPr>
        <p:spPr>
          <a:xfrm>
            <a:off x="4467225" y="521970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B324EB4-CA76-4DA9-AD1E-FF1F056A89C2}"/>
              </a:ext>
            </a:extLst>
          </p:cNvPr>
          <p:cNvSpPr>
            <a:spLocks noGrp="1"/>
          </p:cNvSpPr>
          <p:nvPr/>
        </p:nvSpPr>
        <p:spPr>
          <a:xfrm>
            <a:off x="5143500" y="502920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결론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8D5D3B6-AFFB-437E-A4E9-B5C238052A69}"/>
              </a:ext>
            </a:extLst>
          </p:cNvPr>
          <p:cNvSpPr>
            <a:spLocks noGrp="1"/>
          </p:cNvSpPr>
          <p:nvPr/>
        </p:nvSpPr>
        <p:spPr>
          <a:xfrm>
            <a:off x="5143500" y="54483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근거 기반 의사결정 프레임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E96125D-4901-48ED-A8F8-44677DCE067A}"/>
              </a:ext>
            </a:extLst>
          </p:cNvPr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B2C6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6CF0432-4280-475E-998B-1C8C6707DD87}"/>
              </a:ext>
            </a:extLst>
          </p:cNvPr>
          <p:cNvSpPr>
            <a:spLocks noGrp="1"/>
          </p:cNvSpPr>
          <p:nvPr/>
        </p:nvSpPr>
        <p:spPr>
          <a:xfrm>
            <a:off x="361950" y="6677025"/>
            <a:ext cx="47625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DB7CD6A-AD82-4B09-88FA-DF6E72FC0AE5}"/>
              </a:ext>
            </a:extLst>
          </p:cNvPr>
          <p:cNvSpPr>
            <a:spLocks noGrp="1"/>
          </p:cNvSpPr>
          <p:nvPr/>
        </p:nvSpPr>
        <p:spPr>
          <a:xfrm>
            <a:off x="11382375" y="6677025"/>
            <a:ext cx="43815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131BA59-E34B-3115-37B7-50885ADF89B9}"/>
              </a:ext>
            </a:extLst>
          </p:cNvPr>
          <p:cNvSpPr>
            <a:spLocks noGrp="1"/>
          </p:cNvSpPr>
          <p:nvPr/>
        </p:nvSpPr>
        <p:spPr>
          <a:xfrm>
            <a:off x="8181975" y="4762500"/>
            <a:ext cx="3638550" cy="1352550"/>
          </a:xfrm>
          <a:prstGeom prst="roundRect">
            <a:avLst>
              <a:gd name="adj" fmla="val 119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27FF059-55CF-7419-1F08-27C2C77D9983}"/>
              </a:ext>
            </a:extLst>
          </p:cNvPr>
          <p:cNvSpPr>
            <a:spLocks noGrp="1"/>
          </p:cNvSpPr>
          <p:nvPr/>
        </p:nvSpPr>
        <p:spPr>
          <a:xfrm>
            <a:off x="8372475" y="5153025"/>
            <a:ext cx="457200" cy="4572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4C82F6DC-2E54-8F8B-224C-5F4A70590366}"/>
              </a:ext>
            </a:extLst>
          </p:cNvPr>
          <p:cNvSpPr>
            <a:spLocks noGrp="1"/>
          </p:cNvSpPr>
          <p:nvPr/>
        </p:nvSpPr>
        <p:spPr>
          <a:xfrm>
            <a:off x="8372475" y="5219700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en-US"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9</a:t>
            </a:r>
            <a:endParaRPr sz="105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8FB3B23-2887-5956-73A7-5C5DCA6D002C}"/>
              </a:ext>
            </a:extLst>
          </p:cNvPr>
          <p:cNvSpPr>
            <a:spLocks noGrp="1"/>
          </p:cNvSpPr>
          <p:nvPr/>
        </p:nvSpPr>
        <p:spPr>
          <a:xfrm>
            <a:off x="9048750" y="5029200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기술</a:t>
            </a:r>
            <a:endParaRPr sz="15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D268568-8EFC-5AFD-577B-49F9BDFCA914}"/>
              </a:ext>
            </a:extLst>
          </p:cNvPr>
          <p:cNvSpPr>
            <a:spLocks noGrp="1"/>
          </p:cNvSpPr>
          <p:nvPr/>
        </p:nvSpPr>
        <p:spPr>
          <a:xfrm>
            <a:off x="9048750" y="5448300"/>
            <a:ext cx="2476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Python, </a:t>
            </a:r>
            <a:r>
              <a:rPr lang="ko-KR" altLang="en-US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통계 검정</a:t>
            </a:r>
            <a:r>
              <a:rPr lang="en-US" altLang="ko-KR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민감도 분석</a:t>
            </a:r>
            <a:endParaRPr sz="1013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48924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E06FEF24-7722-9876-4AB1-0C6F07B3B783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8CCF1C-175F-4D10-9D1F-8B286F9ED302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2682A5-C2E0-4F64-B9C9-70935E3CCEBF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429C16A-F21E-4B4B-8BC1-7CEB676ABA02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687767-2E4B-402D-BFC0-FCAA5B259E8D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A75ACE-BA5E-401D-9669-EEBB7366DCBF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PROBLEM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A0E6C9-1A23-43CB-9925-37C0B8B86620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지금 잘 팔리면, 미래에도 안전할까?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0F2C2C-35CC-4D77-BF90-7B695133432A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오늘의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성과를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보여주지만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그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고객층이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앞으로도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유지되는지는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알려주지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않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752FE1F-5A68-48B0-966F-BB32A172B7FB}"/>
              </a:ext>
            </a:extLst>
          </p:cNvPr>
          <p:cNvSpPr>
            <a:spLocks noGrp="1"/>
          </p:cNvSpPr>
          <p:nvPr/>
        </p:nvSpPr>
        <p:spPr>
          <a:xfrm>
            <a:off x="396240" y="1562100"/>
            <a:ext cx="364236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5143D8-9BA0-4EC2-AA39-4F40FBB12416}"/>
              </a:ext>
            </a:extLst>
          </p:cNvPr>
          <p:cNvSpPr>
            <a:spLocks noGrp="1"/>
          </p:cNvSpPr>
          <p:nvPr/>
        </p:nvSpPr>
        <p:spPr>
          <a:xfrm>
            <a:off x="624840" y="2407920"/>
            <a:ext cx="31623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중심</a:t>
            </a:r>
            <a:endParaRPr sz="16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FFEAAF-2F19-4DC0-B201-370ADE030473}"/>
              </a:ext>
            </a:extLst>
          </p:cNvPr>
          <p:cNvSpPr>
            <a:spLocks noGrp="1"/>
          </p:cNvSpPr>
          <p:nvPr/>
        </p:nvSpPr>
        <p:spPr>
          <a:xfrm>
            <a:off x="624840" y="2971800"/>
            <a:ext cx="3124200" cy="701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2026년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상반기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매출이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성장해도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소비연령의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감소할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있다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B35574-7616-47F9-BF3B-BFCADD930A1A}"/>
              </a:ext>
            </a:extLst>
          </p:cNvPr>
          <p:cNvSpPr>
            <a:spLocks noGrp="1"/>
          </p:cNvSpPr>
          <p:nvPr/>
        </p:nvSpPr>
        <p:spPr>
          <a:xfrm>
            <a:off x="624840" y="3810000"/>
            <a:ext cx="318516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6B4C93F-7892-4F4C-8C6F-45191195250F}"/>
              </a:ext>
            </a:extLst>
          </p:cNvPr>
          <p:cNvSpPr>
            <a:spLocks noGrp="1"/>
          </p:cNvSpPr>
          <p:nvPr/>
        </p:nvSpPr>
        <p:spPr>
          <a:xfrm>
            <a:off x="4251960" y="1562100"/>
            <a:ext cx="364236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B48F0DE-D40F-493A-A59E-A919025D0DCA}"/>
              </a:ext>
            </a:extLst>
          </p:cNvPr>
          <p:cNvSpPr>
            <a:spLocks noGrp="1"/>
          </p:cNvSpPr>
          <p:nvPr/>
        </p:nvSpPr>
        <p:spPr>
          <a:xfrm>
            <a:off x="4480560" y="2407920"/>
            <a:ext cx="31623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구조의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변화</a:t>
            </a:r>
            <a:endParaRPr sz="16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23EAA14-9B27-4F25-8CD2-13C28A70680F}"/>
              </a:ext>
            </a:extLst>
          </p:cNvPr>
          <p:cNvSpPr>
            <a:spLocks noGrp="1"/>
          </p:cNvSpPr>
          <p:nvPr/>
        </p:nvSpPr>
        <p:spPr>
          <a:xfrm>
            <a:off x="4480560" y="2971800"/>
            <a:ext cx="3124200" cy="701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성장률이라도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연령구조가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다르면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소비기반의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방향은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달라질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있다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B0DE78E-C2C8-48B2-9375-DFBD6C50610F}"/>
              </a:ext>
            </a:extLst>
          </p:cNvPr>
          <p:cNvSpPr>
            <a:spLocks noGrp="1"/>
          </p:cNvSpPr>
          <p:nvPr/>
        </p:nvSpPr>
        <p:spPr>
          <a:xfrm>
            <a:off x="4480560" y="3810000"/>
            <a:ext cx="318516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BB0F464-D058-4BF9-9572-4E6A499ADD20}"/>
              </a:ext>
            </a:extLst>
          </p:cNvPr>
          <p:cNvSpPr>
            <a:spLocks noGrp="1"/>
          </p:cNvSpPr>
          <p:nvPr/>
        </p:nvSpPr>
        <p:spPr>
          <a:xfrm>
            <a:off x="8107680" y="1562100"/>
            <a:ext cx="3642360" cy="2514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8758108-D1AF-45DF-AFD3-98C9A81BDB4E}"/>
              </a:ext>
            </a:extLst>
          </p:cNvPr>
          <p:cNvSpPr>
            <a:spLocks noGrp="1"/>
          </p:cNvSpPr>
          <p:nvPr/>
        </p:nvSpPr>
        <p:spPr>
          <a:xfrm>
            <a:off x="8336280" y="2407920"/>
            <a:ext cx="31623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데이터의</a:t>
            </a:r>
            <a:r>
              <a:rPr sz="16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6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한계</a:t>
            </a:r>
            <a:endParaRPr sz="16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CBC15B8-B272-4CB2-91F5-1CD34F4E3F53}"/>
              </a:ext>
            </a:extLst>
          </p:cNvPr>
          <p:cNvSpPr>
            <a:spLocks noGrp="1"/>
          </p:cNvSpPr>
          <p:nvPr/>
        </p:nvSpPr>
        <p:spPr>
          <a:xfrm>
            <a:off x="8336280" y="2971800"/>
            <a:ext cx="3124200" cy="701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명의연령과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결제지역이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이용자·거주지역과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항상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같다고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단정할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14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없다</a:t>
            </a:r>
            <a:r>
              <a:rPr sz="114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B3BB8E2-F68C-4136-AC1C-E7449EF81BF7}"/>
              </a:ext>
            </a:extLst>
          </p:cNvPr>
          <p:cNvSpPr>
            <a:spLocks noGrp="1"/>
          </p:cNvSpPr>
          <p:nvPr/>
        </p:nvSpPr>
        <p:spPr>
          <a:xfrm>
            <a:off x="8336280" y="3810000"/>
            <a:ext cx="318516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A2B1A40-35E4-4684-8E0D-0487CF1EF53B}"/>
              </a:ext>
            </a:extLst>
          </p:cNvPr>
          <p:cNvSpPr>
            <a:spLocks noGrp="1"/>
          </p:cNvSpPr>
          <p:nvPr/>
        </p:nvSpPr>
        <p:spPr>
          <a:xfrm>
            <a:off x="396240" y="4251960"/>
            <a:ext cx="11399520" cy="548640"/>
          </a:xfrm>
          <a:prstGeom prst="roundRect">
            <a:avLst>
              <a:gd name="adj" fmla="val 18056"/>
            </a:avLst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7062F4C-F9A8-451C-85A9-89567F682FF7}"/>
              </a:ext>
            </a:extLst>
          </p:cNvPr>
          <p:cNvSpPr>
            <a:spLocks noGrp="1"/>
          </p:cNvSpPr>
          <p:nvPr/>
        </p:nvSpPr>
        <p:spPr>
          <a:xfrm>
            <a:off x="571500" y="440436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분석 질문  |  “현재 성장성과 미래 고객기반을 함께 보면 상권의 모습은 어떻게 달라질까?”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4CE2B07-B23D-452F-910D-FABDCCC58A95}"/>
              </a:ext>
            </a:extLst>
          </p:cNvPr>
          <p:cNvSpPr>
            <a:spLocks noGrp="1"/>
          </p:cNvSpPr>
          <p:nvPr/>
        </p:nvSpPr>
        <p:spPr>
          <a:xfrm>
            <a:off x="396240" y="4983480"/>
            <a:ext cx="5600700" cy="14478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DDEE3EE-2657-4EBD-8CE6-5F8D05717641}"/>
              </a:ext>
            </a:extLst>
          </p:cNvPr>
          <p:cNvSpPr>
            <a:spLocks noGrp="1"/>
          </p:cNvSpPr>
          <p:nvPr/>
        </p:nvSpPr>
        <p:spPr>
          <a:xfrm>
            <a:off x="609600" y="5189220"/>
            <a:ext cx="472440" cy="4724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4789447B-5678-4278-B34A-02B2CE47CC80}"/>
              </a:ext>
            </a:extLst>
          </p:cNvPr>
          <p:cNvSpPr>
            <a:spLocks noGrp="1"/>
          </p:cNvSpPr>
          <p:nvPr/>
        </p:nvSpPr>
        <p:spPr>
          <a:xfrm>
            <a:off x="746760" y="5288280"/>
            <a:ext cx="198120" cy="19812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ABC72FE-7FD1-41D7-B8BB-E3C5D00502AF}"/>
              </a:ext>
            </a:extLst>
          </p:cNvPr>
          <p:cNvSpPr>
            <a:spLocks noGrp="1"/>
          </p:cNvSpPr>
          <p:nvPr/>
        </p:nvSpPr>
        <p:spPr>
          <a:xfrm>
            <a:off x="807720" y="5478780"/>
            <a:ext cx="76200" cy="91440"/>
          </a:xfrm>
          <a:prstGeom prst="roundRect">
            <a:avLst>
              <a:gd name="adj" fmla="val 3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46B2698-E0A4-4B5C-9D63-E2AD059BD9BE}"/>
              </a:ext>
            </a:extLst>
          </p:cNvPr>
          <p:cNvSpPr>
            <a:spLocks noGrp="1"/>
          </p:cNvSpPr>
          <p:nvPr/>
        </p:nvSpPr>
        <p:spPr>
          <a:xfrm>
            <a:off x="777240" y="5577840"/>
            <a:ext cx="137160" cy="3048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4DDB27D-3256-485E-93E9-5D975A161B57}"/>
              </a:ext>
            </a:extLst>
          </p:cNvPr>
          <p:cNvSpPr>
            <a:spLocks noGrp="1"/>
          </p:cNvSpPr>
          <p:nvPr/>
        </p:nvSpPr>
        <p:spPr>
          <a:xfrm>
            <a:off x="1249680" y="5189220"/>
            <a:ext cx="4191000" cy="2514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이 질문이 필요한가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97F723A-509C-4A37-B8B7-DA44C436542A}"/>
              </a:ext>
            </a:extLst>
          </p:cNvPr>
          <p:cNvSpPr>
            <a:spLocks noGrp="1"/>
          </p:cNvSpPr>
          <p:nvPr/>
        </p:nvSpPr>
        <p:spPr>
          <a:xfrm>
            <a:off x="1249680" y="5562600"/>
            <a:ext cx="4267200" cy="525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매출만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보면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성장의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지속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가능성과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기반의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구조적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위험을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구분하기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어렵다</a:t>
            </a:r>
            <a:r>
              <a:rPr sz="108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7C36EFA-C206-4E70-ADD8-8B66D9376A33}"/>
              </a:ext>
            </a:extLst>
          </p:cNvPr>
          <p:cNvSpPr>
            <a:spLocks noGrp="1"/>
          </p:cNvSpPr>
          <p:nvPr/>
        </p:nvSpPr>
        <p:spPr>
          <a:xfrm>
            <a:off x="6195060" y="4983480"/>
            <a:ext cx="5600700" cy="1447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BD33D42E-EA70-42A0-9B87-1B7FEAA205F1}"/>
              </a:ext>
            </a:extLst>
          </p:cNvPr>
          <p:cNvSpPr>
            <a:spLocks noGrp="1"/>
          </p:cNvSpPr>
          <p:nvPr/>
        </p:nvSpPr>
        <p:spPr>
          <a:xfrm>
            <a:off x="6408420" y="5189220"/>
            <a:ext cx="472440" cy="4724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8AF3EF8-787D-45E3-87FD-E123AB165D98}"/>
              </a:ext>
            </a:extLst>
          </p:cNvPr>
          <p:cNvSpPr>
            <a:spLocks noGrp="1"/>
          </p:cNvSpPr>
          <p:nvPr/>
        </p:nvSpPr>
        <p:spPr>
          <a:xfrm>
            <a:off x="6477000" y="5463540"/>
            <a:ext cx="76200" cy="1371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1CFBACD-BE1F-4022-A4D8-6A3ACEEB98E3}"/>
              </a:ext>
            </a:extLst>
          </p:cNvPr>
          <p:cNvSpPr>
            <a:spLocks noGrp="1"/>
          </p:cNvSpPr>
          <p:nvPr/>
        </p:nvSpPr>
        <p:spPr>
          <a:xfrm>
            <a:off x="6591300" y="5387340"/>
            <a:ext cx="76200" cy="2133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A0FC4DD-EDEC-4B67-912C-EB4767E46514}"/>
              </a:ext>
            </a:extLst>
          </p:cNvPr>
          <p:cNvSpPr>
            <a:spLocks noGrp="1"/>
          </p:cNvSpPr>
          <p:nvPr/>
        </p:nvSpPr>
        <p:spPr>
          <a:xfrm>
            <a:off x="6705600" y="5288280"/>
            <a:ext cx="76200" cy="31242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B1EB40-0B55-483B-8DF2-8123A27BF3EE}"/>
              </a:ext>
            </a:extLst>
          </p:cNvPr>
          <p:cNvSpPr>
            <a:spLocks noGrp="1"/>
          </p:cNvSpPr>
          <p:nvPr/>
        </p:nvSpPr>
        <p:spPr>
          <a:xfrm>
            <a:off x="7048500" y="5189220"/>
            <a:ext cx="4191000" cy="2514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분석이 연결하는 것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2180AF0-2D7C-4193-AD3E-065B74773AF3}"/>
              </a:ext>
            </a:extLst>
          </p:cNvPr>
          <p:cNvSpPr>
            <a:spLocks noGrp="1"/>
          </p:cNvSpPr>
          <p:nvPr/>
        </p:nvSpPr>
        <p:spPr>
          <a:xfrm>
            <a:off x="7048500" y="5562600"/>
            <a:ext cx="4267200" cy="2743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현재 소비 → 미래 인구노출 → 고객 신호 → 유형별 실행전략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37182DE-EED8-470E-8CF6-40CBAADEE9CF}"/>
              </a:ext>
            </a:extLst>
          </p:cNvPr>
          <p:cNvSpPr>
            <a:spLocks noGrp="1"/>
          </p:cNvSpPr>
          <p:nvPr/>
        </p:nvSpPr>
        <p:spPr>
          <a:xfrm>
            <a:off x="7048500" y="5989320"/>
            <a:ext cx="42672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매출예측이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상대적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구조위험을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진단</a:t>
            </a:r>
            <a:r>
              <a:rPr sz="102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53D5304-A3BA-BDD9-21C9-EF38FBCBE248}"/>
              </a:ext>
            </a:extLst>
          </p:cNvPr>
          <p:cNvSpPr>
            <a:spLocks noGrp="1"/>
          </p:cNvSpPr>
          <p:nvPr/>
        </p:nvSpPr>
        <p:spPr>
          <a:xfrm>
            <a:off x="746760" y="1767135"/>
            <a:ext cx="3002279" cy="333375"/>
          </a:xfrm>
          <a:prstGeom prst="roundRect">
            <a:avLst>
              <a:gd name="adj" fmla="val 11429"/>
            </a:avLst>
          </a:prstGeom>
          <a:solidFill>
            <a:srgbClr val="EEF2FC"/>
          </a:solidFill>
          <a:ln w="0">
            <a:noFill/>
          </a:ln>
        </p:spPr>
        <p:txBody>
          <a:bodyPr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EF79390-7DFD-4A1A-8A14-03D7282B3570}"/>
              </a:ext>
            </a:extLst>
          </p:cNvPr>
          <p:cNvSpPr>
            <a:spLocks noGrp="1"/>
          </p:cNvSpPr>
          <p:nvPr/>
        </p:nvSpPr>
        <p:spPr>
          <a:xfrm>
            <a:off x="830142" y="1795710"/>
            <a:ext cx="2810644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D6EC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dirty="0">
                <a:solidFill>
                  <a:srgbClr val="4D6EC7"/>
                </a:solidFill>
                <a:latin typeface="+mn-ea"/>
                <a:cs typeface="Malgun Gothic"/>
              </a:rPr>
              <a:t>Problem 01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B2ECC94-3266-58D9-D535-6B9074B9AA90}"/>
              </a:ext>
            </a:extLst>
          </p:cNvPr>
          <p:cNvSpPr>
            <a:spLocks noGrp="1"/>
          </p:cNvSpPr>
          <p:nvPr/>
        </p:nvSpPr>
        <p:spPr>
          <a:xfrm>
            <a:off x="4602481" y="1762974"/>
            <a:ext cx="3002279" cy="333375"/>
          </a:xfrm>
          <a:prstGeom prst="roundRect">
            <a:avLst>
              <a:gd name="adj" fmla="val 11429"/>
            </a:avLst>
          </a:prstGeom>
          <a:solidFill>
            <a:srgbClr val="EEF2FC"/>
          </a:solidFill>
          <a:ln w="0">
            <a:noFill/>
          </a:ln>
        </p:spPr>
        <p:txBody>
          <a:bodyPr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FCC31B8-6663-7A3C-9032-CE002262DAC8}"/>
              </a:ext>
            </a:extLst>
          </p:cNvPr>
          <p:cNvSpPr>
            <a:spLocks noGrp="1"/>
          </p:cNvSpPr>
          <p:nvPr/>
        </p:nvSpPr>
        <p:spPr>
          <a:xfrm>
            <a:off x="4685863" y="1791549"/>
            <a:ext cx="2810644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D6EC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dirty="0">
                <a:solidFill>
                  <a:srgbClr val="4D6EC7"/>
                </a:solidFill>
                <a:latin typeface="+mn-ea"/>
                <a:cs typeface="Malgun Gothic"/>
              </a:rPr>
              <a:t>Problem 0</a:t>
            </a:r>
            <a:r>
              <a:rPr lang="en-US" sz="1400" b="0" dirty="0">
                <a:solidFill>
                  <a:srgbClr val="4D6EC7"/>
                </a:solidFill>
                <a:latin typeface="+mn-ea"/>
                <a:cs typeface="Malgun Gothic"/>
              </a:rPr>
              <a:t>2</a:t>
            </a:r>
            <a:endParaRPr sz="1400" b="0" dirty="0">
              <a:solidFill>
                <a:srgbClr val="4D6EC7"/>
              </a:solidFill>
              <a:latin typeface="+mn-ea"/>
              <a:cs typeface="Malgun Gothic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411A609-5991-37F0-CA28-6E9067CED0F3}"/>
              </a:ext>
            </a:extLst>
          </p:cNvPr>
          <p:cNvSpPr>
            <a:spLocks noGrp="1"/>
          </p:cNvSpPr>
          <p:nvPr/>
        </p:nvSpPr>
        <p:spPr>
          <a:xfrm>
            <a:off x="8458201" y="1785937"/>
            <a:ext cx="3002279" cy="333375"/>
          </a:xfrm>
          <a:prstGeom prst="roundRect">
            <a:avLst>
              <a:gd name="adj" fmla="val 11429"/>
            </a:avLst>
          </a:prstGeom>
          <a:solidFill>
            <a:srgbClr val="EEF2FC"/>
          </a:solidFill>
          <a:ln w="0">
            <a:noFill/>
          </a:ln>
        </p:spPr>
        <p:txBody>
          <a:bodyPr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ECD8B72-EF55-F958-D6F2-B88AB0290DF4}"/>
              </a:ext>
            </a:extLst>
          </p:cNvPr>
          <p:cNvSpPr>
            <a:spLocks noGrp="1"/>
          </p:cNvSpPr>
          <p:nvPr/>
        </p:nvSpPr>
        <p:spPr>
          <a:xfrm>
            <a:off x="8541583" y="1814512"/>
            <a:ext cx="2810644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4D6EC7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 dirty="0">
                <a:solidFill>
                  <a:srgbClr val="4D6EC7"/>
                </a:solidFill>
                <a:latin typeface="+mn-ea"/>
                <a:cs typeface="Malgun Gothic"/>
              </a:rPr>
              <a:t>Problem 0</a:t>
            </a:r>
            <a:r>
              <a:rPr lang="en-US" sz="1400" b="0" dirty="0">
                <a:solidFill>
                  <a:srgbClr val="4D6EC7"/>
                </a:solidFill>
                <a:latin typeface="+mn-ea"/>
                <a:cs typeface="Malgun Gothic"/>
              </a:rPr>
              <a:t>3</a:t>
            </a:r>
            <a:endParaRPr sz="1400" b="0" dirty="0">
              <a:solidFill>
                <a:srgbClr val="4D6EC7"/>
              </a:solidFill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72803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9E4AE01-2265-FB18-804D-7638D616A6FD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313CBD0-554F-4B61-9D3B-2E6A2C2842B5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CDD844-1D50-40E3-8CB0-733A2693D961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961838BE-1BBC-492D-9AE6-CF3380DFAB58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E0C3DA6-16A2-44FA-87D5-4744C7DF3239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7734C1-107C-4DB0-891F-E41EF22059C2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ANALYSIS DESIGN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7CECF17-9888-4682-AF9C-822F1787EB77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상위 25%만 비교한 이유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B63B87-32CD-43EE-B1B3-D7D22D3D7890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작은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거래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규모에서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생기는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왜곡을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줄이고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보정하기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위한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설계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4680A0-7EB2-4A93-A51A-43E0B77CB92D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7AD523A-1C06-4845-9D1B-91CF05FFC405}"/>
              </a:ext>
            </a:extLst>
          </p:cNvPr>
          <p:cNvSpPr>
            <a:spLocks noGrp="1"/>
          </p:cNvSpPr>
          <p:nvPr/>
        </p:nvSpPr>
        <p:spPr>
          <a:xfrm>
            <a:off x="57912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6B8F1C9-D874-4D9D-AED8-15C1DB993180}"/>
              </a:ext>
            </a:extLst>
          </p:cNvPr>
          <p:cNvSpPr>
            <a:spLocks noGrp="1"/>
          </p:cNvSpPr>
          <p:nvPr/>
        </p:nvSpPr>
        <p:spPr>
          <a:xfrm>
            <a:off x="670560" y="1737360"/>
            <a:ext cx="320040" cy="228600"/>
          </a:xfrm>
          <a:prstGeom prst="roundRect">
            <a:avLst>
              <a:gd name="adj" fmla="val 13333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7650A7-590F-4799-8A7E-FEDCDECF8521}"/>
              </a:ext>
            </a:extLst>
          </p:cNvPr>
          <p:cNvSpPr>
            <a:spLocks noGrp="1"/>
          </p:cNvSpPr>
          <p:nvPr/>
        </p:nvSpPr>
        <p:spPr>
          <a:xfrm>
            <a:off x="693420" y="1798320"/>
            <a:ext cx="274320" cy="3048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5A370E7-90A4-426E-97EB-4AB9C4343409}"/>
              </a:ext>
            </a:extLst>
          </p:cNvPr>
          <p:cNvSpPr>
            <a:spLocks noGrp="1"/>
          </p:cNvSpPr>
          <p:nvPr/>
        </p:nvSpPr>
        <p:spPr>
          <a:xfrm>
            <a:off x="891540" y="1889760"/>
            <a:ext cx="53340" cy="45720"/>
          </a:xfrm>
          <a:prstGeom prst="roundRect">
            <a:avLst>
              <a:gd name="adj" fmla="val 16667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D933B5F-0BF5-42D0-812B-36494766A61B}"/>
              </a:ext>
            </a:extLst>
          </p:cNvPr>
          <p:cNvSpPr>
            <a:spLocks noGrp="1"/>
          </p:cNvSpPr>
          <p:nvPr/>
        </p:nvSpPr>
        <p:spPr>
          <a:xfrm>
            <a:off x="108458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FBF014A-A601-46F0-8BB3-FB2BD6FBBA9C}"/>
              </a:ext>
            </a:extLst>
          </p:cNvPr>
          <p:cNvSpPr>
            <a:spLocks noGrp="1"/>
          </p:cNvSpPr>
          <p:nvPr/>
        </p:nvSpPr>
        <p:spPr>
          <a:xfrm>
            <a:off x="108458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2026.01 ~ 06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0203DA-A50E-4D94-BBB9-D09E2C2026B0}"/>
              </a:ext>
            </a:extLst>
          </p:cNvPr>
          <p:cNvSpPr>
            <a:spLocks noGrp="1"/>
          </p:cNvSpPr>
          <p:nvPr/>
        </p:nvSpPr>
        <p:spPr>
          <a:xfrm>
            <a:off x="108458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결제 및 성장성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C92ABDF-A55B-4FF0-9B0B-E2D2BF72B0A5}"/>
              </a:ext>
            </a:extLst>
          </p:cNvPr>
          <p:cNvSpPr>
            <a:spLocks noGrp="1"/>
          </p:cNvSpPr>
          <p:nvPr/>
        </p:nvSpPr>
        <p:spPr>
          <a:xfrm>
            <a:off x="329184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B53BCB8-628D-4BC0-A92F-56DCBC41B29C}"/>
              </a:ext>
            </a:extLst>
          </p:cNvPr>
          <p:cNvSpPr>
            <a:spLocks noGrp="1"/>
          </p:cNvSpPr>
          <p:nvPr/>
        </p:nvSpPr>
        <p:spPr>
          <a:xfrm>
            <a:off x="350520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A7280BE-35F5-470F-939D-0F3BC3BCDE58}"/>
              </a:ext>
            </a:extLst>
          </p:cNvPr>
          <p:cNvSpPr>
            <a:spLocks noGrp="1"/>
          </p:cNvSpPr>
          <p:nvPr/>
        </p:nvSpPr>
        <p:spPr>
          <a:xfrm>
            <a:off x="3627120" y="1729740"/>
            <a:ext cx="106680" cy="10668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2DEEA52-7B48-4C3F-B851-66C13D994C91}"/>
              </a:ext>
            </a:extLst>
          </p:cNvPr>
          <p:cNvSpPr>
            <a:spLocks noGrp="1"/>
          </p:cNvSpPr>
          <p:nvPr/>
        </p:nvSpPr>
        <p:spPr>
          <a:xfrm>
            <a:off x="3787140" y="1752600"/>
            <a:ext cx="99060" cy="9906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CE9AF4F-8921-403D-8805-7E8187F9E51D}"/>
              </a:ext>
            </a:extLst>
          </p:cNvPr>
          <p:cNvSpPr>
            <a:spLocks noGrp="1"/>
          </p:cNvSpPr>
          <p:nvPr/>
        </p:nvSpPr>
        <p:spPr>
          <a:xfrm>
            <a:off x="3589020" y="1866900"/>
            <a:ext cx="182880" cy="13716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46B8CDB-B0EF-4102-B746-3C5345BCF7A0}"/>
              </a:ext>
            </a:extLst>
          </p:cNvPr>
          <p:cNvSpPr>
            <a:spLocks noGrp="1"/>
          </p:cNvSpPr>
          <p:nvPr/>
        </p:nvSpPr>
        <p:spPr>
          <a:xfrm>
            <a:off x="3764280" y="1882140"/>
            <a:ext cx="167640" cy="12192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295785-D048-4BFB-8B05-2789FBCA5775}"/>
              </a:ext>
            </a:extLst>
          </p:cNvPr>
          <p:cNvSpPr>
            <a:spLocks noGrp="1"/>
          </p:cNvSpPr>
          <p:nvPr/>
        </p:nvSpPr>
        <p:spPr>
          <a:xfrm>
            <a:off x="401066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9B54BDB-51CD-4B10-90B0-772BD6D84D18}"/>
              </a:ext>
            </a:extLst>
          </p:cNvPr>
          <p:cNvSpPr>
            <a:spLocks noGrp="1"/>
          </p:cNvSpPr>
          <p:nvPr/>
        </p:nvSpPr>
        <p:spPr>
          <a:xfrm>
            <a:off x="401066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 / 부산 / 경기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4E4B44-D4C4-44F7-A4CB-2D9ABBC93AA5}"/>
              </a:ext>
            </a:extLst>
          </p:cNvPr>
          <p:cNvSpPr>
            <a:spLocks noGrp="1"/>
          </p:cNvSpPr>
          <p:nvPr/>
        </p:nvSpPr>
        <p:spPr>
          <a:xfrm>
            <a:off x="401066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2030/35/40 연령변화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6C35E93-93C1-4212-815C-EEBA16218033}"/>
              </a:ext>
            </a:extLst>
          </p:cNvPr>
          <p:cNvSpPr>
            <a:spLocks noGrp="1"/>
          </p:cNvSpPr>
          <p:nvPr/>
        </p:nvSpPr>
        <p:spPr>
          <a:xfrm>
            <a:off x="621792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928D4828-C641-4D91-8478-CA4BE60C7E11}"/>
              </a:ext>
            </a:extLst>
          </p:cNvPr>
          <p:cNvSpPr>
            <a:spLocks noGrp="1"/>
          </p:cNvSpPr>
          <p:nvPr/>
        </p:nvSpPr>
        <p:spPr>
          <a:xfrm>
            <a:off x="643128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A3072A3-AA24-4B88-A525-B3490C7F533E}"/>
              </a:ext>
            </a:extLst>
          </p:cNvPr>
          <p:cNvSpPr>
            <a:spLocks noGrp="1"/>
          </p:cNvSpPr>
          <p:nvPr/>
        </p:nvSpPr>
        <p:spPr>
          <a:xfrm>
            <a:off x="6545580" y="1714500"/>
            <a:ext cx="243840" cy="243840"/>
          </a:xfrm>
          <a:prstGeom prst="ellipse">
            <a:avLst/>
          </a:prstGeom>
          <a:noFill/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637C1FD-66BB-44DA-9786-B33DDAEF01DA}"/>
              </a:ext>
            </a:extLst>
          </p:cNvPr>
          <p:cNvSpPr>
            <a:spLocks noGrp="1"/>
          </p:cNvSpPr>
          <p:nvPr/>
        </p:nvSpPr>
        <p:spPr>
          <a:xfrm>
            <a:off x="6545580" y="1714500"/>
            <a:ext cx="243840" cy="2438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CF005C9-320D-47CB-8CD4-1B030B25FA4D}"/>
              </a:ext>
            </a:extLst>
          </p:cNvPr>
          <p:cNvSpPr>
            <a:spLocks noGrp="1"/>
          </p:cNvSpPr>
          <p:nvPr/>
        </p:nvSpPr>
        <p:spPr>
          <a:xfrm>
            <a:off x="6758940" y="1927860"/>
            <a:ext cx="152400" cy="4572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33953BD-527B-4C08-A534-D05F507B849A}"/>
              </a:ext>
            </a:extLst>
          </p:cNvPr>
          <p:cNvSpPr>
            <a:spLocks noGrp="1"/>
          </p:cNvSpPr>
          <p:nvPr/>
        </p:nvSpPr>
        <p:spPr>
          <a:xfrm>
            <a:off x="6522720" y="1653540"/>
            <a:ext cx="335280" cy="33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460" b="0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2460" b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9E324A2-12B1-4CEB-9DF6-E6468E1BAB08}"/>
              </a:ext>
            </a:extLst>
          </p:cNvPr>
          <p:cNvSpPr>
            <a:spLocks noGrp="1"/>
          </p:cNvSpPr>
          <p:nvPr/>
        </p:nvSpPr>
        <p:spPr>
          <a:xfrm>
            <a:off x="693674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1EA7EE-A0DD-4098-9FD8-EFC8B44A4526}"/>
              </a:ext>
            </a:extLst>
          </p:cNvPr>
          <p:cNvSpPr>
            <a:spLocks noGrp="1"/>
          </p:cNvSpPr>
          <p:nvPr/>
        </p:nvSpPr>
        <p:spPr>
          <a:xfrm>
            <a:off x="693674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Search + Shopping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4103F8-CF26-4812-B18C-58AA2573E644}"/>
              </a:ext>
            </a:extLst>
          </p:cNvPr>
          <p:cNvSpPr>
            <a:spLocks noGrp="1"/>
          </p:cNvSpPr>
          <p:nvPr/>
        </p:nvSpPr>
        <p:spPr>
          <a:xfrm>
            <a:off x="693674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 고객 및 상품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FE5C9A0-3C58-48BD-AFB7-3CCB6B7E5036}"/>
              </a:ext>
            </a:extLst>
          </p:cNvPr>
          <p:cNvSpPr>
            <a:spLocks noGrp="1"/>
          </p:cNvSpPr>
          <p:nvPr/>
        </p:nvSpPr>
        <p:spPr>
          <a:xfrm>
            <a:off x="9144000" y="1447800"/>
            <a:ext cx="2834640" cy="899160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5EB072F-CA2C-489F-99B1-72625FBEFF38}"/>
              </a:ext>
            </a:extLst>
          </p:cNvPr>
          <p:cNvSpPr>
            <a:spLocks noGrp="1"/>
          </p:cNvSpPr>
          <p:nvPr/>
        </p:nvSpPr>
        <p:spPr>
          <a:xfrm>
            <a:off x="9357360" y="1600200"/>
            <a:ext cx="502920" cy="50292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5B57A81-67BE-4963-9D66-83818DA619EE}"/>
              </a:ext>
            </a:extLst>
          </p:cNvPr>
          <p:cNvSpPr>
            <a:spLocks noGrp="1"/>
          </p:cNvSpPr>
          <p:nvPr/>
        </p:nvSpPr>
        <p:spPr>
          <a:xfrm>
            <a:off x="9441180" y="1889760"/>
            <a:ext cx="76200" cy="1371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F69C6F6-3901-4946-80E1-BBF50B131523}"/>
              </a:ext>
            </a:extLst>
          </p:cNvPr>
          <p:cNvSpPr>
            <a:spLocks noGrp="1"/>
          </p:cNvSpPr>
          <p:nvPr/>
        </p:nvSpPr>
        <p:spPr>
          <a:xfrm>
            <a:off x="9555480" y="1813560"/>
            <a:ext cx="76200" cy="2133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180CA0F-87F5-4D87-B7F7-2259D53EBE9A}"/>
              </a:ext>
            </a:extLst>
          </p:cNvPr>
          <p:cNvSpPr>
            <a:spLocks noGrp="1"/>
          </p:cNvSpPr>
          <p:nvPr/>
        </p:nvSpPr>
        <p:spPr>
          <a:xfrm>
            <a:off x="9669780" y="1714500"/>
            <a:ext cx="76200" cy="31242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CA9994D-482B-40D5-B681-AEC59E5BAC5B}"/>
              </a:ext>
            </a:extLst>
          </p:cNvPr>
          <p:cNvSpPr>
            <a:spLocks noGrp="1"/>
          </p:cNvSpPr>
          <p:nvPr/>
        </p:nvSpPr>
        <p:spPr>
          <a:xfrm>
            <a:off x="9862820" y="1546860"/>
            <a:ext cx="1874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외부유입 자료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03F4121-E2B3-43FF-9C57-742FAFEA1304}"/>
              </a:ext>
            </a:extLst>
          </p:cNvPr>
          <p:cNvSpPr>
            <a:spLocks noGrp="1"/>
          </p:cNvSpPr>
          <p:nvPr/>
        </p:nvSpPr>
        <p:spPr>
          <a:xfrm>
            <a:off x="9862820" y="1828800"/>
            <a:ext cx="187452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 / 부산 생활인구(2025)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1E71B96-9BBB-4645-A388-E912170A7F53}"/>
              </a:ext>
            </a:extLst>
          </p:cNvPr>
          <p:cNvSpPr>
            <a:spLocks noGrp="1"/>
          </p:cNvSpPr>
          <p:nvPr/>
        </p:nvSpPr>
        <p:spPr>
          <a:xfrm>
            <a:off x="9862820" y="2049780"/>
            <a:ext cx="187452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경기 유동인구(2026.01 ~ 03)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C8C4675-DF07-4E19-9E99-8C3F99E262B8}"/>
              </a:ext>
            </a:extLst>
          </p:cNvPr>
          <p:cNvSpPr>
            <a:spLocks noGrp="1"/>
          </p:cNvSpPr>
          <p:nvPr/>
        </p:nvSpPr>
        <p:spPr>
          <a:xfrm>
            <a:off x="365760" y="2484120"/>
            <a:ext cx="7391400" cy="2646680"/>
          </a:xfrm>
          <a:prstGeom prst="roundRect">
            <a:avLst>
              <a:gd name="adj" fmla="val 676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26E1D88E-B9C0-4B3A-90E4-6318BBC84C30}"/>
              </a:ext>
            </a:extLst>
          </p:cNvPr>
          <p:cNvSpPr>
            <a:spLocks noGrp="1"/>
          </p:cNvSpPr>
          <p:nvPr/>
        </p:nvSpPr>
        <p:spPr>
          <a:xfrm>
            <a:off x="624840" y="2628899"/>
            <a:ext cx="6477000" cy="3257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8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대상</a:t>
            </a:r>
            <a:r>
              <a:rPr sz="18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선정</a:t>
            </a:r>
            <a:r>
              <a:rPr sz="18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8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기준</a:t>
            </a:r>
            <a:endParaRPr sz="186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FFB0F1D-0E7C-4D16-B500-D1E87909CA76}"/>
              </a:ext>
            </a:extLst>
          </p:cNvPr>
          <p:cNvSpPr>
            <a:spLocks noGrp="1"/>
          </p:cNvSpPr>
          <p:nvPr/>
        </p:nvSpPr>
        <p:spPr>
          <a:xfrm>
            <a:off x="624840" y="3063239"/>
            <a:ext cx="396240" cy="423469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3E659C5-D952-4418-8805-AE08FE93C873}"/>
              </a:ext>
            </a:extLst>
          </p:cNvPr>
          <p:cNvSpPr>
            <a:spLocks noGrp="1"/>
          </p:cNvSpPr>
          <p:nvPr/>
        </p:nvSpPr>
        <p:spPr>
          <a:xfrm>
            <a:off x="624840" y="3139439"/>
            <a:ext cx="396240" cy="24430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51FCE4A-03FB-4FAF-B181-2E769DAE1C46}"/>
              </a:ext>
            </a:extLst>
          </p:cNvPr>
          <p:cNvSpPr>
            <a:spLocks noGrp="1"/>
          </p:cNvSpPr>
          <p:nvPr/>
        </p:nvSpPr>
        <p:spPr>
          <a:xfrm>
            <a:off x="1348740" y="3078479"/>
            <a:ext cx="6019800" cy="2361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6개월 데이터 완전 사례만 사용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AF299C8-D8BE-40AD-90F7-6D058B2BD92A}"/>
              </a:ext>
            </a:extLst>
          </p:cNvPr>
          <p:cNvSpPr>
            <a:spLocks noGrp="1"/>
          </p:cNvSpPr>
          <p:nvPr/>
        </p:nvSpPr>
        <p:spPr>
          <a:xfrm>
            <a:off x="1348740" y="3337560"/>
            <a:ext cx="6019800" cy="21987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분석의 일관성을 위해 6개월 데이터가 모두 존재하는 사례만 사용합니다.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F4334BD-B425-4821-A359-6517368CE989}"/>
              </a:ext>
            </a:extLst>
          </p:cNvPr>
          <p:cNvSpPr>
            <a:spLocks noGrp="1"/>
          </p:cNvSpPr>
          <p:nvPr/>
        </p:nvSpPr>
        <p:spPr>
          <a:xfrm>
            <a:off x="624840" y="3619499"/>
            <a:ext cx="674370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08B7A08-8C87-4546-8074-05114B61C6F9}"/>
              </a:ext>
            </a:extLst>
          </p:cNvPr>
          <p:cNvSpPr>
            <a:spLocks noGrp="1"/>
          </p:cNvSpPr>
          <p:nvPr/>
        </p:nvSpPr>
        <p:spPr>
          <a:xfrm>
            <a:off x="624840" y="3688079"/>
            <a:ext cx="396240" cy="423469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C8444DF-3A31-40A8-81B1-FFDA0BE9AD2A}"/>
              </a:ext>
            </a:extLst>
          </p:cNvPr>
          <p:cNvSpPr>
            <a:spLocks noGrp="1"/>
          </p:cNvSpPr>
          <p:nvPr/>
        </p:nvSpPr>
        <p:spPr>
          <a:xfrm>
            <a:off x="624840" y="3764279"/>
            <a:ext cx="396240" cy="24430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819A8F7-E1AC-4BDB-B012-D9BCFB83144D}"/>
              </a:ext>
            </a:extLst>
          </p:cNvPr>
          <p:cNvSpPr>
            <a:spLocks noGrp="1"/>
          </p:cNvSpPr>
          <p:nvPr/>
        </p:nvSpPr>
        <p:spPr>
          <a:xfrm>
            <a:off x="1348740" y="3703319"/>
            <a:ext cx="6019800" cy="2361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lang="en-US"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월평균증감률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&gt; 0, 1월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대비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6월 &gt; 0, </a:t>
            </a:r>
            <a:r>
              <a:rPr sz="12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상승개월수</a:t>
            </a:r>
            <a:r>
              <a:rPr sz="12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≥ 3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8BD2CD5-8843-4AD6-AFA4-EE45C13860D9}"/>
              </a:ext>
            </a:extLst>
          </p:cNvPr>
          <p:cNvSpPr>
            <a:spLocks noGrp="1"/>
          </p:cNvSpPr>
          <p:nvPr/>
        </p:nvSpPr>
        <p:spPr>
          <a:xfrm>
            <a:off x="1348740" y="3962400"/>
            <a:ext cx="6019800" cy="21987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추세·방향·지속성을 모두 만족한 경우만 현재 성장으로 정의합니다.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B29FB14-2D15-4C45-8278-1E36CD1DC45F}"/>
              </a:ext>
            </a:extLst>
          </p:cNvPr>
          <p:cNvSpPr>
            <a:spLocks noGrp="1"/>
          </p:cNvSpPr>
          <p:nvPr/>
        </p:nvSpPr>
        <p:spPr>
          <a:xfrm>
            <a:off x="624840" y="4244339"/>
            <a:ext cx="674370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F6C3DFD-9E53-4A38-AF26-F26B5E5EE28E}"/>
              </a:ext>
            </a:extLst>
          </p:cNvPr>
          <p:cNvSpPr>
            <a:spLocks noGrp="1"/>
          </p:cNvSpPr>
          <p:nvPr/>
        </p:nvSpPr>
        <p:spPr>
          <a:xfrm>
            <a:off x="624840" y="4312919"/>
            <a:ext cx="396240" cy="423469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BBE7906-277F-4EF4-BEF4-1F08AF104CEF}"/>
              </a:ext>
            </a:extLst>
          </p:cNvPr>
          <p:cNvSpPr>
            <a:spLocks noGrp="1"/>
          </p:cNvSpPr>
          <p:nvPr/>
        </p:nvSpPr>
        <p:spPr>
          <a:xfrm>
            <a:off x="624840" y="4389119"/>
            <a:ext cx="396240" cy="24430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81C0825-2589-48BC-8E6B-BD382B6E36D3}"/>
              </a:ext>
            </a:extLst>
          </p:cNvPr>
          <p:cNvSpPr>
            <a:spLocks noGrp="1"/>
          </p:cNvSpPr>
          <p:nvPr/>
        </p:nvSpPr>
        <p:spPr>
          <a:xfrm>
            <a:off x="1348740" y="4328159"/>
            <a:ext cx="6019800" cy="2361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각 지역 내 업종총이용금액 상위 25%(Q75)만 비교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9C0FAB-2862-4A95-9EB5-7A040EDF7C7A}"/>
              </a:ext>
            </a:extLst>
          </p:cNvPr>
          <p:cNvSpPr>
            <a:spLocks noGrp="1"/>
          </p:cNvSpPr>
          <p:nvPr/>
        </p:nvSpPr>
        <p:spPr>
          <a:xfrm>
            <a:off x="1348740" y="4587240"/>
            <a:ext cx="6019800" cy="21987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전국 공통 컷 대신 지역별 Q75로 서울·부산·경기의 규모 차이를 보정합니다.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ECC42055-27B1-46AE-A36F-BDA0B1C1FFA9}"/>
              </a:ext>
            </a:extLst>
          </p:cNvPr>
          <p:cNvSpPr>
            <a:spLocks noGrp="1"/>
          </p:cNvSpPr>
          <p:nvPr/>
        </p:nvSpPr>
        <p:spPr>
          <a:xfrm>
            <a:off x="7863840" y="2484120"/>
            <a:ext cx="3931920" cy="2646680"/>
          </a:xfrm>
          <a:prstGeom prst="roundRect">
            <a:avLst>
              <a:gd name="adj" fmla="val 6769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351A2F5-3DAD-49D5-9E37-79C3EA3E5B10}"/>
              </a:ext>
            </a:extLst>
          </p:cNvPr>
          <p:cNvSpPr>
            <a:spLocks noGrp="1"/>
          </p:cNvSpPr>
          <p:nvPr/>
        </p:nvSpPr>
        <p:spPr>
          <a:xfrm>
            <a:off x="8115300" y="2651759"/>
            <a:ext cx="472440" cy="50490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0B6A048-E4D6-4273-B889-BD4DD6B60DEE}"/>
              </a:ext>
            </a:extLst>
          </p:cNvPr>
          <p:cNvSpPr>
            <a:spLocks noGrp="1"/>
          </p:cNvSpPr>
          <p:nvPr/>
        </p:nvSpPr>
        <p:spPr>
          <a:xfrm>
            <a:off x="8252460" y="2750820"/>
            <a:ext cx="198120" cy="211734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2EAD71E-8E63-4436-B3CC-CCA750DA5E63}"/>
              </a:ext>
            </a:extLst>
          </p:cNvPr>
          <p:cNvSpPr>
            <a:spLocks noGrp="1"/>
          </p:cNvSpPr>
          <p:nvPr/>
        </p:nvSpPr>
        <p:spPr>
          <a:xfrm>
            <a:off x="8313420" y="2941320"/>
            <a:ext cx="76200" cy="97724"/>
          </a:xfrm>
          <a:prstGeom prst="roundRect">
            <a:avLst>
              <a:gd name="adj" fmla="val 3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BD942AE6-E2CC-48AB-A2D8-F4E19D54A958}"/>
              </a:ext>
            </a:extLst>
          </p:cNvPr>
          <p:cNvSpPr>
            <a:spLocks noGrp="1"/>
          </p:cNvSpPr>
          <p:nvPr/>
        </p:nvSpPr>
        <p:spPr>
          <a:xfrm>
            <a:off x="8282940" y="3040379"/>
            <a:ext cx="137160" cy="45719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556F0FB-5AE8-4D87-AF1B-259B30B2EE1F}"/>
              </a:ext>
            </a:extLst>
          </p:cNvPr>
          <p:cNvSpPr>
            <a:spLocks noGrp="1"/>
          </p:cNvSpPr>
          <p:nvPr/>
        </p:nvSpPr>
        <p:spPr>
          <a:xfrm>
            <a:off x="8115300" y="2735580"/>
            <a:ext cx="3429000" cy="3094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25%?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3B4A79B-D171-445C-B2AF-2DF4F68E9BD3}"/>
              </a:ext>
            </a:extLst>
          </p:cNvPr>
          <p:cNvSpPr>
            <a:spLocks noGrp="1"/>
          </p:cNvSpPr>
          <p:nvPr/>
        </p:nvSpPr>
        <p:spPr>
          <a:xfrm>
            <a:off x="8115300" y="3192779"/>
            <a:ext cx="3429000" cy="82250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“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거래가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너무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작은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사례의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변동성보다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의사결정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가치가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큰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상권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업종에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집중하기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위해서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”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4F290F3-E40B-4BAA-B471-3543FAFE0F22}"/>
              </a:ext>
            </a:extLst>
          </p:cNvPr>
          <p:cNvSpPr>
            <a:spLocks noGrp="1"/>
          </p:cNvSpPr>
          <p:nvPr/>
        </p:nvSpPr>
        <p:spPr>
          <a:xfrm>
            <a:off x="8115300" y="4076699"/>
            <a:ext cx="3429000" cy="45719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129B8267-C57B-42B3-94F7-A1B64CCF6903}"/>
              </a:ext>
            </a:extLst>
          </p:cNvPr>
          <p:cNvSpPr>
            <a:spLocks noGrp="1"/>
          </p:cNvSpPr>
          <p:nvPr/>
        </p:nvSpPr>
        <p:spPr>
          <a:xfrm>
            <a:off x="8115300" y="4198620"/>
            <a:ext cx="3429000" cy="65149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69C54FFB-67E4-4762-A45D-5AE6114DFB80}"/>
              </a:ext>
            </a:extLst>
          </p:cNvPr>
          <p:cNvSpPr>
            <a:spLocks noGrp="1"/>
          </p:cNvSpPr>
          <p:nvPr/>
        </p:nvSpPr>
        <p:spPr>
          <a:xfrm>
            <a:off x="8275320" y="4358640"/>
            <a:ext cx="213360" cy="228022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FCB40D5-7D0D-4115-8187-46728F00272A}"/>
              </a:ext>
            </a:extLst>
          </p:cNvPr>
          <p:cNvSpPr>
            <a:spLocks noGrp="1"/>
          </p:cNvSpPr>
          <p:nvPr/>
        </p:nvSpPr>
        <p:spPr>
          <a:xfrm>
            <a:off x="8275320" y="4381499"/>
            <a:ext cx="213360" cy="16287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6FE415E-CA2B-4C7E-82E5-98B9E7208CEF}"/>
              </a:ext>
            </a:extLst>
          </p:cNvPr>
          <p:cNvSpPr>
            <a:spLocks noGrp="1"/>
          </p:cNvSpPr>
          <p:nvPr/>
        </p:nvSpPr>
        <p:spPr>
          <a:xfrm>
            <a:off x="8587740" y="4305300"/>
            <a:ext cx="2857500" cy="52933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상위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25%는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우수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사례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전체가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아니라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규모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필터</a:t>
            </a:r>
            <a:r>
              <a:rPr lang="en-US"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96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그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성장성과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Stress를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별도로</a:t>
            </a:r>
            <a:r>
              <a:rPr sz="96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판단</a:t>
            </a:r>
            <a:endParaRPr sz="96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856E91C-5188-42BA-9045-E73A32036E00}"/>
              </a:ext>
            </a:extLst>
          </p:cNvPr>
          <p:cNvSpPr>
            <a:spLocks noGrp="1"/>
          </p:cNvSpPr>
          <p:nvPr/>
        </p:nvSpPr>
        <p:spPr>
          <a:xfrm>
            <a:off x="365760" y="528066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4D2099B-5461-4889-9360-E3265C4F81E8}"/>
              </a:ext>
            </a:extLst>
          </p:cNvPr>
          <p:cNvSpPr>
            <a:spLocks noGrp="1"/>
          </p:cNvSpPr>
          <p:nvPr/>
        </p:nvSpPr>
        <p:spPr>
          <a:xfrm>
            <a:off x="365760" y="53301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 |  지역별 분위수 필터링과 성장 판정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4DA15F4-6B0B-4E82-B93A-1A57CB4B1D78}"/>
              </a:ext>
            </a:extLst>
          </p:cNvPr>
          <p:cNvSpPr>
            <a:spLocks noGrp="1"/>
          </p:cNvSpPr>
          <p:nvPr/>
        </p:nvSpPr>
        <p:spPr>
          <a:xfrm>
            <a:off x="365760" y="56197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BF705B3-250E-4FF2-8389-79B4AF44E98A}"/>
              </a:ext>
            </a:extLst>
          </p:cNvPr>
          <p:cNvSpPr>
            <a:spLocks noGrp="1"/>
          </p:cNvSpPr>
          <p:nvPr/>
        </p:nvSpPr>
        <p:spPr>
          <a:xfrm>
            <a:off x="487680" y="57340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q75 = city_result["업종총이용금액"].quantile(0.75)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base = city_result[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city_result["6개월완전"] &amp;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(city_result["업종총이용금액"] &gt;= q75)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].copy()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006D0595-F952-4D85-B054-AF80FB7289C2}"/>
              </a:ext>
            </a:extLst>
          </p:cNvPr>
          <p:cNvSpPr>
            <a:spLocks noGrp="1"/>
          </p:cNvSpPr>
          <p:nvPr/>
        </p:nvSpPr>
        <p:spPr>
          <a:xfrm>
            <a:off x="4800600" y="533654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FD4C1146-F854-429C-B3F5-A0900FDCE890}"/>
              </a:ext>
            </a:extLst>
          </p:cNvPr>
          <p:cNvSpPr>
            <a:spLocks noGrp="1"/>
          </p:cNvSpPr>
          <p:nvPr/>
        </p:nvSpPr>
        <p:spPr>
          <a:xfrm>
            <a:off x="4968240" y="541274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E6E20FF-262A-4EE3-9C1D-29FDD053FD1F}"/>
              </a:ext>
            </a:extLst>
          </p:cNvPr>
          <p:cNvSpPr>
            <a:spLocks noGrp="1"/>
          </p:cNvSpPr>
          <p:nvPr/>
        </p:nvSpPr>
        <p:spPr>
          <a:xfrm>
            <a:off x="4998720" y="541274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BE7AC113-7FFA-40F7-88D8-EB500660CEA1}"/>
              </a:ext>
            </a:extLst>
          </p:cNvPr>
          <p:cNvSpPr>
            <a:spLocks noGrp="1"/>
          </p:cNvSpPr>
          <p:nvPr/>
        </p:nvSpPr>
        <p:spPr>
          <a:xfrm>
            <a:off x="5052060" y="551180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DDD1854-A825-4B76-85AC-752400B0FE03}"/>
              </a:ext>
            </a:extLst>
          </p:cNvPr>
          <p:cNvSpPr>
            <a:spLocks noGrp="1"/>
          </p:cNvSpPr>
          <p:nvPr/>
        </p:nvSpPr>
        <p:spPr>
          <a:xfrm>
            <a:off x="5052060" y="558038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C602F7F-D901-439F-A402-886F98DB1F86}"/>
              </a:ext>
            </a:extLst>
          </p:cNvPr>
          <p:cNvSpPr>
            <a:spLocks noGrp="1"/>
          </p:cNvSpPr>
          <p:nvPr/>
        </p:nvSpPr>
        <p:spPr>
          <a:xfrm>
            <a:off x="5052060" y="564896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6F8638A-FD9E-4EDF-8EB9-00532A6EE468}"/>
              </a:ext>
            </a:extLst>
          </p:cNvPr>
          <p:cNvSpPr>
            <a:spLocks noGrp="1"/>
          </p:cNvSpPr>
          <p:nvPr/>
        </p:nvSpPr>
        <p:spPr>
          <a:xfrm>
            <a:off x="5394960" y="539750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8F05D5EC-D510-4DFD-8062-5377C70D5474}"/>
              </a:ext>
            </a:extLst>
          </p:cNvPr>
          <p:cNvSpPr>
            <a:spLocks noGrp="1"/>
          </p:cNvSpPr>
          <p:nvPr/>
        </p:nvSpPr>
        <p:spPr>
          <a:xfrm>
            <a:off x="6667500" y="541065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작은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거래의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큰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증감률을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줄이기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Q75를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적용하고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절대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규모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E65E346-A17C-42A2-9C2F-E32FB5A0C370}"/>
              </a:ext>
            </a:extLst>
          </p:cNvPr>
          <p:cNvSpPr>
            <a:spLocks noGrp="1"/>
          </p:cNvSpPr>
          <p:nvPr/>
        </p:nvSpPr>
        <p:spPr>
          <a:xfrm>
            <a:off x="4953000" y="574548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61C1589C-FE01-48D8-89FF-D44D08351A59}"/>
              </a:ext>
            </a:extLst>
          </p:cNvPr>
          <p:cNvSpPr>
            <a:spLocks noGrp="1"/>
          </p:cNvSpPr>
          <p:nvPr/>
        </p:nvSpPr>
        <p:spPr>
          <a:xfrm>
            <a:off x="4968240" y="582168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9649F17-4955-447B-8426-6680D2EBA5F5}"/>
              </a:ext>
            </a:extLst>
          </p:cNvPr>
          <p:cNvSpPr>
            <a:spLocks noGrp="1"/>
          </p:cNvSpPr>
          <p:nvPr/>
        </p:nvSpPr>
        <p:spPr>
          <a:xfrm>
            <a:off x="4960620" y="601980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A7E09636-29AD-42D6-A9F5-B3A7C2332322}"/>
              </a:ext>
            </a:extLst>
          </p:cNvPr>
          <p:cNvSpPr>
            <a:spLocks noGrp="1"/>
          </p:cNvSpPr>
          <p:nvPr/>
        </p:nvSpPr>
        <p:spPr>
          <a:xfrm>
            <a:off x="5074920" y="594360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DAF3A5F1-A248-412D-BC64-25EE93E23812}"/>
              </a:ext>
            </a:extLst>
          </p:cNvPr>
          <p:cNvSpPr>
            <a:spLocks noGrp="1"/>
          </p:cNvSpPr>
          <p:nvPr/>
        </p:nvSpPr>
        <p:spPr>
          <a:xfrm>
            <a:off x="5189220" y="584454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D035F1-93C6-4F63-A4A2-E106C61D4324}"/>
              </a:ext>
            </a:extLst>
          </p:cNvPr>
          <p:cNvSpPr>
            <a:spLocks noGrp="1"/>
          </p:cNvSpPr>
          <p:nvPr/>
        </p:nvSpPr>
        <p:spPr>
          <a:xfrm>
            <a:off x="5394960" y="580644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판단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8946E95-8BA4-40D2-9534-121C2BA4F15A}"/>
              </a:ext>
            </a:extLst>
          </p:cNvPr>
          <p:cNvSpPr>
            <a:spLocks noGrp="1"/>
          </p:cNvSpPr>
          <p:nvPr/>
        </p:nvSpPr>
        <p:spPr>
          <a:xfrm>
            <a:off x="6667500" y="581959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월평균증감률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1월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6월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상승개월수로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추세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동시에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3CCC01C-6349-4BB0-BE2B-2FEF51DD1063}"/>
              </a:ext>
            </a:extLst>
          </p:cNvPr>
          <p:cNvSpPr>
            <a:spLocks noGrp="1"/>
          </p:cNvSpPr>
          <p:nvPr/>
        </p:nvSpPr>
        <p:spPr>
          <a:xfrm>
            <a:off x="4953000" y="615442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8955C90-8148-43CA-B2EA-6508025CCF74}"/>
              </a:ext>
            </a:extLst>
          </p:cNvPr>
          <p:cNvSpPr>
            <a:spLocks noGrp="1"/>
          </p:cNvSpPr>
          <p:nvPr/>
        </p:nvSpPr>
        <p:spPr>
          <a:xfrm>
            <a:off x="5394960" y="621538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195924B-E375-4C4A-ABAD-EC66998AFC7D}"/>
              </a:ext>
            </a:extLst>
          </p:cNvPr>
          <p:cNvSpPr>
            <a:spLocks noGrp="1"/>
          </p:cNvSpPr>
          <p:nvPr/>
        </p:nvSpPr>
        <p:spPr>
          <a:xfrm>
            <a:off x="6667500" y="622853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6개월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완전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→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Q75 →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성장조건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경기는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47개를 31개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시군으로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통합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B2ED48E1-D0BA-3F0E-3730-DF4BB9ADA01B}"/>
              </a:ext>
            </a:extLst>
          </p:cNvPr>
          <p:cNvSpPr/>
          <p:nvPr/>
        </p:nvSpPr>
        <p:spPr>
          <a:xfrm>
            <a:off x="4944069" y="6168667"/>
            <a:ext cx="368379" cy="368379"/>
          </a:xfrm>
          <a:prstGeom prst="ellipse">
            <a:avLst/>
          </a:prstGeom>
          <a:solidFill>
            <a:srgbClr val="EAF1FF"/>
          </a:solidFill>
          <a:ln w="1637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04" name="그래픽 98">
            <a:extLst>
              <a:ext uri="{FF2B5EF4-FFF2-40B4-BE49-F238E27FC236}">
                <a16:creationId xmlns:a16="http://schemas.microsoft.com/office/drawing/2014/main" id="{35A57F6D-CDEE-3460-8803-D4D0BA07F170}"/>
              </a:ext>
            </a:extLst>
          </p:cNvPr>
          <p:cNvGrpSpPr/>
          <p:nvPr/>
        </p:nvGrpSpPr>
        <p:grpSpPr>
          <a:xfrm>
            <a:off x="5019719" y="6252539"/>
            <a:ext cx="217080" cy="200635"/>
            <a:chOff x="5019719" y="6112839"/>
            <a:chExt cx="217080" cy="200635"/>
          </a:xfrm>
          <a:noFill/>
        </p:grpSpPr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8120C4C7-C374-13B1-00EF-CD75C3FB62A7}"/>
                </a:ext>
              </a:extLst>
            </p:cNvPr>
            <p:cNvSpPr/>
            <p:nvPr/>
          </p:nvSpPr>
          <p:spPr>
            <a:xfrm>
              <a:off x="5019719" y="6112839"/>
              <a:ext cx="217080" cy="200635"/>
            </a:xfrm>
            <a:prstGeom prst="roundRect">
              <a:avLst>
                <a:gd name="adj" fmla="val 13114"/>
              </a:avLst>
            </a:prstGeom>
            <a:noFill/>
            <a:ln w="19645" cap="rnd">
              <a:solidFill>
                <a:srgbClr val="3F6FD1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46AECF83-9CA9-3A6F-1DC9-192BDB2B19E2}"/>
                </a:ext>
              </a:extLst>
            </p:cNvPr>
            <p:cNvSpPr/>
            <p:nvPr/>
          </p:nvSpPr>
          <p:spPr>
            <a:xfrm>
              <a:off x="5019719" y="6160531"/>
              <a:ext cx="217080" cy="1644"/>
            </a:xfrm>
            <a:custGeom>
              <a:avLst/>
              <a:gdLst>
                <a:gd name="csX0" fmla="*/ 0 w 217080"/>
                <a:gd name="csY0" fmla="*/ 0 h 1644"/>
                <a:gd name="csX1" fmla="*/ 217081 w 217080"/>
                <a:gd name="csY1" fmla="*/ 0 h 16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7080" h="1644">
                  <a:moveTo>
                    <a:pt x="0" y="0"/>
                  </a:moveTo>
                  <a:lnTo>
                    <a:pt x="217081" y="0"/>
                  </a:lnTo>
                </a:path>
              </a:pathLst>
            </a:custGeom>
            <a:noFill/>
            <a:ln w="19645" cap="rnd">
              <a:solidFill>
                <a:srgbClr val="3F6FD1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자유형: 도형 106">
              <a:extLst>
                <a:ext uri="{FF2B5EF4-FFF2-40B4-BE49-F238E27FC236}">
                  <a16:creationId xmlns:a16="http://schemas.microsoft.com/office/drawing/2014/main" id="{AC4622C0-41EF-5E84-3D09-D28860F16E12}"/>
                </a:ext>
              </a:extLst>
            </p:cNvPr>
            <p:cNvSpPr/>
            <p:nvPr/>
          </p:nvSpPr>
          <p:spPr>
            <a:xfrm>
              <a:off x="5054254" y="6193422"/>
              <a:ext cx="148009" cy="75649"/>
            </a:xfrm>
            <a:custGeom>
              <a:avLst/>
              <a:gdLst>
                <a:gd name="csX0" fmla="*/ 29602 w 148009"/>
                <a:gd name="csY0" fmla="*/ 9867 h 75649"/>
                <a:gd name="csX1" fmla="*/ 0 w 148009"/>
                <a:gd name="csY1" fmla="*/ 37825 h 75649"/>
                <a:gd name="csX2" fmla="*/ 29602 w 148009"/>
                <a:gd name="csY2" fmla="*/ 65782 h 75649"/>
                <a:gd name="csX3" fmla="*/ 118408 w 148009"/>
                <a:gd name="csY3" fmla="*/ 9867 h 75649"/>
                <a:gd name="csX4" fmla="*/ 148010 w 148009"/>
                <a:gd name="csY4" fmla="*/ 37825 h 75649"/>
                <a:gd name="csX5" fmla="*/ 118408 w 148009"/>
                <a:gd name="csY5" fmla="*/ 65782 h 75649"/>
                <a:gd name="csX6" fmla="*/ 92095 w 148009"/>
                <a:gd name="csY6" fmla="*/ 0 h 75649"/>
                <a:gd name="csX7" fmla="*/ 55915 w 148009"/>
                <a:gd name="csY7" fmla="*/ 75649 h 75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48009" h="75649">
                  <a:moveTo>
                    <a:pt x="29602" y="9867"/>
                  </a:moveTo>
                  <a:lnTo>
                    <a:pt x="0" y="37825"/>
                  </a:lnTo>
                  <a:lnTo>
                    <a:pt x="29602" y="65782"/>
                  </a:lnTo>
                  <a:moveTo>
                    <a:pt x="118408" y="9867"/>
                  </a:moveTo>
                  <a:lnTo>
                    <a:pt x="148010" y="37825"/>
                  </a:lnTo>
                  <a:lnTo>
                    <a:pt x="118408" y="65782"/>
                  </a:lnTo>
                  <a:moveTo>
                    <a:pt x="92095" y="0"/>
                  </a:moveTo>
                  <a:lnTo>
                    <a:pt x="55915" y="75649"/>
                  </a:lnTo>
                </a:path>
              </a:pathLst>
            </a:custGeom>
            <a:noFill/>
            <a:ln w="19645" cap="rnd">
              <a:solidFill>
                <a:srgbClr val="3F6FD1"/>
              </a:solidFill>
              <a:prstDash val="solid"/>
              <a:rou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1545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직사각형 75">
            <a:extLst>
              <a:ext uri="{FF2B5EF4-FFF2-40B4-BE49-F238E27FC236}">
                <a16:creationId xmlns:a16="http://schemas.microsoft.com/office/drawing/2014/main" id="{6105CDD6-9F1C-82F5-9E68-B170F40F523F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EB4EAF-B78A-423C-85F2-DF0B7FCC8D72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2E4C49-F25A-4E7D-BDF1-4961B04D3094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F40B653-46CF-40C3-A7A5-F16087F1DF96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40FE764-D9E7-4F3B-9E68-76127BAEF392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775B44-95E7-47A3-BDD5-E5174C47FF75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STRESS TEST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0CD19CF-E153-4CC5-9926-AD892EB5BCCD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소비구조에 2040 인구 스트레스 테스트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E848FE-8C03-45FF-91A5-0A17B9AB5A18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소비비중이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유지된다는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가정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인구구조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변화에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대한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노출도를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898A16B-D4DE-4E63-8321-4F02C10E6A21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763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43B898-A9FB-4A8E-92F0-8F083672856C}"/>
              </a:ext>
            </a:extLst>
          </p:cNvPr>
          <p:cNvSpPr>
            <a:spLocks noGrp="1"/>
          </p:cNvSpPr>
          <p:nvPr/>
        </p:nvSpPr>
        <p:spPr>
          <a:xfrm>
            <a:off x="746760" y="156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소비구조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BD019C-9258-4258-8CB6-BE11E3752D74}"/>
              </a:ext>
            </a:extLst>
          </p:cNvPr>
          <p:cNvSpPr>
            <a:spLocks noGrp="1"/>
          </p:cNvSpPr>
          <p:nvPr/>
        </p:nvSpPr>
        <p:spPr>
          <a:xfrm>
            <a:off x="746760" y="184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연령별 이용금액 비중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B8C0A7-F4F8-4641-95B3-C2EE1DB4A779}"/>
              </a:ext>
            </a:extLst>
          </p:cNvPr>
          <p:cNvSpPr>
            <a:spLocks noGrp="1"/>
          </p:cNvSpPr>
          <p:nvPr/>
        </p:nvSpPr>
        <p:spPr>
          <a:xfrm>
            <a:off x="746760" y="207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2026.01 ~ 06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718EBC8-23CD-49A1-8406-A8A07790FE34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763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0D9A10C-CEB7-4B31-912E-B8A31BAB7BF5}"/>
              </a:ext>
            </a:extLst>
          </p:cNvPr>
          <p:cNvSpPr>
            <a:spLocks noGrp="1"/>
          </p:cNvSpPr>
          <p:nvPr/>
        </p:nvSpPr>
        <p:spPr>
          <a:xfrm>
            <a:off x="4632960" y="156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인구변화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663996-5257-43AF-8A74-C42BF062E3A8}"/>
              </a:ext>
            </a:extLst>
          </p:cNvPr>
          <p:cNvSpPr>
            <a:spLocks noGrp="1"/>
          </p:cNvSpPr>
          <p:nvPr/>
        </p:nvSpPr>
        <p:spPr>
          <a:xfrm>
            <a:off x="4632960" y="184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연령별 2040 증감률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4F6C0B5-DC66-4D42-98E2-5643C657169F}"/>
              </a:ext>
            </a:extLst>
          </p:cNvPr>
          <p:cNvSpPr>
            <a:spLocks noGrp="1"/>
          </p:cNvSpPr>
          <p:nvPr/>
        </p:nvSpPr>
        <p:spPr>
          <a:xfrm>
            <a:off x="4632960" y="207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 대비 2040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ED9FEBAF-CA13-4EA3-B45E-D094632B9715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763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DD2722-E6EB-4940-8C78-4BDC10B97DAE}"/>
              </a:ext>
            </a:extLst>
          </p:cNvPr>
          <p:cNvSpPr>
            <a:spLocks noGrp="1"/>
          </p:cNvSpPr>
          <p:nvPr/>
        </p:nvSpPr>
        <p:spPr>
          <a:xfrm>
            <a:off x="8519160" y="1562100"/>
            <a:ext cx="288798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출력 지표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EEDB7B6-14B2-465C-AF8C-F9F53AF781BB}"/>
              </a:ext>
            </a:extLst>
          </p:cNvPr>
          <p:cNvSpPr>
            <a:spLocks noGrp="1"/>
          </p:cNvSpPr>
          <p:nvPr/>
        </p:nvSpPr>
        <p:spPr>
          <a:xfrm>
            <a:off x="8519160" y="1844040"/>
            <a:ext cx="28879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1678E9C-B7F8-48E6-B018-664B8DBBA77B}"/>
              </a:ext>
            </a:extLst>
          </p:cNvPr>
          <p:cNvSpPr>
            <a:spLocks noGrp="1"/>
          </p:cNvSpPr>
          <p:nvPr/>
        </p:nvSpPr>
        <p:spPr>
          <a:xfrm>
            <a:off x="8519160" y="2072640"/>
            <a:ext cx="288798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가중합 노출도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BDA668-737B-4143-A4A6-03BFC80570AF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7620000" cy="2590800"/>
          </a:xfrm>
          <a:prstGeom prst="roundRect">
            <a:avLst>
              <a:gd name="adj" fmla="val 676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D3D4091-5947-4E68-85B4-5167162C4A40}"/>
              </a:ext>
            </a:extLst>
          </p:cNvPr>
          <p:cNvSpPr>
            <a:spLocks noGrp="1"/>
          </p:cNvSpPr>
          <p:nvPr/>
        </p:nvSpPr>
        <p:spPr>
          <a:xfrm>
            <a:off x="609600" y="2506980"/>
            <a:ext cx="7162800" cy="289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소비기반 Stress = Σ (연령별 이용금액 비중 × 미래 인구증감률)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78A2AA1-B4EA-44A7-BFB3-C0152C523A75}"/>
              </a:ext>
            </a:extLst>
          </p:cNvPr>
          <p:cNvSpPr>
            <a:spLocks noGrp="1"/>
          </p:cNvSpPr>
          <p:nvPr/>
        </p:nvSpPr>
        <p:spPr>
          <a:xfrm>
            <a:off x="609599" y="2910840"/>
            <a:ext cx="7162800" cy="20116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성동구</a:t>
            </a:r>
            <a:r>
              <a:rPr sz="12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사례</a:t>
            </a:r>
            <a:r>
              <a:rPr sz="12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/  </a:t>
            </a:r>
            <a:r>
              <a:rPr sz="12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서양음식</a:t>
            </a:r>
            <a:endParaRPr sz="12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graphicFrame>
        <p:nvGraphicFramePr>
          <p:cNvPr id="103" name="표 102"/>
          <p:cNvGraphicFramePr/>
          <p:nvPr>
            <p:extLst>
              <p:ext uri="{D42A27DB-BD31-4B8C-83A1-F6EECF244321}">
                <p14:modId xmlns:p14="http://schemas.microsoft.com/office/powerpoint/2010/main" val="1725728155"/>
              </p:ext>
            </p:extLst>
          </p:nvPr>
        </p:nvGraphicFramePr>
        <p:xfrm>
          <a:off x="609599" y="3208020"/>
          <a:ext cx="7162800" cy="1664208"/>
        </p:xfrm>
        <a:graphic>
          <a:graphicData uri="http://schemas.openxmlformats.org/drawingml/2006/table">
            <a:tbl>
              <a:tblPr/>
              <a:tblGrid>
                <a:gridCol w="238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연령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현재 소비비중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2040 인구증감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20대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157">
                <a:tc>
                  <a:txBody>
                    <a:bodyPr/>
                    <a:lstStyle/>
                    <a:p>
                      <a:pPr algn="ctr"/>
                      <a:r>
                        <a:rPr sz="96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60대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60" b="0" dirty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2CE9726-2025-4870-86D1-05AD9A7B3B22}"/>
              </a:ext>
            </a:extLst>
          </p:cNvPr>
          <p:cNvSpPr>
            <a:spLocks noGrp="1"/>
          </p:cNvSpPr>
          <p:nvPr/>
        </p:nvSpPr>
        <p:spPr>
          <a:xfrm>
            <a:off x="8153400" y="2377440"/>
            <a:ext cx="3672840" cy="2590800"/>
          </a:xfrm>
          <a:prstGeom prst="roundRect">
            <a:avLst>
              <a:gd name="adj" fmla="val 676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2F64311-2991-4D4E-87E2-4197B7A05F57}"/>
              </a:ext>
            </a:extLst>
          </p:cNvPr>
          <p:cNvSpPr>
            <a:spLocks noGrp="1"/>
          </p:cNvSpPr>
          <p:nvPr/>
        </p:nvSpPr>
        <p:spPr>
          <a:xfrm>
            <a:off x="8420100" y="2560320"/>
            <a:ext cx="3139440" cy="2895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Stress가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음(-)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으로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나오는가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484FDCA-BEA5-4321-9DAA-E7887E028952}"/>
              </a:ext>
            </a:extLst>
          </p:cNvPr>
          <p:cNvSpPr>
            <a:spLocks noGrp="1"/>
          </p:cNvSpPr>
          <p:nvPr/>
        </p:nvSpPr>
        <p:spPr>
          <a:xfrm>
            <a:off x="8473440" y="302514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1.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소비의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절반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이상이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20</a:t>
            </a: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~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30대에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집중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B57FBA0-7E46-4301-A48C-28128954A253}"/>
              </a:ext>
            </a:extLst>
          </p:cNvPr>
          <p:cNvSpPr>
            <a:spLocks noGrp="1"/>
          </p:cNvSpPr>
          <p:nvPr/>
        </p:nvSpPr>
        <p:spPr>
          <a:xfrm>
            <a:off x="8412480" y="3390900"/>
            <a:ext cx="289560" cy="28956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D69BC93-C42A-47D0-B9DD-32ED1BC3444E}"/>
              </a:ext>
            </a:extLst>
          </p:cNvPr>
          <p:cNvSpPr>
            <a:spLocks noGrp="1"/>
          </p:cNvSpPr>
          <p:nvPr/>
        </p:nvSpPr>
        <p:spPr>
          <a:xfrm>
            <a:off x="8473440" y="342138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2.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2040년 20~30대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인구가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약 24</a:t>
            </a: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~</a:t>
            </a: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28%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569AABF-BA4D-46C2-90DF-F5451D332318}"/>
              </a:ext>
            </a:extLst>
          </p:cNvPr>
          <p:cNvSpPr>
            <a:spLocks noGrp="1"/>
          </p:cNvSpPr>
          <p:nvPr/>
        </p:nvSpPr>
        <p:spPr>
          <a:xfrm>
            <a:off x="8412480" y="3787140"/>
            <a:ext cx="289560" cy="28956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0B205A1-D5E4-432F-A54A-740B579E3197}"/>
              </a:ext>
            </a:extLst>
          </p:cNvPr>
          <p:cNvSpPr>
            <a:spLocks noGrp="1"/>
          </p:cNvSpPr>
          <p:nvPr/>
        </p:nvSpPr>
        <p:spPr>
          <a:xfrm>
            <a:off x="8473440" y="381762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3. 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60대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이상은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증가하지만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소비비중은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10.1%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0104D73-2B55-492D-98FF-BBF948876249}"/>
              </a:ext>
            </a:extLst>
          </p:cNvPr>
          <p:cNvSpPr>
            <a:spLocks noGrp="1"/>
          </p:cNvSpPr>
          <p:nvPr/>
        </p:nvSpPr>
        <p:spPr>
          <a:xfrm>
            <a:off x="8412480" y="4183380"/>
            <a:ext cx="289560" cy="28956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D884CE1-9B75-4938-8C1C-E0819415A29B}"/>
              </a:ext>
            </a:extLst>
          </p:cNvPr>
          <p:cNvSpPr>
            <a:spLocks noGrp="1"/>
          </p:cNvSpPr>
          <p:nvPr/>
        </p:nvSpPr>
        <p:spPr>
          <a:xfrm>
            <a:off x="8473440" y="4213860"/>
            <a:ext cx="2994660" cy="2590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4.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따라서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전체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가중합이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음(-)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방향으로</a:t>
            </a:r>
            <a:r>
              <a:rPr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이동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787F79AA-DFC4-4223-A967-C4F8A8EE5429}"/>
              </a:ext>
            </a:extLst>
          </p:cNvPr>
          <p:cNvSpPr>
            <a:spLocks noGrp="1"/>
          </p:cNvSpPr>
          <p:nvPr/>
        </p:nvSpPr>
        <p:spPr>
          <a:xfrm>
            <a:off x="8389620" y="4594860"/>
            <a:ext cx="3200400" cy="29718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8AF6CF9-A417-4664-81C8-025ED0D5AF9B}"/>
              </a:ext>
            </a:extLst>
          </p:cNvPr>
          <p:cNvSpPr>
            <a:spLocks noGrp="1"/>
          </p:cNvSpPr>
          <p:nvPr/>
        </p:nvSpPr>
        <p:spPr>
          <a:xfrm>
            <a:off x="8473440" y="4632960"/>
            <a:ext cx="303276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-17%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예측이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아닌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인구구조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변화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노출도</a:t>
            </a:r>
            <a:endParaRPr sz="81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B6313C5-AED2-4620-907F-FDFA8CC1AAA3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2269D91-E978-4303-A07E-AB55A30DCE2E}"/>
              </a:ext>
            </a:extLst>
          </p:cNvPr>
          <p:cNvSpPr>
            <a:spLocks noGrp="1"/>
          </p:cNvSpPr>
          <p:nvPr/>
        </p:nvSpPr>
        <p:spPr>
          <a:xfrm>
            <a:off x="365760" y="540004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 |  연령별 소비비중과 2040 인구변화 가중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3C01C3B-D5BF-4189-8592-EA5FC8D330F9}"/>
              </a:ext>
            </a:extLst>
          </p:cNvPr>
          <p:cNvSpPr>
            <a:spLocks noGrp="1"/>
          </p:cNvSpPr>
          <p:nvPr/>
        </p:nvSpPr>
        <p:spPr>
          <a:xfrm>
            <a:off x="365760" y="568960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95A7320-FB2E-49D2-BD9A-A187AFBF0816}"/>
              </a:ext>
            </a:extLst>
          </p:cNvPr>
          <p:cNvSpPr>
            <a:spLocks noGrp="1"/>
          </p:cNvSpPr>
          <p:nvPr/>
        </p:nvSpPr>
        <p:spPr>
          <a:xfrm>
            <a:off x="487680" y="580390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share = age["이용금액비중"] / 100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age["가중효과"] = share * age["2040 증감률"]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 = age.groupby(keys)["가중효과"].sum()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DFD9108-8154-4EE3-A0A5-0C015F56AF5F}"/>
              </a:ext>
            </a:extLst>
          </p:cNvPr>
          <p:cNvSpPr>
            <a:spLocks noGrp="1"/>
          </p:cNvSpPr>
          <p:nvPr/>
        </p:nvSpPr>
        <p:spPr>
          <a:xfrm>
            <a:off x="4800600" y="534924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B55BCD2E-E8AF-4318-931D-DD4B0579C118}"/>
              </a:ext>
            </a:extLst>
          </p:cNvPr>
          <p:cNvSpPr>
            <a:spLocks noGrp="1"/>
          </p:cNvSpPr>
          <p:nvPr/>
        </p:nvSpPr>
        <p:spPr>
          <a:xfrm>
            <a:off x="4968240" y="542544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873D24B-5205-4C7C-98F0-FF977B66C5A6}"/>
              </a:ext>
            </a:extLst>
          </p:cNvPr>
          <p:cNvSpPr>
            <a:spLocks noGrp="1"/>
          </p:cNvSpPr>
          <p:nvPr/>
        </p:nvSpPr>
        <p:spPr>
          <a:xfrm>
            <a:off x="4998720" y="542544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67D611F-47A0-4DF8-961B-8205E91AABDB}"/>
              </a:ext>
            </a:extLst>
          </p:cNvPr>
          <p:cNvSpPr>
            <a:spLocks noGrp="1"/>
          </p:cNvSpPr>
          <p:nvPr/>
        </p:nvSpPr>
        <p:spPr>
          <a:xfrm>
            <a:off x="5052060" y="552450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090AA66-7AFD-4DDF-B3D0-6C583BF8684B}"/>
              </a:ext>
            </a:extLst>
          </p:cNvPr>
          <p:cNvSpPr>
            <a:spLocks noGrp="1"/>
          </p:cNvSpPr>
          <p:nvPr/>
        </p:nvSpPr>
        <p:spPr>
          <a:xfrm>
            <a:off x="5052060" y="559308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3B75208-DD41-4DDF-88AE-414DF7489319}"/>
              </a:ext>
            </a:extLst>
          </p:cNvPr>
          <p:cNvSpPr>
            <a:spLocks noGrp="1"/>
          </p:cNvSpPr>
          <p:nvPr/>
        </p:nvSpPr>
        <p:spPr>
          <a:xfrm>
            <a:off x="5052060" y="566166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9C6BA8F-4A52-4CCE-8480-FF695DBDFBDA}"/>
              </a:ext>
            </a:extLst>
          </p:cNvPr>
          <p:cNvSpPr>
            <a:spLocks noGrp="1"/>
          </p:cNvSpPr>
          <p:nvPr/>
        </p:nvSpPr>
        <p:spPr>
          <a:xfrm>
            <a:off x="5394960" y="541020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C32AA98-44BC-40C8-8553-F5FEED2F533C}"/>
              </a:ext>
            </a:extLst>
          </p:cNvPr>
          <p:cNvSpPr>
            <a:spLocks noGrp="1"/>
          </p:cNvSpPr>
          <p:nvPr/>
        </p:nvSpPr>
        <p:spPr>
          <a:xfrm>
            <a:off x="6667500" y="539046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규모만으로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판단할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없어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소비구조와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2040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인구변화를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결합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E2E311B5-00CC-414D-8D33-12702416189C}"/>
              </a:ext>
            </a:extLst>
          </p:cNvPr>
          <p:cNvSpPr>
            <a:spLocks noGrp="1"/>
          </p:cNvSpPr>
          <p:nvPr/>
        </p:nvSpPr>
        <p:spPr>
          <a:xfrm>
            <a:off x="4953000" y="575818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16F03DC-2912-4496-9A1F-60608905E9E9}"/>
              </a:ext>
            </a:extLst>
          </p:cNvPr>
          <p:cNvSpPr>
            <a:spLocks noGrp="1"/>
          </p:cNvSpPr>
          <p:nvPr/>
        </p:nvSpPr>
        <p:spPr>
          <a:xfrm>
            <a:off x="4968240" y="583438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2E0FA7B-1F6F-4BEC-9A34-9DEA50911A34}"/>
              </a:ext>
            </a:extLst>
          </p:cNvPr>
          <p:cNvSpPr>
            <a:spLocks noGrp="1"/>
          </p:cNvSpPr>
          <p:nvPr/>
        </p:nvSpPr>
        <p:spPr>
          <a:xfrm>
            <a:off x="5394960" y="581914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Stress 해석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39A7DCBF-F50A-4875-9290-D88F05BE3E69}"/>
              </a:ext>
            </a:extLst>
          </p:cNvPr>
          <p:cNvSpPr>
            <a:spLocks noGrp="1"/>
          </p:cNvSpPr>
          <p:nvPr/>
        </p:nvSpPr>
        <p:spPr>
          <a:xfrm>
            <a:off x="6667500" y="5805984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음수일수록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향후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연령층에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노출된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상대적으로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안정적이며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예측값은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아님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518B437B-E125-4730-8E52-60B88A5B12D4}"/>
              </a:ext>
            </a:extLst>
          </p:cNvPr>
          <p:cNvSpPr>
            <a:spLocks noGrp="1"/>
          </p:cNvSpPr>
          <p:nvPr/>
        </p:nvSpPr>
        <p:spPr>
          <a:xfrm>
            <a:off x="4953000" y="616712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1A0C9FB-1819-4EC0-8700-8ACCF597D848}"/>
              </a:ext>
            </a:extLst>
          </p:cNvPr>
          <p:cNvSpPr>
            <a:spLocks noGrp="1"/>
          </p:cNvSpPr>
          <p:nvPr/>
        </p:nvSpPr>
        <p:spPr>
          <a:xfrm>
            <a:off x="5394960" y="622808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3DDE1DA-A254-4730-B6A6-5FFBE8590C87}"/>
              </a:ext>
            </a:extLst>
          </p:cNvPr>
          <p:cNvSpPr>
            <a:spLocks noGrp="1"/>
          </p:cNvSpPr>
          <p:nvPr/>
        </p:nvSpPr>
        <p:spPr>
          <a:xfrm>
            <a:off x="6667500" y="624123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지역×업종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이용금액을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비중으로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변환한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뒤 2026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2040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인구증감률을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곱해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합산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74" name="그래픽 73">
            <a:extLst>
              <a:ext uri="{FF2B5EF4-FFF2-40B4-BE49-F238E27FC236}">
                <a16:creationId xmlns:a16="http://schemas.microsoft.com/office/drawing/2014/main" id="{BAFC6801-4240-40F2-47AD-96D23933E1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55055"/>
            <a:ext cx="421005" cy="421005"/>
          </a:xfrm>
          <a:prstGeom prst="rect">
            <a:avLst/>
          </a:prstGeom>
        </p:spPr>
      </p:pic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D6057F5F-323D-D177-B81B-7A54C1160132}"/>
              </a:ext>
            </a:extLst>
          </p:cNvPr>
          <p:cNvSpPr>
            <a:spLocks noGrp="1"/>
          </p:cNvSpPr>
          <p:nvPr/>
        </p:nvSpPr>
        <p:spPr>
          <a:xfrm>
            <a:off x="4960620" y="603250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C5D7AF4-DF3D-11DE-A1CB-E16C6DCA57AE}"/>
              </a:ext>
            </a:extLst>
          </p:cNvPr>
          <p:cNvSpPr>
            <a:spLocks noGrp="1"/>
          </p:cNvSpPr>
          <p:nvPr/>
        </p:nvSpPr>
        <p:spPr>
          <a:xfrm>
            <a:off x="5074920" y="595630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6823054-A708-BDDC-DDB8-99D0422DB8C8}"/>
              </a:ext>
            </a:extLst>
          </p:cNvPr>
          <p:cNvSpPr>
            <a:spLocks noGrp="1"/>
          </p:cNvSpPr>
          <p:nvPr/>
        </p:nvSpPr>
        <p:spPr>
          <a:xfrm>
            <a:off x="5189220" y="585724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BF7D7009-395A-5397-2E33-FA6D9FBC7CEA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76899E99-4C5C-8606-353D-A7E033AC83C7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A34D310B-E8D5-868C-FD47-71CBEF307062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EF8B9B7-C95C-8E1C-8E51-2B9B01FF3679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D009C01B-9C79-1D8F-7D43-ACBDAEE315C6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A422B95-67A8-DA71-BFD6-74B53675864A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816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B3D5739-BEBA-465B-B0EB-038D07A6F55C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6106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1BACD5A-F43E-4B66-B7F8-3FB635B7C325}"/>
              </a:ext>
            </a:extLst>
          </p:cNvPr>
          <p:cNvSpPr>
            <a:spLocks noGrp="1"/>
          </p:cNvSpPr>
          <p:nvPr/>
        </p:nvSpPr>
        <p:spPr>
          <a:xfrm>
            <a:off x="365760" y="4953000"/>
            <a:ext cx="11460480" cy="259080"/>
          </a:xfrm>
          <a:prstGeom prst="roundRect">
            <a:avLst>
              <a:gd name="adj" fmla="val 23529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11995A9-B6A2-69A9-AC21-3CE58752CE31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D2C4C9E-D4E6-43A9-B132-43D1F6207390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E9A95FB-6E16-49D3-8DAD-0A085CE00B3B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3B777E3-6E54-4C52-A671-7B2600B36731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1CD18F6-27D9-44D8-BE4E-BB92C907A7AC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48D0C1-2FAC-44FB-95C9-C13A2E1817EB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CORE FINDING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12C6F92-7A9E-4CB4-B223-9844B759D896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 ‘성장’도 지역에 따라 미래가 달랐다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760260-403F-45C2-9979-00699F8FEB9E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Q75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기준과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동일한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조건을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적용해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서울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부산</a:t>
            </a:r>
            <a:r>
              <a:rPr lang="en-US" sz="120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경기를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49F41DC-895D-41EF-B0A2-AFD2E846B19B}"/>
              </a:ext>
            </a:extLst>
          </p:cNvPr>
          <p:cNvSpPr>
            <a:spLocks noGrp="1"/>
          </p:cNvSpPr>
          <p:nvPr/>
        </p:nvSpPr>
        <p:spPr>
          <a:xfrm>
            <a:off x="8183877" y="1534160"/>
            <a:ext cx="1268733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C4FCF7-A16D-4652-A51F-D675E1FFA942}"/>
              </a:ext>
            </a:extLst>
          </p:cNvPr>
          <p:cNvSpPr>
            <a:spLocks noGrp="1"/>
          </p:cNvSpPr>
          <p:nvPr/>
        </p:nvSpPr>
        <p:spPr>
          <a:xfrm>
            <a:off x="8183877" y="1816100"/>
            <a:ext cx="1268733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9 / 비성장 52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9FE54B-2AAE-4975-AB84-BC4D7B0538E6}"/>
              </a:ext>
            </a:extLst>
          </p:cNvPr>
          <p:cNvSpPr>
            <a:spLocks noGrp="1"/>
          </p:cNvSpPr>
          <p:nvPr/>
        </p:nvSpPr>
        <p:spPr>
          <a:xfrm>
            <a:off x="8183877" y="2044700"/>
            <a:ext cx="1268733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Q75 비교 표본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9A671D0-CE47-4D91-8E6F-17E9DD925B46}"/>
              </a:ext>
            </a:extLst>
          </p:cNvPr>
          <p:cNvSpPr>
            <a:spLocks noGrp="1"/>
          </p:cNvSpPr>
          <p:nvPr/>
        </p:nvSpPr>
        <p:spPr>
          <a:xfrm>
            <a:off x="9320527" y="1534160"/>
            <a:ext cx="1268733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부산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2696420-AFF1-4F51-A249-7FC7B1F46292}"/>
              </a:ext>
            </a:extLst>
          </p:cNvPr>
          <p:cNvSpPr>
            <a:spLocks noGrp="1"/>
          </p:cNvSpPr>
          <p:nvPr/>
        </p:nvSpPr>
        <p:spPr>
          <a:xfrm>
            <a:off x="9320527" y="1816100"/>
            <a:ext cx="1268733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4 / 비성장 37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1C590D9-EB3B-4608-91D4-441925BB3B8E}"/>
              </a:ext>
            </a:extLst>
          </p:cNvPr>
          <p:cNvSpPr>
            <a:spLocks noGrp="1"/>
          </p:cNvSpPr>
          <p:nvPr/>
        </p:nvSpPr>
        <p:spPr>
          <a:xfrm>
            <a:off x="9320527" y="2044700"/>
            <a:ext cx="1268733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Q75 비교 표본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71EFF0C-0A81-4673-843C-A9D392BD256F}"/>
              </a:ext>
            </a:extLst>
          </p:cNvPr>
          <p:cNvSpPr>
            <a:spLocks noGrp="1"/>
          </p:cNvSpPr>
          <p:nvPr/>
        </p:nvSpPr>
        <p:spPr>
          <a:xfrm>
            <a:off x="10490200" y="1534160"/>
            <a:ext cx="1265394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059BB3F-E492-4CC4-B32C-87881AFD30A8}"/>
              </a:ext>
            </a:extLst>
          </p:cNvPr>
          <p:cNvSpPr>
            <a:spLocks noGrp="1"/>
          </p:cNvSpPr>
          <p:nvPr/>
        </p:nvSpPr>
        <p:spPr>
          <a:xfrm>
            <a:off x="10490200" y="1816100"/>
            <a:ext cx="1265394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 13 / 비성장 61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C59E900-9890-4471-B1F5-6F0AF18BDF8A}"/>
              </a:ext>
            </a:extLst>
          </p:cNvPr>
          <p:cNvSpPr>
            <a:spLocks noGrp="1"/>
          </p:cNvSpPr>
          <p:nvPr/>
        </p:nvSpPr>
        <p:spPr>
          <a:xfrm>
            <a:off x="10490200" y="2044700"/>
            <a:ext cx="1265394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Q75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표본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A67B586-D78A-4556-9DF0-1173383934B3}"/>
              </a:ext>
            </a:extLst>
          </p:cNvPr>
          <p:cNvSpPr>
            <a:spLocks noGrp="1"/>
          </p:cNvSpPr>
          <p:nvPr/>
        </p:nvSpPr>
        <p:spPr>
          <a:xfrm>
            <a:off x="8153400" y="2377440"/>
            <a:ext cx="3672840" cy="2484120"/>
          </a:xfrm>
          <a:prstGeom prst="roundRect">
            <a:avLst>
              <a:gd name="adj" fmla="val 705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8BCF1C-FC73-400C-99EB-0F76AD4F33CB}"/>
              </a:ext>
            </a:extLst>
          </p:cNvPr>
          <p:cNvSpPr>
            <a:spLocks noGrp="1"/>
          </p:cNvSpPr>
          <p:nvPr/>
        </p:nvSpPr>
        <p:spPr>
          <a:xfrm>
            <a:off x="8397240" y="2545080"/>
            <a:ext cx="318516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성장의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4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달랐나</a:t>
            </a:r>
            <a:r>
              <a:rPr sz="14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EC830F6-087F-4C30-88B1-AFD34BB72D8D}"/>
              </a:ext>
            </a:extLst>
          </p:cNvPr>
          <p:cNvSpPr>
            <a:spLocks noGrp="1"/>
          </p:cNvSpPr>
          <p:nvPr/>
        </p:nvSpPr>
        <p:spPr>
          <a:xfrm>
            <a:off x="8404860" y="2971800"/>
            <a:ext cx="53340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서울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4A4FDA-BC93-4E44-93D8-795736998DD4}"/>
              </a:ext>
            </a:extLst>
          </p:cNvPr>
          <p:cNvSpPr>
            <a:spLocks noGrp="1"/>
          </p:cNvSpPr>
          <p:nvPr/>
        </p:nvSpPr>
        <p:spPr>
          <a:xfrm>
            <a:off x="9014460" y="2971800"/>
            <a:ext cx="2476500" cy="396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 Stress가 더 음(-).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분포 차이 유의, MW p=0.0014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739D94E-F4E4-44C6-963E-0C1EAE166009}"/>
              </a:ext>
            </a:extLst>
          </p:cNvPr>
          <p:cNvSpPr>
            <a:spLocks noGrp="1"/>
          </p:cNvSpPr>
          <p:nvPr/>
        </p:nvSpPr>
        <p:spPr>
          <a:xfrm>
            <a:off x="8404860" y="3489960"/>
            <a:ext cx="53340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부산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929FA36-4A72-4651-B24E-5A3E9C0A8698}"/>
              </a:ext>
            </a:extLst>
          </p:cNvPr>
          <p:cNvSpPr>
            <a:spLocks noGrp="1"/>
          </p:cNvSpPr>
          <p:nvPr/>
        </p:nvSpPr>
        <p:spPr>
          <a:xfrm>
            <a:off x="9014460" y="3489960"/>
            <a:ext cx="2476500" cy="396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 방향이지만 성장군 4건.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일반화에는 제한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3DA95B-BDC4-4DE8-8AD9-2DD967D8F741}"/>
              </a:ext>
            </a:extLst>
          </p:cNvPr>
          <p:cNvSpPr>
            <a:spLocks noGrp="1"/>
          </p:cNvSpPr>
          <p:nvPr/>
        </p:nvSpPr>
        <p:spPr>
          <a:xfrm>
            <a:off x="8404860" y="4008120"/>
            <a:ext cx="533400" cy="1981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65D84DF-D6C4-4939-9837-57B0D0AFABB7}"/>
              </a:ext>
            </a:extLst>
          </p:cNvPr>
          <p:cNvSpPr>
            <a:spLocks noGrp="1"/>
          </p:cNvSpPr>
          <p:nvPr/>
        </p:nvSpPr>
        <p:spPr>
          <a:xfrm>
            <a:off x="9014460" y="4008120"/>
            <a:ext cx="2476500" cy="3962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두 집단 모두 양(+).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 인구구조가 다르면 결과도 달라짐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7193922-3B03-4EC6-8068-9321D675C92E}"/>
              </a:ext>
            </a:extLst>
          </p:cNvPr>
          <p:cNvSpPr>
            <a:spLocks noGrp="1"/>
          </p:cNvSpPr>
          <p:nvPr/>
        </p:nvSpPr>
        <p:spPr>
          <a:xfrm>
            <a:off x="8404860" y="4556760"/>
            <a:ext cx="30861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따라서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“</a:t>
            </a: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= </a:t>
            </a: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위험”으로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9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일반화하지</a:t>
            </a:r>
            <a:r>
              <a:rPr 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않는</a:t>
            </a:r>
            <a:r>
              <a:rPr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0BA35A9-EE61-4CC0-96E9-A7170AE491EB}"/>
              </a:ext>
            </a:extLst>
          </p:cNvPr>
          <p:cNvSpPr>
            <a:spLocks noGrp="1"/>
          </p:cNvSpPr>
          <p:nvPr/>
        </p:nvSpPr>
        <p:spPr>
          <a:xfrm>
            <a:off x="472440" y="4960619"/>
            <a:ext cx="11231880" cy="24955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발견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| 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성장만으로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소비기반의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안전성을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판단할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없다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AA624FA-7570-43CA-A395-78A3F24DA546}"/>
              </a:ext>
            </a:extLst>
          </p:cNvPr>
          <p:cNvSpPr>
            <a:spLocks noGrp="1"/>
          </p:cNvSpPr>
          <p:nvPr/>
        </p:nvSpPr>
        <p:spPr>
          <a:xfrm>
            <a:off x="365760" y="528066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60A2481-FBB2-44C7-B524-8E66735B4400}"/>
              </a:ext>
            </a:extLst>
          </p:cNvPr>
          <p:cNvSpPr>
            <a:spLocks noGrp="1"/>
          </p:cNvSpPr>
          <p:nvPr/>
        </p:nvSpPr>
        <p:spPr>
          <a:xfrm>
            <a:off x="365760" y="53174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SciPy  |  성장군과 비성장군의 Future Stress 비교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E8B7E77-97F3-4F59-A7E1-DAECE0098759}"/>
              </a:ext>
            </a:extLst>
          </p:cNvPr>
          <p:cNvSpPr>
            <a:spLocks noGrp="1"/>
          </p:cNvSpPr>
          <p:nvPr/>
        </p:nvSpPr>
        <p:spPr>
          <a:xfrm>
            <a:off x="365760" y="56070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12DA9F4-CBD5-4114-8061-AEEAC2C56DD5}"/>
              </a:ext>
            </a:extLst>
          </p:cNvPr>
          <p:cNvSpPr>
            <a:spLocks noGrp="1"/>
          </p:cNvSpPr>
          <p:nvPr/>
        </p:nvSpPr>
        <p:spPr>
          <a:xfrm>
            <a:off x="487680" y="57213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stat, p =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mannwhitneyu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growth["2040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순인구효과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"],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nongrowth["2040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순인구효과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"],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alternative="less"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ACAB79F-5145-4199-B391-E52A2B777BE6}"/>
              </a:ext>
            </a:extLst>
          </p:cNvPr>
          <p:cNvSpPr>
            <a:spLocks noGrp="1"/>
          </p:cNvSpPr>
          <p:nvPr/>
        </p:nvSpPr>
        <p:spPr>
          <a:xfrm>
            <a:off x="4800600" y="533654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B22E8B92-ED83-4137-9AF0-20D5AC591D34}"/>
              </a:ext>
            </a:extLst>
          </p:cNvPr>
          <p:cNvSpPr>
            <a:spLocks noGrp="1"/>
          </p:cNvSpPr>
          <p:nvPr/>
        </p:nvSpPr>
        <p:spPr>
          <a:xfrm>
            <a:off x="4968240" y="541274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367D3E0-A64C-4B91-A558-2000762242F7}"/>
              </a:ext>
            </a:extLst>
          </p:cNvPr>
          <p:cNvSpPr>
            <a:spLocks noGrp="1"/>
          </p:cNvSpPr>
          <p:nvPr/>
        </p:nvSpPr>
        <p:spPr>
          <a:xfrm>
            <a:off x="4998720" y="541274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3726101-92E9-4C35-B5B9-F469631A361E}"/>
              </a:ext>
            </a:extLst>
          </p:cNvPr>
          <p:cNvSpPr>
            <a:spLocks noGrp="1"/>
          </p:cNvSpPr>
          <p:nvPr/>
        </p:nvSpPr>
        <p:spPr>
          <a:xfrm>
            <a:off x="5052060" y="551180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BD0432E-BE9D-4F2C-82DD-4316540B7193}"/>
              </a:ext>
            </a:extLst>
          </p:cNvPr>
          <p:cNvSpPr>
            <a:spLocks noGrp="1"/>
          </p:cNvSpPr>
          <p:nvPr/>
        </p:nvSpPr>
        <p:spPr>
          <a:xfrm>
            <a:off x="5052060" y="558038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5D256633-4AD6-4D4A-825C-9C1098C99B11}"/>
              </a:ext>
            </a:extLst>
          </p:cNvPr>
          <p:cNvSpPr>
            <a:spLocks noGrp="1"/>
          </p:cNvSpPr>
          <p:nvPr/>
        </p:nvSpPr>
        <p:spPr>
          <a:xfrm>
            <a:off x="5052060" y="564896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E965C7E-DCF6-4DF9-B6BC-95FC26122056}"/>
              </a:ext>
            </a:extLst>
          </p:cNvPr>
          <p:cNvSpPr>
            <a:spLocks noGrp="1"/>
          </p:cNvSpPr>
          <p:nvPr/>
        </p:nvSpPr>
        <p:spPr>
          <a:xfrm>
            <a:off x="5394960" y="539750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EB6474B-B233-4988-B46B-B4E1CDC91ECB}"/>
              </a:ext>
            </a:extLst>
          </p:cNvPr>
          <p:cNvSpPr>
            <a:spLocks noGrp="1"/>
          </p:cNvSpPr>
          <p:nvPr/>
        </p:nvSpPr>
        <p:spPr>
          <a:xfrm>
            <a:off x="6667500" y="541065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극단값에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민감한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중앙값과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검정을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사용해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비성장군의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차이를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0F98420-66C3-4FFC-B09E-591D707CA231}"/>
              </a:ext>
            </a:extLst>
          </p:cNvPr>
          <p:cNvSpPr>
            <a:spLocks noGrp="1"/>
          </p:cNvSpPr>
          <p:nvPr/>
        </p:nvSpPr>
        <p:spPr>
          <a:xfrm>
            <a:off x="4953000" y="574548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4CB54E2F-B7F2-45CB-972E-470CED2A7EC2}"/>
              </a:ext>
            </a:extLst>
          </p:cNvPr>
          <p:cNvSpPr>
            <a:spLocks noGrp="1"/>
          </p:cNvSpPr>
          <p:nvPr/>
        </p:nvSpPr>
        <p:spPr>
          <a:xfrm>
            <a:off x="4968240" y="582168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09C1144-3751-4968-A9A5-463414E09BAA}"/>
              </a:ext>
            </a:extLst>
          </p:cNvPr>
          <p:cNvSpPr>
            <a:spLocks noGrp="1"/>
          </p:cNvSpPr>
          <p:nvPr/>
        </p:nvSpPr>
        <p:spPr>
          <a:xfrm>
            <a:off x="5394960" y="580644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비교 판단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F7183B5-AE5F-4AD4-8BC2-9F5892866E9D}"/>
              </a:ext>
            </a:extLst>
          </p:cNvPr>
          <p:cNvSpPr>
            <a:spLocks noGrp="1"/>
          </p:cNvSpPr>
          <p:nvPr/>
        </p:nvSpPr>
        <p:spPr>
          <a:xfrm>
            <a:off x="6667500" y="5799862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Q75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낮은지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방향이나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4건,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경기는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모두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DC24FDA-6A2F-4A51-A03E-AE048E4D8353}"/>
              </a:ext>
            </a:extLst>
          </p:cNvPr>
          <p:cNvSpPr>
            <a:spLocks noGrp="1"/>
          </p:cNvSpPr>
          <p:nvPr/>
        </p:nvSpPr>
        <p:spPr>
          <a:xfrm>
            <a:off x="4953000" y="615442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C307B14-A93D-4F4F-BBA2-5407A46AEAD5}"/>
              </a:ext>
            </a:extLst>
          </p:cNvPr>
          <p:cNvSpPr>
            <a:spLocks noGrp="1"/>
          </p:cNvSpPr>
          <p:nvPr/>
        </p:nvSpPr>
        <p:spPr>
          <a:xfrm>
            <a:off x="5394960" y="621538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6DF7DC68-2FCD-4201-A1D7-BEF56813E722}"/>
              </a:ext>
            </a:extLst>
          </p:cNvPr>
          <p:cNvSpPr>
            <a:spLocks noGrp="1"/>
          </p:cNvSpPr>
          <p:nvPr/>
        </p:nvSpPr>
        <p:spPr>
          <a:xfrm>
            <a:off x="6667500" y="6202224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동일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성장조건으로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집단을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나눈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뒤 Stress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중앙값과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Mann–Whitney U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단측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검정을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표본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표시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68" name="그래픽 67">
            <a:extLst>
              <a:ext uri="{FF2B5EF4-FFF2-40B4-BE49-F238E27FC236}">
                <a16:creationId xmlns:a16="http://schemas.microsoft.com/office/drawing/2014/main" id="{C9063A63-7F1D-1E84-F0E6-0D5ADE560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42355"/>
            <a:ext cx="421005" cy="421005"/>
          </a:xfrm>
          <a:prstGeom prst="rect">
            <a:avLst/>
          </a:prstGeom>
        </p:spPr>
      </p:pic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6C300D60-2141-E114-E756-F49C0827F72D}"/>
              </a:ext>
            </a:extLst>
          </p:cNvPr>
          <p:cNvSpPr>
            <a:spLocks noGrp="1"/>
          </p:cNvSpPr>
          <p:nvPr/>
        </p:nvSpPr>
        <p:spPr>
          <a:xfrm>
            <a:off x="4960620" y="601980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3CE9B016-A20A-E7E5-E50D-623388A8B046}"/>
              </a:ext>
            </a:extLst>
          </p:cNvPr>
          <p:cNvSpPr>
            <a:spLocks noGrp="1"/>
          </p:cNvSpPr>
          <p:nvPr/>
        </p:nvSpPr>
        <p:spPr>
          <a:xfrm>
            <a:off x="5074920" y="594360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E7106659-D599-61E7-A211-BEF8DF17DBD9}"/>
              </a:ext>
            </a:extLst>
          </p:cNvPr>
          <p:cNvSpPr>
            <a:spLocks noGrp="1"/>
          </p:cNvSpPr>
          <p:nvPr/>
        </p:nvSpPr>
        <p:spPr>
          <a:xfrm>
            <a:off x="5189220" y="584454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B58C4A89-25E7-969D-09E2-FA3592B624D1}"/>
              </a:ext>
            </a:extLst>
          </p:cNvPr>
          <p:cNvSpPr>
            <a:spLocks noGrp="1"/>
          </p:cNvSpPr>
          <p:nvPr/>
        </p:nvSpPr>
        <p:spPr>
          <a:xfrm>
            <a:off x="457200" y="1432561"/>
            <a:ext cx="7437120" cy="342392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5DBEA"/>
            </a:solidFill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960E4819-CBE3-34EE-E812-F6F32A2A669A}"/>
              </a:ext>
            </a:extLst>
          </p:cNvPr>
          <p:cNvSpPr>
            <a:spLocks noGrp="1"/>
          </p:cNvSpPr>
          <p:nvPr/>
        </p:nvSpPr>
        <p:spPr>
          <a:xfrm>
            <a:off x="638175" y="1605985"/>
            <a:ext cx="6842636" cy="28686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1F2C5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 dirty="0">
                <a:solidFill>
                  <a:srgbClr val="1F2C57"/>
                </a:solidFill>
                <a:latin typeface="+mn-ea"/>
                <a:cs typeface="Malgun Gothic"/>
              </a:rPr>
              <a:t>2040 Stress </a:t>
            </a:r>
            <a:r>
              <a:rPr sz="1500" b="1" dirty="0" err="1">
                <a:solidFill>
                  <a:srgbClr val="1F2C57"/>
                </a:solidFill>
                <a:latin typeface="+mn-ea"/>
                <a:cs typeface="Malgun Gothic"/>
              </a:rPr>
              <a:t>중앙값</a:t>
            </a:r>
            <a:endParaRPr sz="1500" b="1" dirty="0">
              <a:solidFill>
                <a:srgbClr val="1F2C57"/>
              </a:solidFill>
              <a:latin typeface="+mn-ea"/>
              <a:cs typeface="Malgun Gothic"/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a16:creationId xmlns:a16="http://schemas.microsoft.com/office/drawing/2014/main" id="{440B8E34-8C42-BFAD-89F4-DEA59B6702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5518320"/>
              </p:ext>
            </p:extLst>
          </p:nvPr>
        </p:nvGraphicFramePr>
        <p:xfrm>
          <a:off x="619125" y="1924231"/>
          <a:ext cx="6976091" cy="28224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1142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직사각형 87">
            <a:extLst>
              <a:ext uri="{FF2B5EF4-FFF2-40B4-BE49-F238E27FC236}">
                <a16:creationId xmlns:a16="http://schemas.microsoft.com/office/drawing/2014/main" id="{172C3165-BF61-E381-F4C0-230033351323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D17024-44FF-4F80-9FCA-A160B7EDB333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B84677-8809-457C-BBC9-A64FF91BEA25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CC3A29A-ABCB-4F5E-979C-7B8C103C7E1E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1FA483-113A-4E25-B31F-947FFBA3E81F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F7CB2B-18C5-4750-9AFE-63DCADCAC0E3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4-TYPE DIAGNOSIS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E341FF-E645-4B08-97E3-9AA1D1FE90D9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성장성과 미래 소비기반을 함께 보면 4가지 처방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7C3C3B-D4AA-42CB-9C13-23446BD79825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전략을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모든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적용하지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않도록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성장성과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Stress를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0CF2F4-B3B8-4706-939E-2A48299210DF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F69585-5116-4286-BDEE-4394D5566B63}"/>
              </a:ext>
            </a:extLst>
          </p:cNvPr>
          <p:cNvSpPr>
            <a:spLocks noGrp="1"/>
          </p:cNvSpPr>
          <p:nvPr/>
        </p:nvSpPr>
        <p:spPr>
          <a:xfrm>
            <a:off x="824167" y="151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성</a:t>
            </a:r>
            <a:r>
              <a:rPr lang="ko-KR" alt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E45642-9B63-4B13-8576-099C2E6E4D06}"/>
              </a:ext>
            </a:extLst>
          </p:cNvPr>
          <p:cNvSpPr>
            <a:spLocks noGrp="1"/>
          </p:cNvSpPr>
          <p:nvPr/>
        </p:nvSpPr>
        <p:spPr>
          <a:xfrm>
            <a:off x="824167" y="179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추세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방향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+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지속성</a:t>
            </a:r>
            <a:endParaRPr sz="1020" b="0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89BCA-55B1-4531-981D-A7321BF63BF5}"/>
              </a:ext>
            </a:extLst>
          </p:cNvPr>
          <p:cNvSpPr>
            <a:spLocks noGrp="1"/>
          </p:cNvSpPr>
          <p:nvPr/>
        </p:nvSpPr>
        <p:spPr>
          <a:xfrm>
            <a:off x="824167" y="202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3개 조건 동시 충족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71C3687-CFE7-4D28-B125-65FBDFFCCB8B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372164-FC39-44C7-9249-8728624343D8}"/>
              </a:ext>
            </a:extLst>
          </p:cNvPr>
          <p:cNvSpPr>
            <a:spLocks noGrp="1"/>
          </p:cNvSpPr>
          <p:nvPr/>
        </p:nvSpPr>
        <p:spPr>
          <a:xfrm>
            <a:off x="4710367" y="151210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 소비기반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BB5D095-C176-4697-B420-EC917CBDA82B}"/>
              </a:ext>
            </a:extLst>
          </p:cNvPr>
          <p:cNvSpPr>
            <a:spLocks noGrp="1"/>
          </p:cNvSpPr>
          <p:nvPr/>
        </p:nvSpPr>
        <p:spPr>
          <a:xfrm>
            <a:off x="4710367" y="179404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2040 Future Stress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74FB2BE-4878-4A47-BD35-FCC9D1034572}"/>
              </a:ext>
            </a:extLst>
          </p:cNvPr>
          <p:cNvSpPr>
            <a:spLocks noGrp="1"/>
          </p:cNvSpPr>
          <p:nvPr/>
        </p:nvSpPr>
        <p:spPr>
          <a:xfrm>
            <a:off x="4710367" y="202264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인구 변화 반영 후 취약</a:t>
            </a:r>
            <a:r>
              <a:rPr lang="en-US" altLang="ko-KR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안정 판정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EB11A47-D182-44BB-9CFD-BF3266D65E2E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62E4187-1867-42BF-B0B9-8DFF02EBFF1B}"/>
              </a:ext>
            </a:extLst>
          </p:cNvPr>
          <p:cNvSpPr>
            <a:spLocks noGrp="1"/>
          </p:cNvSpPr>
          <p:nvPr/>
        </p:nvSpPr>
        <p:spPr>
          <a:xfrm>
            <a:off x="8596567" y="1512100"/>
            <a:ext cx="288798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분류 베이스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6443156-6423-464B-9CBF-F8718102D7FC}"/>
              </a:ext>
            </a:extLst>
          </p:cNvPr>
          <p:cNvSpPr>
            <a:spLocks noGrp="1"/>
          </p:cNvSpPr>
          <p:nvPr/>
        </p:nvSpPr>
        <p:spPr>
          <a:xfrm>
            <a:off x="8596567" y="1794040"/>
            <a:ext cx="28879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Q75 176건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2F6F2B9-6CE6-4B8F-AF3B-772380D3820C}"/>
              </a:ext>
            </a:extLst>
          </p:cNvPr>
          <p:cNvSpPr>
            <a:spLocks noGrp="1"/>
          </p:cNvSpPr>
          <p:nvPr/>
        </p:nvSpPr>
        <p:spPr>
          <a:xfrm>
            <a:off x="8596567" y="2022640"/>
            <a:ext cx="288798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동일 규칙 적용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83D4F0-A328-4A14-8248-82841DB454C7}"/>
              </a:ext>
            </a:extLst>
          </p:cNvPr>
          <p:cNvSpPr>
            <a:spLocks noGrp="1"/>
          </p:cNvSpPr>
          <p:nvPr/>
        </p:nvSpPr>
        <p:spPr>
          <a:xfrm>
            <a:off x="365760" y="2377439"/>
            <a:ext cx="7467600" cy="2764155"/>
          </a:xfrm>
          <a:prstGeom prst="roundRect">
            <a:avLst>
              <a:gd name="adj" fmla="val 676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F872AC-00D7-41AF-809E-B458E77E46F1}"/>
              </a:ext>
            </a:extLst>
          </p:cNvPr>
          <p:cNvSpPr>
            <a:spLocks noGrp="1"/>
          </p:cNvSpPr>
          <p:nvPr/>
        </p:nvSpPr>
        <p:spPr>
          <a:xfrm>
            <a:off x="449580" y="2567940"/>
            <a:ext cx="723900" cy="34145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 소비기반 ↑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B64C901-01CA-49F7-9EED-40DC097387D6}"/>
              </a:ext>
            </a:extLst>
          </p:cNvPr>
          <p:cNvSpPr>
            <a:spLocks noGrp="1"/>
          </p:cNvSpPr>
          <p:nvPr/>
        </p:nvSpPr>
        <p:spPr>
          <a:xfrm>
            <a:off x="6202680" y="4732019"/>
            <a:ext cx="1295400" cy="20324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90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성장성 →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0808B2D3-396D-4CD6-8C80-F025F82D4943}"/>
              </a:ext>
            </a:extLst>
          </p:cNvPr>
          <p:cNvSpPr>
            <a:spLocks noGrp="1"/>
          </p:cNvSpPr>
          <p:nvPr/>
        </p:nvSpPr>
        <p:spPr>
          <a:xfrm>
            <a:off x="1295400" y="26441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E9F0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308156D-08A8-4B08-B32E-AF7A02132855}"/>
              </a:ext>
            </a:extLst>
          </p:cNvPr>
          <p:cNvSpPr>
            <a:spLocks noGrp="1"/>
          </p:cNvSpPr>
          <p:nvPr/>
        </p:nvSpPr>
        <p:spPr>
          <a:xfrm>
            <a:off x="1463040" y="27813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회복기회형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693F1A0-BB45-47F2-A6C6-A134A31FE515}"/>
              </a:ext>
            </a:extLst>
          </p:cNvPr>
          <p:cNvSpPr>
            <a:spLocks noGrp="1"/>
          </p:cNvSpPr>
          <p:nvPr/>
        </p:nvSpPr>
        <p:spPr>
          <a:xfrm>
            <a:off x="1463040" y="30632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안정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2A793FE-9B11-4A9D-A1D6-38253D646ACD}"/>
              </a:ext>
            </a:extLst>
          </p:cNvPr>
          <p:cNvSpPr>
            <a:spLocks noGrp="1"/>
          </p:cNvSpPr>
          <p:nvPr/>
        </p:nvSpPr>
        <p:spPr>
          <a:xfrm>
            <a:off x="1463040" y="33223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58건  /  선점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BD6C7DF-58DF-4429-9B24-3072D1C08ADE}"/>
              </a:ext>
            </a:extLst>
          </p:cNvPr>
          <p:cNvSpPr>
            <a:spLocks noGrp="1"/>
          </p:cNvSpPr>
          <p:nvPr/>
        </p:nvSpPr>
        <p:spPr>
          <a:xfrm>
            <a:off x="4305300" y="26441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D7E4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0DFBEF6-FC23-4C76-A078-645FAB37A66F}"/>
              </a:ext>
            </a:extLst>
          </p:cNvPr>
          <p:cNvSpPr>
            <a:spLocks noGrp="1"/>
          </p:cNvSpPr>
          <p:nvPr/>
        </p:nvSpPr>
        <p:spPr>
          <a:xfrm>
            <a:off x="4472940" y="27813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지속성장형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924214A-16DF-4F75-B60E-39A12E7623AD}"/>
              </a:ext>
            </a:extLst>
          </p:cNvPr>
          <p:cNvSpPr>
            <a:spLocks noGrp="1"/>
          </p:cNvSpPr>
          <p:nvPr/>
        </p:nvSpPr>
        <p:spPr>
          <a:xfrm>
            <a:off x="4472940" y="30632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안정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6BBC26F-D3D4-4B0B-B27C-CBF6726D6842}"/>
              </a:ext>
            </a:extLst>
          </p:cNvPr>
          <p:cNvSpPr>
            <a:spLocks noGrp="1"/>
          </p:cNvSpPr>
          <p:nvPr/>
        </p:nvSpPr>
        <p:spPr>
          <a:xfrm>
            <a:off x="4472940" y="33223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9건  / 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lang="en-US"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확장</a:t>
            </a:r>
            <a:endParaRPr sz="96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A4D9A60F-595E-4CA0-A062-A87DC04E9DF3}"/>
              </a:ext>
            </a:extLst>
          </p:cNvPr>
          <p:cNvSpPr>
            <a:spLocks noGrp="1"/>
          </p:cNvSpPr>
          <p:nvPr/>
        </p:nvSpPr>
        <p:spPr>
          <a:xfrm>
            <a:off x="1295400" y="37109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F3F6FC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4197B2D-354A-4640-8A34-CCBEA94447C8}"/>
              </a:ext>
            </a:extLst>
          </p:cNvPr>
          <p:cNvSpPr>
            <a:spLocks noGrp="1"/>
          </p:cNvSpPr>
          <p:nvPr/>
        </p:nvSpPr>
        <p:spPr>
          <a:xfrm>
            <a:off x="1463040" y="38481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구조취약형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F0ADABC-1634-4CC1-AB2C-C1BC5220CBA5}"/>
              </a:ext>
            </a:extLst>
          </p:cNvPr>
          <p:cNvSpPr>
            <a:spLocks noGrp="1"/>
          </p:cNvSpPr>
          <p:nvPr/>
        </p:nvSpPr>
        <p:spPr>
          <a:xfrm>
            <a:off x="1463040" y="41300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취약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2A767C0-0D9D-47B4-8B92-B4AD570A7EE8}"/>
              </a:ext>
            </a:extLst>
          </p:cNvPr>
          <p:cNvSpPr>
            <a:spLocks noGrp="1"/>
          </p:cNvSpPr>
          <p:nvPr/>
        </p:nvSpPr>
        <p:spPr>
          <a:xfrm>
            <a:off x="1463040" y="43891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92건  / 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재편</a:t>
            </a:r>
            <a:r>
              <a:rPr lang="en-US"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경고</a:t>
            </a:r>
            <a:endParaRPr sz="96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F0C171E8-C907-40D7-AA0D-8485B8E2FA17}"/>
              </a:ext>
            </a:extLst>
          </p:cNvPr>
          <p:cNvSpPr>
            <a:spLocks noGrp="1"/>
          </p:cNvSpPr>
          <p:nvPr/>
        </p:nvSpPr>
        <p:spPr>
          <a:xfrm>
            <a:off x="4305300" y="3710940"/>
            <a:ext cx="2743200" cy="1008104"/>
          </a:xfrm>
          <a:prstGeom prst="roundRect">
            <a:avLst>
              <a:gd name="adj" fmla="val 12097"/>
            </a:avLst>
          </a:prstGeom>
          <a:solidFill>
            <a:srgbClr val="9EB8EE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88F5660-A687-4EB3-81EB-B052EF30530C}"/>
              </a:ext>
            </a:extLst>
          </p:cNvPr>
          <p:cNvSpPr>
            <a:spLocks noGrp="1"/>
          </p:cNvSpPr>
          <p:nvPr/>
        </p:nvSpPr>
        <p:spPr>
          <a:xfrm>
            <a:off x="4472940" y="3848100"/>
            <a:ext cx="240792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착시성장형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0B23B8E-3E68-47A2-A1BC-C299926D3A1F}"/>
              </a:ext>
            </a:extLst>
          </p:cNvPr>
          <p:cNvSpPr>
            <a:spLocks noGrp="1"/>
          </p:cNvSpPr>
          <p:nvPr/>
        </p:nvSpPr>
        <p:spPr>
          <a:xfrm>
            <a:off x="4472940" y="4130039"/>
            <a:ext cx="240792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취약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5FD40B5-E496-494E-914C-48B5ECD31DC1}"/>
              </a:ext>
            </a:extLst>
          </p:cNvPr>
          <p:cNvSpPr>
            <a:spLocks noGrp="1"/>
          </p:cNvSpPr>
          <p:nvPr/>
        </p:nvSpPr>
        <p:spPr>
          <a:xfrm>
            <a:off x="4472940" y="4389119"/>
            <a:ext cx="2407920" cy="1869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17건  / 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96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6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다변화</a:t>
            </a:r>
            <a:endParaRPr sz="96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BC445B6-3B3B-425E-B6FC-1F5FA10FDBB1}"/>
              </a:ext>
            </a:extLst>
          </p:cNvPr>
          <p:cNvSpPr>
            <a:spLocks noGrp="1"/>
          </p:cNvSpPr>
          <p:nvPr/>
        </p:nvSpPr>
        <p:spPr>
          <a:xfrm>
            <a:off x="8001000" y="2377440"/>
            <a:ext cx="3825240" cy="2764154"/>
          </a:xfrm>
          <a:prstGeom prst="roundRect">
            <a:avLst>
              <a:gd name="adj" fmla="val 676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CDB62CA-64DD-4C0E-B8C4-E77AEEF061C9}"/>
              </a:ext>
            </a:extLst>
          </p:cNvPr>
          <p:cNvSpPr>
            <a:spLocks noGrp="1"/>
          </p:cNvSpPr>
          <p:nvPr/>
        </p:nvSpPr>
        <p:spPr>
          <a:xfrm>
            <a:off x="8244840" y="2545080"/>
            <a:ext cx="3124200" cy="24389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WHY 4 TYPES?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43C3E30-55C5-4691-9A9C-8F2AB7C2FDF6}"/>
              </a:ext>
            </a:extLst>
          </p:cNvPr>
          <p:cNvSpPr>
            <a:spLocks noGrp="1"/>
          </p:cNvSpPr>
          <p:nvPr/>
        </p:nvSpPr>
        <p:spPr>
          <a:xfrm>
            <a:off x="8244840" y="2819399"/>
            <a:ext cx="3200400" cy="27641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“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성장”도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처방은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달라야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한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다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05E9639-D26C-42C4-84E5-B6E0D086508F}"/>
              </a:ext>
            </a:extLst>
          </p:cNvPr>
          <p:cNvSpPr>
            <a:spLocks noGrp="1"/>
          </p:cNvSpPr>
          <p:nvPr/>
        </p:nvSpPr>
        <p:spPr>
          <a:xfrm>
            <a:off x="8252460" y="327659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착시성장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8B0C4AC-F25E-49CC-B331-F9ACCF0F6256}"/>
              </a:ext>
            </a:extLst>
          </p:cNvPr>
          <p:cNvSpPr>
            <a:spLocks noGrp="1"/>
          </p:cNvSpPr>
          <p:nvPr/>
        </p:nvSpPr>
        <p:spPr>
          <a:xfrm>
            <a:off x="9166860" y="327659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안주하지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다변화</a:t>
            </a:r>
            <a:endParaRPr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AB0F548-2CC1-466E-87B6-E01E8CC689D2}"/>
              </a:ext>
            </a:extLst>
          </p:cNvPr>
          <p:cNvSpPr>
            <a:spLocks noGrp="1"/>
          </p:cNvSpPr>
          <p:nvPr/>
        </p:nvSpPr>
        <p:spPr>
          <a:xfrm>
            <a:off x="8252460" y="362711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지속성장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37C2948-D367-4030-A8F5-C121AE3AC342}"/>
              </a:ext>
            </a:extLst>
          </p:cNvPr>
          <p:cNvSpPr>
            <a:spLocks noGrp="1"/>
          </p:cNvSpPr>
          <p:nvPr/>
        </p:nvSpPr>
        <p:spPr>
          <a:xfrm>
            <a:off x="9166860" y="362711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강점을 유지하며 확장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9152CC0-4E41-4403-8F8C-546E2060BEE0}"/>
              </a:ext>
            </a:extLst>
          </p:cNvPr>
          <p:cNvSpPr>
            <a:spLocks noGrp="1"/>
          </p:cNvSpPr>
          <p:nvPr/>
        </p:nvSpPr>
        <p:spPr>
          <a:xfrm>
            <a:off x="8252460" y="397763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구조취약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CE6B216-B8BB-424E-B7A3-01FB5177F7B1}"/>
              </a:ext>
            </a:extLst>
          </p:cNvPr>
          <p:cNvSpPr>
            <a:spLocks noGrp="1"/>
          </p:cNvSpPr>
          <p:nvPr/>
        </p:nvSpPr>
        <p:spPr>
          <a:xfrm>
            <a:off x="9166860" y="397763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상품전략보다 구조재편 가능성까지 검토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15A688A-D705-4508-8CFF-5A9F0CFE8085}"/>
              </a:ext>
            </a:extLst>
          </p:cNvPr>
          <p:cNvSpPr>
            <a:spLocks noGrp="1"/>
          </p:cNvSpPr>
          <p:nvPr/>
        </p:nvSpPr>
        <p:spPr>
          <a:xfrm>
            <a:off x="8252460" y="4328159"/>
            <a:ext cx="838200" cy="1951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회복기회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7FA8C19-F9FA-41BC-948B-930435838F3A}"/>
              </a:ext>
            </a:extLst>
          </p:cNvPr>
          <p:cNvSpPr>
            <a:spLocks noGrp="1"/>
          </p:cNvSpPr>
          <p:nvPr/>
        </p:nvSpPr>
        <p:spPr>
          <a:xfrm>
            <a:off x="9166860" y="4328159"/>
            <a:ext cx="2286000" cy="2845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 고객기반을 조기에 선점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4AA8E56-3CBC-49CC-B84A-B5CA59B83C3A}"/>
              </a:ext>
            </a:extLst>
          </p:cNvPr>
          <p:cNvSpPr>
            <a:spLocks noGrp="1"/>
          </p:cNvSpPr>
          <p:nvPr/>
        </p:nvSpPr>
        <p:spPr>
          <a:xfrm>
            <a:off x="8252460" y="4686299"/>
            <a:ext cx="3048000" cy="16259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※ 총 176건 = 각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Q75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베이스</a:t>
            </a:r>
            <a:endParaRPr sz="81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C271C7F-3FBA-4B28-B345-280C7D4561DB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B9DC849-9959-4723-8C4F-B1F3AA4DD3EB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Python  |  현재 성장성 × Future Stress 규칙 기반 4유형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6DA4ADD-2CE0-4F3E-A4B3-FA0ECC1C1A03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9393E7E-56E1-4138-B315-871FA5DEF060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if 성장 and Stress &lt; 0: 착시성장형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elif 성장 and Stress &gt;= 0: 지속성장형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elif not 성장 and Stress &lt; 0: 구조취약형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else: 회복기회형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14C2775-D0A2-4AF2-8591-D701BDAEA225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31AE617-4C55-451E-B204-0982D479B836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5BD1CF4-7DAA-4590-ABB3-B18B97CEB905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1DADA30-28B8-47D0-852C-A0CB90811214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AD6894CC-4B68-470B-9B4D-7C2F01BAA41C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F29B695-F0DC-49E5-B1DB-257CF7BEB78C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2DD867C-0F68-4573-8C1A-54289E841D12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E871C5C-23EE-47EF-8F46-504DB67D0C18}"/>
              </a:ext>
            </a:extLst>
          </p:cNvPr>
          <p:cNvSpPr>
            <a:spLocks noGrp="1"/>
          </p:cNvSpPr>
          <p:nvPr/>
        </p:nvSpPr>
        <p:spPr>
          <a:xfrm>
            <a:off x="6667500" y="5403394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여부만으로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기반이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상권을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구분하기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어려워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성장성과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2040 Future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사용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429DEAF-401D-4030-B7DC-A9176E7F0464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47E69087-3A7B-40C7-AF3D-C975E8959328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2FDAE73-A91F-4451-AC69-896671D2576F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유형 판단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9059961-E07A-4B52-B892-C8C5ADFD5EC8}"/>
              </a:ext>
            </a:extLst>
          </p:cNvPr>
          <p:cNvSpPr>
            <a:spLocks noGrp="1"/>
          </p:cNvSpPr>
          <p:nvPr/>
        </p:nvSpPr>
        <p:spPr>
          <a:xfrm>
            <a:off x="6667500" y="583864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Stress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음수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조합으로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착시성장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지속성장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구조취약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회복기회형을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E969C0C-60DC-408E-8A2A-679382842C05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BD6A6FF-1117-48BC-996E-A71A516F104B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6B05B52-A80C-46A3-B423-B44C0CCB87C3}"/>
              </a:ext>
            </a:extLst>
          </p:cNvPr>
          <p:cNvSpPr>
            <a:spLocks noGrp="1"/>
          </p:cNvSpPr>
          <p:nvPr/>
        </p:nvSpPr>
        <p:spPr>
          <a:xfrm>
            <a:off x="6667500" y="6241008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월평균증감률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1월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6월,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상승개월수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조건과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Stress 0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기준을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Q75 176건에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동일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적용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86" name="그래픽 85">
            <a:extLst>
              <a:ext uri="{FF2B5EF4-FFF2-40B4-BE49-F238E27FC236}">
                <a16:creationId xmlns:a16="http://schemas.microsoft.com/office/drawing/2014/main" id="{2C768D47-C44B-C31E-86B5-F3C5E4C53F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E8B38B0B-879E-D0EC-FE34-467F59349E27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5EC37F5E-6461-D1BB-756B-B8B6ED7E952F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8C655052-3781-BE87-44D0-CB5825EBC555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74732D24-55D1-7116-EAE8-FBA233DB5CA4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1293C5E-22F8-81BC-5C53-76198AF79BF5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607A0DE1-8C98-B9C5-2FFA-3012FF67286C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B6ED2A09-6365-368F-2039-F1BD3BEA04AF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FC2C4EF3-A5BB-31AB-DA17-D3E6F5C17B63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EC180A2A-62EF-FB14-136C-4E4DEB3CD127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89244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직사각형 70">
            <a:extLst>
              <a:ext uri="{FF2B5EF4-FFF2-40B4-BE49-F238E27FC236}">
                <a16:creationId xmlns:a16="http://schemas.microsoft.com/office/drawing/2014/main" id="{296D207C-DCC2-2D86-8E42-96982210BD07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C57F588-7F2D-4330-A44F-E42C310243A1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D963B4-B858-4593-ADEC-0895430C68B2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7E1B4429-82F3-4F1A-8218-808D9DD16805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2921A7-7FF3-4FDF-B0B4-7207E66FE1CC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9B2E04-073A-4370-8A06-E5FFC467F130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CUSTOMER REFRAME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002E49-BCC5-4A91-8BDC-6581EED678E7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카드 결제연령만으로 고객을 단정하지 않는다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DCF863-5588-41AC-A1C6-A40E24B7E7A4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부모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가족결제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구매자와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이용자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차이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여행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출퇴근</a:t>
            </a:r>
            <a:r>
              <a:rPr lang="en-US" sz="120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방문결제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가능성을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고려해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신호를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분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683FB1-26C2-4C6C-8ADA-42F7F89EB48B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1B4715-7D8B-4847-8038-B3CD80618455}"/>
              </a:ext>
            </a:extLst>
          </p:cNvPr>
          <p:cNvSpPr>
            <a:spLocks noGrp="1"/>
          </p:cNvSpPr>
          <p:nvPr/>
        </p:nvSpPr>
        <p:spPr>
          <a:xfrm>
            <a:off x="774700" y="150241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현재고객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FD4375-B522-497A-AF7B-0856B7475369}"/>
              </a:ext>
            </a:extLst>
          </p:cNvPr>
          <p:cNvSpPr>
            <a:spLocks noGrp="1"/>
          </p:cNvSpPr>
          <p:nvPr/>
        </p:nvSpPr>
        <p:spPr>
          <a:xfrm>
            <a:off x="774700" y="178435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1FF790B-64EF-4F77-8655-C7E551B8806A}"/>
              </a:ext>
            </a:extLst>
          </p:cNvPr>
          <p:cNvSpPr>
            <a:spLocks noGrp="1"/>
          </p:cNvSpPr>
          <p:nvPr/>
        </p:nvSpPr>
        <p:spPr>
          <a:xfrm>
            <a:off x="774700" y="201295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결제가 강하게 관측되는 연령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B3A88EB-C528-4AC2-9088-6A348D0A9FD3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BFD4C34-0ABF-46E7-A2E9-D351BFD2D1B6}"/>
              </a:ext>
            </a:extLst>
          </p:cNvPr>
          <p:cNvSpPr>
            <a:spLocks noGrp="1"/>
          </p:cNvSpPr>
          <p:nvPr/>
        </p:nvSpPr>
        <p:spPr>
          <a:xfrm>
            <a:off x="4660900" y="1502410"/>
            <a:ext cx="28956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7A37787-1CED-4A52-953D-1CB0B602F723}"/>
              </a:ext>
            </a:extLst>
          </p:cNvPr>
          <p:cNvSpPr>
            <a:spLocks noGrp="1"/>
          </p:cNvSpPr>
          <p:nvPr/>
        </p:nvSpPr>
        <p:spPr>
          <a:xfrm>
            <a:off x="4660900" y="1784350"/>
            <a:ext cx="289560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 Shopping Insight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EAFD30E-B191-4083-84F9-4B7D3D555021}"/>
              </a:ext>
            </a:extLst>
          </p:cNvPr>
          <p:cNvSpPr>
            <a:spLocks noGrp="1"/>
          </p:cNvSpPr>
          <p:nvPr/>
        </p:nvSpPr>
        <p:spPr>
          <a:xfrm>
            <a:off x="4660900" y="2012950"/>
            <a:ext cx="28956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결제순위보다 관심순위가 앞서는 연령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760ED4C-5768-4062-82B7-6EF4F1B3DDC0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DCBC41-0394-4C43-8F41-EE45A205AA64}"/>
              </a:ext>
            </a:extLst>
          </p:cNvPr>
          <p:cNvSpPr>
            <a:spLocks noGrp="1"/>
          </p:cNvSpPr>
          <p:nvPr/>
        </p:nvSpPr>
        <p:spPr>
          <a:xfrm>
            <a:off x="8547100" y="1502410"/>
            <a:ext cx="288798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3C228E-4AB8-402D-8E20-54973E409685}"/>
              </a:ext>
            </a:extLst>
          </p:cNvPr>
          <p:cNvSpPr>
            <a:spLocks noGrp="1"/>
          </p:cNvSpPr>
          <p:nvPr/>
        </p:nvSpPr>
        <p:spPr>
          <a:xfrm>
            <a:off x="8547100" y="1784350"/>
            <a:ext cx="28879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39618D-3A72-4EF5-B2F6-7232C8ACF43B}"/>
              </a:ext>
            </a:extLst>
          </p:cNvPr>
          <p:cNvSpPr>
            <a:spLocks noGrp="1"/>
          </p:cNvSpPr>
          <p:nvPr/>
        </p:nvSpPr>
        <p:spPr>
          <a:xfrm>
            <a:off x="8547100" y="2012950"/>
            <a:ext cx="288798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향후 인구구조상 상대적으로 유리한 연령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7A434E9-80D8-49EF-AF4C-8386E8C00888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5791200" cy="2736214"/>
          </a:xfrm>
          <a:prstGeom prst="roundRect">
            <a:avLst>
              <a:gd name="adj" fmla="val 676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23268EF-E5C7-4148-A5B9-C75989D78B60}"/>
              </a:ext>
            </a:extLst>
          </p:cNvPr>
          <p:cNvSpPr>
            <a:spLocks noGrp="1"/>
          </p:cNvSpPr>
          <p:nvPr/>
        </p:nvSpPr>
        <p:spPr>
          <a:xfrm>
            <a:off x="571500" y="2529839"/>
            <a:ext cx="5334000" cy="27362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성동구 서양음식  |  결제순위 vs 쇼핑 관심순위</a:t>
            </a:r>
          </a:p>
        </p:txBody>
      </p:sp>
      <p:graphicFrame>
        <p:nvGraphicFramePr>
          <p:cNvPr id="97" name="표 96"/>
          <p:cNvGraphicFramePr/>
          <p:nvPr>
            <p:extLst>
              <p:ext uri="{D42A27DB-BD31-4B8C-83A1-F6EECF244321}">
                <p14:modId xmlns:p14="http://schemas.microsoft.com/office/powerpoint/2010/main" val="1055750632"/>
              </p:ext>
            </p:extLst>
          </p:nvPr>
        </p:nvGraphicFramePr>
        <p:xfrm>
          <a:off x="571500" y="2903219"/>
          <a:ext cx="5364480" cy="1690014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연령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결제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관심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1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차이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20대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669"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60대 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0" b="0">
                          <a:solidFill>
                            <a:srgbClr val="092666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+1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523A9406-138D-452B-8152-BAFB21DF432F}"/>
              </a:ext>
            </a:extLst>
          </p:cNvPr>
          <p:cNvSpPr>
            <a:spLocks noGrp="1"/>
          </p:cNvSpPr>
          <p:nvPr/>
        </p:nvSpPr>
        <p:spPr>
          <a:xfrm>
            <a:off x="571500" y="4632960"/>
            <a:ext cx="5364480" cy="21728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40대는 결제 3위지만 관심 1위 → 아직 결제로 충분히 잡히지 않은 관심고객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AAFAC19-5FE7-4439-B658-596B6B56631D}"/>
              </a:ext>
            </a:extLst>
          </p:cNvPr>
          <p:cNvSpPr>
            <a:spLocks noGrp="1"/>
          </p:cNvSpPr>
          <p:nvPr/>
        </p:nvSpPr>
        <p:spPr>
          <a:xfrm>
            <a:off x="6339840" y="2377440"/>
            <a:ext cx="5486400" cy="2736214"/>
          </a:xfrm>
          <a:prstGeom prst="roundRect">
            <a:avLst>
              <a:gd name="adj" fmla="val 6765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6175CDD-B1A2-48EE-9E87-D2A4EE4D26A6}"/>
              </a:ext>
            </a:extLst>
          </p:cNvPr>
          <p:cNvSpPr>
            <a:spLocks noGrp="1"/>
          </p:cNvSpPr>
          <p:nvPr/>
        </p:nvSpPr>
        <p:spPr>
          <a:xfrm>
            <a:off x="6598920" y="2545080"/>
            <a:ext cx="4953000" cy="30581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왜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신호를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분리했나</a:t>
            </a:r>
            <a:r>
              <a:rPr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0558AF7-4994-4306-BA29-64924496A3FE}"/>
              </a:ext>
            </a:extLst>
          </p:cNvPr>
          <p:cNvSpPr>
            <a:spLocks noGrp="1"/>
          </p:cNvSpPr>
          <p:nvPr/>
        </p:nvSpPr>
        <p:spPr>
          <a:xfrm>
            <a:off x="6861810" y="2987039"/>
            <a:ext cx="716280" cy="603577"/>
          </a:xfrm>
          <a:prstGeom prst="roundRect">
            <a:avLst>
              <a:gd name="adj" fmla="val 18667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0D7BC7B-802B-40AE-93FD-71D2F8491487}"/>
              </a:ext>
            </a:extLst>
          </p:cNvPr>
          <p:cNvSpPr>
            <a:spLocks noGrp="1"/>
          </p:cNvSpPr>
          <p:nvPr/>
        </p:nvSpPr>
        <p:spPr>
          <a:xfrm>
            <a:off x="6861810" y="3162299"/>
            <a:ext cx="716280" cy="2414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WHO?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F2549D9-08DD-4F88-A954-95E6CBD40900}"/>
              </a:ext>
            </a:extLst>
          </p:cNvPr>
          <p:cNvSpPr>
            <a:spLocks noGrp="1"/>
          </p:cNvSpPr>
          <p:nvPr/>
        </p:nvSpPr>
        <p:spPr>
          <a:xfrm>
            <a:off x="7829550" y="2987039"/>
            <a:ext cx="1676400" cy="1931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Shopping Insight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905444-DBF3-4919-A07D-09143557CE40}"/>
              </a:ext>
            </a:extLst>
          </p:cNvPr>
          <p:cNvSpPr>
            <a:spLocks noGrp="1"/>
          </p:cNvSpPr>
          <p:nvPr/>
        </p:nvSpPr>
        <p:spPr>
          <a:xfrm>
            <a:off x="7829550" y="3253739"/>
            <a:ext cx="3581400" cy="42652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“누구를 공략할까?”</a:t>
            </a:r>
          </a:p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특정 키워드의 쇼핑 관심 연령 구조를 확인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5CB4B8F-A306-4A4E-95CF-E800995A27AC}"/>
              </a:ext>
            </a:extLst>
          </p:cNvPr>
          <p:cNvSpPr>
            <a:spLocks noGrp="1"/>
          </p:cNvSpPr>
          <p:nvPr/>
        </p:nvSpPr>
        <p:spPr>
          <a:xfrm>
            <a:off x="6861810" y="3771899"/>
            <a:ext cx="716280" cy="603577"/>
          </a:xfrm>
          <a:prstGeom prst="roundRect">
            <a:avLst>
              <a:gd name="adj" fmla="val 18667"/>
            </a:avLst>
          </a:prstGeom>
          <a:solidFill>
            <a:srgbClr val="19377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D95509F-8021-425E-A5B7-6E41C4596456}"/>
              </a:ext>
            </a:extLst>
          </p:cNvPr>
          <p:cNvSpPr>
            <a:spLocks noGrp="1"/>
          </p:cNvSpPr>
          <p:nvPr/>
        </p:nvSpPr>
        <p:spPr>
          <a:xfrm>
            <a:off x="6861810" y="3947159"/>
            <a:ext cx="716280" cy="2414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WHAT?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D44900B-969A-4798-93CD-55C792FE7043}"/>
              </a:ext>
            </a:extLst>
          </p:cNvPr>
          <p:cNvSpPr>
            <a:spLocks noGrp="1"/>
          </p:cNvSpPr>
          <p:nvPr/>
        </p:nvSpPr>
        <p:spPr>
          <a:xfrm>
            <a:off x="7829550" y="3771899"/>
            <a:ext cx="1676400" cy="1931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Search Trend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55578E8-AA8B-46CA-ABE2-886B4E740B4A}"/>
              </a:ext>
            </a:extLst>
          </p:cNvPr>
          <p:cNvSpPr>
            <a:spLocks noGrp="1"/>
          </p:cNvSpPr>
          <p:nvPr/>
        </p:nvSpPr>
        <p:spPr>
          <a:xfrm>
            <a:off x="7829550" y="4038599"/>
            <a:ext cx="3581400" cy="42652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“무엇으로 공략할까?”</a:t>
            </a:r>
          </a:p>
          <a:p>
            <a:pPr algn="l">
              <a:def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각 연령 내부에서 후보 메뉴·상품의 상대순위를 비교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F0F4389-BC7C-4DE8-9BBC-F92B1DE2C90C}"/>
              </a:ext>
            </a:extLst>
          </p:cNvPr>
          <p:cNvSpPr>
            <a:spLocks noGrp="1"/>
          </p:cNvSpPr>
          <p:nvPr/>
        </p:nvSpPr>
        <p:spPr>
          <a:xfrm>
            <a:off x="6614160" y="4625339"/>
            <a:ext cx="4838700" cy="19314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결제와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관심의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차이는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원인을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단정하지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“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신호의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괴리”로만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C49D76F-AC2E-4252-81F6-4EB1FEAD2320}"/>
              </a:ext>
            </a:extLst>
          </p:cNvPr>
          <p:cNvSpPr>
            <a:spLocks noGrp="1"/>
          </p:cNvSpPr>
          <p:nvPr/>
        </p:nvSpPr>
        <p:spPr>
          <a:xfrm>
            <a:off x="365760" y="52743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D35F759-D054-4AFA-9197-F4BAB5353D57}"/>
              </a:ext>
            </a:extLst>
          </p:cNvPr>
          <p:cNvSpPr>
            <a:spLocks noGrp="1"/>
          </p:cNvSpPr>
          <p:nvPr/>
        </p:nvSpPr>
        <p:spPr>
          <a:xfrm>
            <a:off x="365760" y="53428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/ NAVER  |  결제와 관심 신호 분리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DDF83D5-4BDD-42A7-8031-8A3E1C016F39}"/>
              </a:ext>
            </a:extLst>
          </p:cNvPr>
          <p:cNvSpPr>
            <a:spLocks noGrp="1"/>
          </p:cNvSpPr>
          <p:nvPr/>
        </p:nvSpPr>
        <p:spPr>
          <a:xfrm>
            <a:off x="365760" y="56324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50FADCA-B466-4FE4-A41F-962FC5385A12}"/>
              </a:ext>
            </a:extLst>
          </p:cNvPr>
          <p:cNvSpPr>
            <a:spLocks noGrp="1"/>
          </p:cNvSpPr>
          <p:nvPr/>
        </p:nvSpPr>
        <p:spPr>
          <a:xfrm>
            <a:off x="487680" y="57467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age_gap["순위차"] = (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age_gap["결제순위"] - age_gap["관심순위"]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mismatch = age_gap["순위차"].abs().mean()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2C762B0F-432C-4FDD-BB89-4F090979C169}"/>
              </a:ext>
            </a:extLst>
          </p:cNvPr>
          <p:cNvSpPr>
            <a:spLocks noGrp="1"/>
          </p:cNvSpPr>
          <p:nvPr/>
        </p:nvSpPr>
        <p:spPr>
          <a:xfrm>
            <a:off x="4800600" y="53428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86080565-7597-4F25-A858-8EE96D2407BC}"/>
              </a:ext>
            </a:extLst>
          </p:cNvPr>
          <p:cNvSpPr>
            <a:spLocks noGrp="1"/>
          </p:cNvSpPr>
          <p:nvPr/>
        </p:nvSpPr>
        <p:spPr>
          <a:xfrm>
            <a:off x="4968240" y="54190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705858F-7F38-4FF0-B4A7-EE5B4FC6C347}"/>
              </a:ext>
            </a:extLst>
          </p:cNvPr>
          <p:cNvSpPr>
            <a:spLocks noGrp="1"/>
          </p:cNvSpPr>
          <p:nvPr/>
        </p:nvSpPr>
        <p:spPr>
          <a:xfrm>
            <a:off x="4998720" y="54190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7C3D262-F699-4AD2-9B6A-4B68FC8ED25C}"/>
              </a:ext>
            </a:extLst>
          </p:cNvPr>
          <p:cNvSpPr>
            <a:spLocks noGrp="1"/>
          </p:cNvSpPr>
          <p:nvPr/>
        </p:nvSpPr>
        <p:spPr>
          <a:xfrm>
            <a:off x="5052060" y="55181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4896E46-F3EE-4474-94D7-F4EABA7124DB}"/>
              </a:ext>
            </a:extLst>
          </p:cNvPr>
          <p:cNvSpPr>
            <a:spLocks noGrp="1"/>
          </p:cNvSpPr>
          <p:nvPr/>
        </p:nvSpPr>
        <p:spPr>
          <a:xfrm>
            <a:off x="5052060" y="55867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C698E72-41CE-43CD-942A-C0CA515C9BD4}"/>
              </a:ext>
            </a:extLst>
          </p:cNvPr>
          <p:cNvSpPr>
            <a:spLocks noGrp="1"/>
          </p:cNvSpPr>
          <p:nvPr/>
        </p:nvSpPr>
        <p:spPr>
          <a:xfrm>
            <a:off x="5052060" y="56553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66E01CA-FEEC-44ED-A45F-FF0EC39D1509}"/>
              </a:ext>
            </a:extLst>
          </p:cNvPr>
          <p:cNvSpPr>
            <a:spLocks noGrp="1"/>
          </p:cNvSpPr>
          <p:nvPr/>
        </p:nvSpPr>
        <p:spPr>
          <a:xfrm>
            <a:off x="5394960" y="54038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A0102E7-6915-4160-93F5-C4AB5DEB7D59}"/>
              </a:ext>
            </a:extLst>
          </p:cNvPr>
          <p:cNvSpPr>
            <a:spLocks noGrp="1"/>
          </p:cNvSpPr>
          <p:nvPr/>
        </p:nvSpPr>
        <p:spPr>
          <a:xfrm>
            <a:off x="6667500" y="5436740"/>
            <a:ext cx="512064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명의연령과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이용자가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있어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데이터만으로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단정하지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신호를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52DFABD-FAE7-41FF-BD85-0848F42C99FA}"/>
              </a:ext>
            </a:extLst>
          </p:cNvPr>
          <p:cNvSpPr>
            <a:spLocks noGrp="1"/>
          </p:cNvSpPr>
          <p:nvPr/>
        </p:nvSpPr>
        <p:spPr>
          <a:xfrm>
            <a:off x="4953000" y="57518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71443BE-AE2A-41BD-826F-9CB7E683C867}"/>
              </a:ext>
            </a:extLst>
          </p:cNvPr>
          <p:cNvSpPr>
            <a:spLocks noGrp="1"/>
          </p:cNvSpPr>
          <p:nvPr/>
        </p:nvSpPr>
        <p:spPr>
          <a:xfrm>
            <a:off x="4968240" y="58280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523B558-CEA4-4CF4-B445-1953C1869EB3}"/>
              </a:ext>
            </a:extLst>
          </p:cNvPr>
          <p:cNvSpPr>
            <a:spLocks noGrp="1"/>
          </p:cNvSpPr>
          <p:nvPr/>
        </p:nvSpPr>
        <p:spPr>
          <a:xfrm>
            <a:off x="5394960" y="58127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 판단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46210B1-DBED-4116-8BE1-3F4B9FE48BA3}"/>
              </a:ext>
            </a:extLst>
          </p:cNvPr>
          <p:cNvSpPr>
            <a:spLocks noGrp="1"/>
          </p:cNvSpPr>
          <p:nvPr/>
        </p:nvSpPr>
        <p:spPr>
          <a:xfrm>
            <a:off x="6667500" y="5799634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BC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강한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현재고객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관심순위가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앞선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관심고객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장래인구상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유리한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미래고객으로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6FD46E7-0203-48E9-A7E0-A7ECC095BD69}"/>
              </a:ext>
            </a:extLst>
          </p:cNvPr>
          <p:cNvSpPr>
            <a:spLocks noGrp="1"/>
          </p:cNvSpPr>
          <p:nvPr/>
        </p:nvSpPr>
        <p:spPr>
          <a:xfrm>
            <a:off x="4953000" y="61607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DCF90DA2-FA61-4169-953F-0D0C66D69531}"/>
              </a:ext>
            </a:extLst>
          </p:cNvPr>
          <p:cNvSpPr>
            <a:spLocks noGrp="1"/>
          </p:cNvSpPr>
          <p:nvPr/>
        </p:nvSpPr>
        <p:spPr>
          <a:xfrm>
            <a:off x="5394960" y="62217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1B26D47-C599-4F03-9FED-DCF84425319A}"/>
              </a:ext>
            </a:extLst>
          </p:cNvPr>
          <p:cNvSpPr>
            <a:spLocks noGrp="1"/>
          </p:cNvSpPr>
          <p:nvPr/>
        </p:nvSpPr>
        <p:spPr>
          <a:xfrm>
            <a:off x="6667500" y="6208574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결제순위와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Shopping Insight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관심순위를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연령단위로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맞춰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순위차를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계산하고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양수를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잠재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관심신호로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69" name="그래픽 68">
            <a:extLst>
              <a:ext uri="{FF2B5EF4-FFF2-40B4-BE49-F238E27FC236}">
                <a16:creationId xmlns:a16="http://schemas.microsoft.com/office/drawing/2014/main" id="{9E5ED0F2-8E42-0205-079A-9971B31BD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48705"/>
            <a:ext cx="421005" cy="421005"/>
          </a:xfrm>
          <a:prstGeom prst="rect">
            <a:avLst/>
          </a:prstGeom>
        </p:spPr>
      </p:pic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8653717-4797-D535-9841-8EE894E33CE4}"/>
              </a:ext>
            </a:extLst>
          </p:cNvPr>
          <p:cNvSpPr>
            <a:spLocks noGrp="1"/>
          </p:cNvSpPr>
          <p:nvPr/>
        </p:nvSpPr>
        <p:spPr>
          <a:xfrm>
            <a:off x="4960620" y="60261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D23E23C-F0D5-8F22-3408-F5A1874475A0}"/>
              </a:ext>
            </a:extLst>
          </p:cNvPr>
          <p:cNvSpPr>
            <a:spLocks noGrp="1"/>
          </p:cNvSpPr>
          <p:nvPr/>
        </p:nvSpPr>
        <p:spPr>
          <a:xfrm>
            <a:off x="5074920" y="59499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D0F8571-1F09-5F20-3BCB-EF1E0C274A7C}"/>
              </a:ext>
            </a:extLst>
          </p:cNvPr>
          <p:cNvSpPr>
            <a:spLocks noGrp="1"/>
          </p:cNvSpPr>
          <p:nvPr/>
        </p:nvSpPr>
        <p:spPr>
          <a:xfrm>
            <a:off x="5189220" y="58508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628224B5-DEEE-DAD2-0DC2-A4BAF3938D5B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90529FD-949C-5928-87B3-61C52C41805D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BD3AFA36-4C79-6F02-E678-A712F0E49AA1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6DFE3A6-F210-9FEE-0C25-7DBA441ACDF4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FDEC11BA-587C-C0E1-4707-165ED62CED29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680A427-510E-4660-15E8-B54D8D463DBB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3485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직사각형 90">
            <a:extLst>
              <a:ext uri="{FF2B5EF4-FFF2-40B4-BE49-F238E27FC236}">
                <a16:creationId xmlns:a16="http://schemas.microsoft.com/office/drawing/2014/main" id="{FA1689A2-ACB7-4F82-4062-357DA8A8C082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C1C10A-9062-481D-A764-DEE2C3C4A7F9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31B903-0E75-448C-A239-457BF2595818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305B47B7-7B98-4EE7-BE36-C637467F0AF4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1B9776F-714B-4116-A547-5BCE66441DA9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D05D654-3E17-4AC5-A1E2-D921B2DC7D85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CASE STUDY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6C9B6BB-6ACB-4ECB-9241-B8FB91766BC0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성장하고 있어도 착시성장과 지속성장의 처방은 다르다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018876C-2E0F-48CA-A7B2-57FC762172AC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대표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사례는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유형의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작동방식을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설명하기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위한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사례이며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유형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전체의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대표하지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않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489087-E09E-4747-8844-E45AEAC9575F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E10E6EC-ED15-46BF-B004-A4D4796E3484}"/>
              </a:ext>
            </a:extLst>
          </p:cNvPr>
          <p:cNvSpPr>
            <a:spLocks noGrp="1"/>
          </p:cNvSpPr>
          <p:nvPr/>
        </p:nvSpPr>
        <p:spPr>
          <a:xfrm>
            <a:off x="50292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CE74D6-0200-48A5-96AA-4ABBF4062065}"/>
              </a:ext>
            </a:extLst>
          </p:cNvPr>
          <p:cNvSpPr>
            <a:spLocks noGrp="1"/>
          </p:cNvSpPr>
          <p:nvPr/>
        </p:nvSpPr>
        <p:spPr>
          <a:xfrm>
            <a:off x="50292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ED7599-EB8F-403C-BB82-C760089DF851}"/>
              </a:ext>
            </a:extLst>
          </p:cNvPr>
          <p:cNvSpPr>
            <a:spLocks noGrp="1"/>
          </p:cNvSpPr>
          <p:nvPr/>
        </p:nvSpPr>
        <p:spPr>
          <a:xfrm>
            <a:off x="100584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착시성장형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462C9C-C5A8-4FD7-96B8-48CEE9C1449D}"/>
              </a:ext>
            </a:extLst>
          </p:cNvPr>
          <p:cNvSpPr>
            <a:spLocks noGrp="1"/>
          </p:cNvSpPr>
          <p:nvPr/>
        </p:nvSpPr>
        <p:spPr>
          <a:xfrm>
            <a:off x="100584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취약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880664B-131C-46D0-B1EC-0445C805E7A7}"/>
              </a:ext>
            </a:extLst>
          </p:cNvPr>
          <p:cNvSpPr>
            <a:spLocks noGrp="1"/>
          </p:cNvSpPr>
          <p:nvPr/>
        </p:nvSpPr>
        <p:spPr>
          <a:xfrm>
            <a:off x="440436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다변화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F97202A-4363-4166-8A09-AF64E65637A6}"/>
              </a:ext>
            </a:extLst>
          </p:cNvPr>
          <p:cNvSpPr>
            <a:spLocks noGrp="1"/>
          </p:cNvSpPr>
          <p:nvPr/>
        </p:nvSpPr>
        <p:spPr>
          <a:xfrm>
            <a:off x="618744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8AA9E2D-49C5-4024-AF68-63A08140A7FD}"/>
              </a:ext>
            </a:extLst>
          </p:cNvPr>
          <p:cNvSpPr>
            <a:spLocks noGrp="1"/>
          </p:cNvSpPr>
          <p:nvPr/>
        </p:nvSpPr>
        <p:spPr>
          <a:xfrm>
            <a:off x="632460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447821-C700-4306-A207-01478632EEB3}"/>
              </a:ext>
            </a:extLst>
          </p:cNvPr>
          <p:cNvSpPr>
            <a:spLocks noGrp="1"/>
          </p:cNvSpPr>
          <p:nvPr/>
        </p:nvSpPr>
        <p:spPr>
          <a:xfrm>
            <a:off x="632460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9C5BAB6-B7FE-418C-9881-91997EB5F361}"/>
              </a:ext>
            </a:extLst>
          </p:cNvPr>
          <p:cNvSpPr>
            <a:spLocks noGrp="1"/>
          </p:cNvSpPr>
          <p:nvPr/>
        </p:nvSpPr>
        <p:spPr>
          <a:xfrm>
            <a:off x="682752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지속성장형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CCC24C0-4AA5-4FEF-BD27-B6812E1E5FE8}"/>
              </a:ext>
            </a:extLst>
          </p:cNvPr>
          <p:cNvSpPr>
            <a:spLocks noGrp="1"/>
          </p:cNvSpPr>
          <p:nvPr/>
        </p:nvSpPr>
        <p:spPr>
          <a:xfrm>
            <a:off x="682752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성장 / 미래 안정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E1DBFE-FF13-45B8-9935-AB4E1A851CC5}"/>
              </a:ext>
            </a:extLst>
          </p:cNvPr>
          <p:cNvSpPr>
            <a:spLocks noGrp="1"/>
          </p:cNvSpPr>
          <p:nvPr/>
        </p:nvSpPr>
        <p:spPr>
          <a:xfrm>
            <a:off x="1022604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확장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66D3BD5-740A-42ED-A359-11A4926A00C7}"/>
              </a:ext>
            </a:extLst>
          </p:cNvPr>
          <p:cNvSpPr>
            <a:spLocks noGrp="1"/>
          </p:cNvSpPr>
          <p:nvPr/>
        </p:nvSpPr>
        <p:spPr>
          <a:xfrm>
            <a:off x="36576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06CF646-E282-46A9-8E2E-ACAA9E8F9893}"/>
              </a:ext>
            </a:extLst>
          </p:cNvPr>
          <p:cNvSpPr>
            <a:spLocks noGrp="1"/>
          </p:cNvSpPr>
          <p:nvPr/>
        </p:nvSpPr>
        <p:spPr>
          <a:xfrm>
            <a:off x="53340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8CDAE9-38F4-4564-977F-5A9B6DF783A1}"/>
              </a:ext>
            </a:extLst>
          </p:cNvPr>
          <p:cNvSpPr>
            <a:spLocks noGrp="1"/>
          </p:cNvSpPr>
          <p:nvPr/>
        </p:nvSpPr>
        <p:spPr>
          <a:xfrm>
            <a:off x="53340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착시성장형</a:t>
            </a:r>
            <a:endParaRPr sz="78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E2104B-D3E7-4F08-A7DC-933F13CBB2EA}"/>
              </a:ext>
            </a:extLst>
          </p:cNvPr>
          <p:cNvSpPr>
            <a:spLocks noGrp="1"/>
          </p:cNvSpPr>
          <p:nvPr/>
        </p:nvSpPr>
        <p:spPr>
          <a:xfrm>
            <a:off x="53340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성동구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서양음식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0AC5134-65F5-41D2-ACA3-0ABC59F134A8}"/>
              </a:ext>
            </a:extLst>
          </p:cNvPr>
          <p:cNvSpPr>
            <a:spLocks noGrp="1"/>
          </p:cNvSpPr>
          <p:nvPr/>
        </p:nvSpPr>
        <p:spPr>
          <a:xfrm>
            <a:off x="5486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7C68B99-F1B3-4C86-93CB-07531D4021E8}"/>
              </a:ext>
            </a:extLst>
          </p:cNvPr>
          <p:cNvSpPr>
            <a:spLocks noGrp="1"/>
          </p:cNvSpPr>
          <p:nvPr/>
        </p:nvSpPr>
        <p:spPr>
          <a:xfrm>
            <a:off x="5943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E62FE91-1FF6-41A4-B80A-A229AB073BE3}"/>
              </a:ext>
            </a:extLst>
          </p:cNvPr>
          <p:cNvSpPr>
            <a:spLocks noGrp="1"/>
          </p:cNvSpPr>
          <p:nvPr/>
        </p:nvSpPr>
        <p:spPr>
          <a:xfrm>
            <a:off x="5943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30대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6BA8A00-12C8-4122-8660-0006488DD378}"/>
              </a:ext>
            </a:extLst>
          </p:cNvPr>
          <p:cNvSpPr>
            <a:spLocks noGrp="1"/>
          </p:cNvSpPr>
          <p:nvPr/>
        </p:nvSpPr>
        <p:spPr>
          <a:xfrm>
            <a:off x="228600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227D922-2EBC-4160-8C66-06689055C84F}"/>
              </a:ext>
            </a:extLst>
          </p:cNvPr>
          <p:cNvSpPr>
            <a:spLocks noGrp="1"/>
          </p:cNvSpPr>
          <p:nvPr/>
        </p:nvSpPr>
        <p:spPr>
          <a:xfrm>
            <a:off x="233172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53EA9FB-54F1-47B9-8C85-B7A6581414AB}"/>
              </a:ext>
            </a:extLst>
          </p:cNvPr>
          <p:cNvSpPr>
            <a:spLocks noGrp="1"/>
          </p:cNvSpPr>
          <p:nvPr/>
        </p:nvSpPr>
        <p:spPr>
          <a:xfrm>
            <a:off x="233172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40대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AFA4ABB-6551-4C3A-AF79-CD84D4117E02}"/>
              </a:ext>
            </a:extLst>
          </p:cNvPr>
          <p:cNvSpPr>
            <a:spLocks noGrp="1"/>
          </p:cNvSpPr>
          <p:nvPr/>
        </p:nvSpPr>
        <p:spPr>
          <a:xfrm>
            <a:off x="402336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6503B6-AE29-4C60-B311-D8040248745E}"/>
              </a:ext>
            </a:extLst>
          </p:cNvPr>
          <p:cNvSpPr>
            <a:spLocks noGrp="1"/>
          </p:cNvSpPr>
          <p:nvPr/>
        </p:nvSpPr>
        <p:spPr>
          <a:xfrm>
            <a:off x="406908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BDC8A55-353C-433C-ADCD-0FECCE953363}"/>
              </a:ext>
            </a:extLst>
          </p:cNvPr>
          <p:cNvSpPr>
            <a:spLocks noGrp="1"/>
          </p:cNvSpPr>
          <p:nvPr/>
        </p:nvSpPr>
        <p:spPr>
          <a:xfrm>
            <a:off x="406908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 이상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72DDFA8-0668-4AD2-BFA4-D820201B015E}"/>
              </a:ext>
            </a:extLst>
          </p:cNvPr>
          <p:cNvSpPr>
            <a:spLocks noGrp="1"/>
          </p:cNvSpPr>
          <p:nvPr/>
        </p:nvSpPr>
        <p:spPr>
          <a:xfrm>
            <a:off x="55626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7F8F13B5-1AB1-475D-BE19-5226D693F851}"/>
              </a:ext>
            </a:extLst>
          </p:cNvPr>
          <p:cNvSpPr>
            <a:spLocks noGrp="1"/>
          </p:cNvSpPr>
          <p:nvPr/>
        </p:nvSpPr>
        <p:spPr>
          <a:xfrm>
            <a:off x="563880" y="47066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1.4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083253B-F90E-43EE-8793-B9992BF602FC}"/>
              </a:ext>
            </a:extLst>
          </p:cNvPr>
          <p:cNvSpPr>
            <a:spLocks noGrp="1"/>
          </p:cNvSpPr>
          <p:nvPr/>
        </p:nvSpPr>
        <p:spPr>
          <a:xfrm>
            <a:off x="618744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E48D113-A5B7-41EB-8E1C-225F3E4D5777}"/>
              </a:ext>
            </a:extLst>
          </p:cNvPr>
          <p:cNvSpPr>
            <a:spLocks noGrp="1"/>
          </p:cNvSpPr>
          <p:nvPr/>
        </p:nvSpPr>
        <p:spPr>
          <a:xfrm>
            <a:off x="635508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19377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E92FD5-FDA6-4C2F-BD0F-B7B8695C3AA6}"/>
              </a:ext>
            </a:extLst>
          </p:cNvPr>
          <p:cNvSpPr>
            <a:spLocks noGrp="1"/>
          </p:cNvSpPr>
          <p:nvPr/>
        </p:nvSpPr>
        <p:spPr>
          <a:xfrm>
            <a:off x="635508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지속성장형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B6D8259-A01E-4DF8-9F7E-65F97764802A}"/>
              </a:ext>
            </a:extLst>
          </p:cNvPr>
          <p:cNvSpPr>
            <a:spLocks noGrp="1"/>
          </p:cNvSpPr>
          <p:nvPr/>
        </p:nvSpPr>
        <p:spPr>
          <a:xfrm>
            <a:off x="635508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평택시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일반한식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FACF68C-39E5-4677-B21D-21706D7599F8}"/>
              </a:ext>
            </a:extLst>
          </p:cNvPr>
          <p:cNvSpPr>
            <a:spLocks noGrp="1"/>
          </p:cNvSpPr>
          <p:nvPr/>
        </p:nvSpPr>
        <p:spPr>
          <a:xfrm>
            <a:off x="637032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796E248-E8DD-469E-8929-42A2385F4FEB}"/>
              </a:ext>
            </a:extLst>
          </p:cNvPr>
          <p:cNvSpPr>
            <a:spLocks noGrp="1"/>
          </p:cNvSpPr>
          <p:nvPr/>
        </p:nvSpPr>
        <p:spPr>
          <a:xfrm>
            <a:off x="641604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E927C2EC-8077-4A9F-B2EA-EA6118C6EA25}"/>
              </a:ext>
            </a:extLst>
          </p:cNvPr>
          <p:cNvSpPr>
            <a:spLocks noGrp="1"/>
          </p:cNvSpPr>
          <p:nvPr/>
        </p:nvSpPr>
        <p:spPr>
          <a:xfrm>
            <a:off x="641604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50대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7F9F6B3B-A04E-4D75-9781-0147B7E1B2F6}"/>
              </a:ext>
            </a:extLst>
          </p:cNvPr>
          <p:cNvSpPr>
            <a:spLocks noGrp="1"/>
          </p:cNvSpPr>
          <p:nvPr/>
        </p:nvSpPr>
        <p:spPr>
          <a:xfrm>
            <a:off x="810768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7075989-8311-4D2F-BFC6-1AAC40F36104}"/>
              </a:ext>
            </a:extLst>
          </p:cNvPr>
          <p:cNvSpPr>
            <a:spLocks noGrp="1"/>
          </p:cNvSpPr>
          <p:nvPr/>
        </p:nvSpPr>
        <p:spPr>
          <a:xfrm>
            <a:off x="815340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10FF273-4B02-48B2-8423-B29849FE89BA}"/>
              </a:ext>
            </a:extLst>
          </p:cNvPr>
          <p:cNvSpPr>
            <a:spLocks noGrp="1"/>
          </p:cNvSpPr>
          <p:nvPr/>
        </p:nvSpPr>
        <p:spPr>
          <a:xfrm>
            <a:off x="815340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40대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0DEFDA8F-01FA-488D-BA0D-66FF4A1CA0B2}"/>
              </a:ext>
            </a:extLst>
          </p:cNvPr>
          <p:cNvSpPr>
            <a:spLocks noGrp="1"/>
          </p:cNvSpPr>
          <p:nvPr/>
        </p:nvSpPr>
        <p:spPr>
          <a:xfrm>
            <a:off x="98450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2B1E890-F392-4DCB-80CA-BEAADAED485D}"/>
              </a:ext>
            </a:extLst>
          </p:cNvPr>
          <p:cNvSpPr>
            <a:spLocks noGrp="1"/>
          </p:cNvSpPr>
          <p:nvPr/>
        </p:nvSpPr>
        <p:spPr>
          <a:xfrm>
            <a:off x="98907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D259F75-8FEE-4940-A18E-9EE84D0C4E2F}"/>
              </a:ext>
            </a:extLst>
          </p:cNvPr>
          <p:cNvSpPr>
            <a:spLocks noGrp="1"/>
          </p:cNvSpPr>
          <p:nvPr/>
        </p:nvSpPr>
        <p:spPr>
          <a:xfrm>
            <a:off x="98907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 이상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98729BF-C63E-4B52-9C6A-C26296BA68EB}"/>
              </a:ext>
            </a:extLst>
          </p:cNvPr>
          <p:cNvSpPr>
            <a:spLocks noGrp="1"/>
          </p:cNvSpPr>
          <p:nvPr/>
        </p:nvSpPr>
        <p:spPr>
          <a:xfrm>
            <a:off x="637794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B04CEC5-1AFC-41BA-8901-A6AC16E73671}"/>
              </a:ext>
            </a:extLst>
          </p:cNvPr>
          <p:cNvSpPr>
            <a:spLocks noGrp="1"/>
          </p:cNvSpPr>
          <p:nvPr/>
        </p:nvSpPr>
        <p:spPr>
          <a:xfrm>
            <a:off x="6385560" y="47066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1.0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3BA0BBB-FD2B-4BBB-9430-67705257DB77}"/>
              </a:ext>
            </a:extLst>
          </p:cNvPr>
          <p:cNvSpPr>
            <a:spLocks noGrp="1"/>
          </p:cNvSpPr>
          <p:nvPr/>
        </p:nvSpPr>
        <p:spPr>
          <a:xfrm>
            <a:off x="365760" y="4968240"/>
            <a:ext cx="11460480" cy="257810"/>
          </a:xfrm>
          <a:prstGeom prst="roundRect">
            <a:avLst>
              <a:gd name="adj" fmla="val 25926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1B96F33-DCEF-4362-BED3-0569B60C55F4}"/>
              </a:ext>
            </a:extLst>
          </p:cNvPr>
          <p:cNvSpPr>
            <a:spLocks noGrp="1"/>
          </p:cNvSpPr>
          <p:nvPr/>
        </p:nvSpPr>
        <p:spPr>
          <a:xfrm>
            <a:off x="457200" y="4991100"/>
            <a:ext cx="112776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성장이라도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취약하면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안정적이면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확장으로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전략이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달라</a:t>
            </a:r>
            <a:r>
              <a:rPr lang="ko-KR" altLang="en-US"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진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08463E3-2DED-475F-9F94-F46CA80683F2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6682E94-90A2-4A29-8C9F-D23984C55F0A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NAVER Search Trend  |  연령 내 메뉴 상대순위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40F3686E-9537-4DF6-9F2C-1414BFC31F10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7B3AD58-72BB-4C29-AACF-04D12BCE01E1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summary = df.groupby("주제")["검색도"].mean()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rank = summary.rank(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   ascending=False, method="min"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C15CD38-2AB3-4D50-86D0-95CB488A80DD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63A0162E-ECE8-4238-9369-9C082E559A9E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AD0A885-9686-472C-AB15-CAB9603ECC45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09B88EC-C48D-4911-A313-F8E8210B175E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34F80324-45C4-44B4-A82B-BCE31B848D9E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17CCE771-941F-4B0B-92CF-0B2305B50052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60FCFB2-20F9-428A-8E4F-E23577A5E107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B230484-5219-4A46-BCD8-01451C2BE4B4}"/>
              </a:ext>
            </a:extLst>
          </p:cNvPr>
          <p:cNvSpPr>
            <a:spLocks noGrp="1"/>
          </p:cNvSpPr>
          <p:nvPr/>
        </p:nvSpPr>
        <p:spPr>
          <a:xfrm>
            <a:off x="6667500" y="5403296"/>
            <a:ext cx="4968240" cy="2552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같은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성장상권도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기반에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따라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달라지는지를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착시성장형과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지속성장형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사례로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2814D752-7A96-40E6-BC4D-D9F1F431A557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93551482-7EC8-4C8E-B5F4-AB243429E9ED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DA39DDC9-5943-4673-A849-BC3373F835CE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상품 판단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C74AC70-A884-4B7A-82D6-DDE49E70E694}"/>
              </a:ext>
            </a:extLst>
          </p:cNvPr>
          <p:cNvSpPr>
            <a:spLocks noGrp="1"/>
          </p:cNvSpPr>
          <p:nvPr/>
        </p:nvSpPr>
        <p:spPr>
          <a:xfrm>
            <a:off x="6667500" y="5812334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착시성장은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다변화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지속성장은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Search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Trend는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절대값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내부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상대순위를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5C2CC029-6DCE-4771-8C64-189CD8574EFC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F91603D-7941-4614-BD6D-4FAFCEDB7454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7308ACF2-EDFB-4329-A915-986A954BAFC6}"/>
              </a:ext>
            </a:extLst>
          </p:cNvPr>
          <p:cNvSpPr>
            <a:spLocks noGrp="1"/>
          </p:cNvSpPr>
          <p:nvPr/>
        </p:nvSpPr>
        <p:spPr>
          <a:xfrm>
            <a:off x="6667500" y="6208118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검색도를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순위화해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연령에서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높은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후보와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특정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후보를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A1E464AA-B342-9E81-1C3F-630770A82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5E7A91C-48B0-0BCA-1CE3-79899FF17630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9563E880-1894-0739-6CCB-D87062289BCE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AE0FDC5D-84DE-032E-A02D-EAF84E7F5810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FAD52A12-E072-DCD8-494D-214B41E41D23}"/>
              </a:ext>
            </a:extLst>
          </p:cNvPr>
          <p:cNvSpPr>
            <a:spLocks noGrp="1"/>
          </p:cNvSpPr>
          <p:nvPr/>
        </p:nvSpPr>
        <p:spPr>
          <a:xfrm>
            <a:off x="2617470" y="331216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24DB493-A583-3541-13A9-D9D7BCA887E3}"/>
              </a:ext>
            </a:extLst>
          </p:cNvPr>
          <p:cNvSpPr>
            <a:spLocks noGrp="1"/>
          </p:cNvSpPr>
          <p:nvPr/>
        </p:nvSpPr>
        <p:spPr>
          <a:xfrm>
            <a:off x="1033780" y="346837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파스타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피자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샐러드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고연령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930" b="1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8214CECC-AA75-2726-6209-F2213DFC15EC}"/>
              </a:ext>
            </a:extLst>
          </p:cNvPr>
          <p:cNvSpPr>
            <a:spLocks noGrp="1"/>
          </p:cNvSpPr>
          <p:nvPr/>
        </p:nvSpPr>
        <p:spPr>
          <a:xfrm>
            <a:off x="2719070" y="377698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4FB8A667-D056-F0E9-04F6-0B1D11EB9924}"/>
              </a:ext>
            </a:extLst>
          </p:cNvPr>
          <p:cNvSpPr>
            <a:spLocks noGrp="1"/>
          </p:cNvSpPr>
          <p:nvPr/>
        </p:nvSpPr>
        <p:spPr>
          <a:xfrm>
            <a:off x="570230" y="399415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성장 기반을 유지하되 결제보다 관심이 앞선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40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대로 고객층을 확장하고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</a:t>
            </a: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장기적으로 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60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이상까지 연결되는 메뉴 포트폴리오 구성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93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5D90BA0E-A3CE-E617-CEC6-89959C3B32C9}"/>
              </a:ext>
            </a:extLst>
          </p:cNvPr>
          <p:cNvSpPr>
            <a:spLocks noGrp="1"/>
          </p:cNvSpPr>
          <p:nvPr/>
        </p:nvSpPr>
        <p:spPr>
          <a:xfrm>
            <a:off x="8440420" y="331851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0F15899B-233A-C1CD-0E8A-9E2093380823}"/>
              </a:ext>
            </a:extLst>
          </p:cNvPr>
          <p:cNvSpPr>
            <a:spLocks noGrp="1"/>
          </p:cNvSpPr>
          <p:nvPr/>
        </p:nvSpPr>
        <p:spPr>
          <a:xfrm>
            <a:off x="6856730" y="347472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국밥 및 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비밤밥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불고기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고연령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930" b="1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16D74B02-07A0-23A1-EA97-8320AB5DD448}"/>
              </a:ext>
            </a:extLst>
          </p:cNvPr>
          <p:cNvSpPr>
            <a:spLocks noGrp="1"/>
          </p:cNvSpPr>
          <p:nvPr/>
        </p:nvSpPr>
        <p:spPr>
          <a:xfrm>
            <a:off x="8542020" y="378333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9C41C3BD-1CEF-CF88-8C82-69059CFBCAB5}"/>
              </a:ext>
            </a:extLst>
          </p:cNvPr>
          <p:cNvSpPr>
            <a:spLocks noGrp="1"/>
          </p:cNvSpPr>
          <p:nvPr/>
        </p:nvSpPr>
        <p:spPr>
          <a:xfrm>
            <a:off x="6393180" y="400050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50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고객과 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40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관심고객이 모두 강하고 세대 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공통 메뉴도 존재</a:t>
            </a:r>
            <a:endParaRPr lang="en-US" altLang="ko-KR" sz="93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강점을 유지하면서 미래 고객까지 확장하는 전략이 적합</a:t>
            </a:r>
            <a:endParaRPr sz="93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2089361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1C07C280-784F-9922-7D84-37754CB237BA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6E30CE40-D7E4-5FCB-BE94-4B379191AA2C}"/>
              </a:ext>
            </a:extLst>
          </p:cNvPr>
          <p:cNvSpPr>
            <a:spLocks noGrp="1"/>
          </p:cNvSpPr>
          <p:nvPr/>
        </p:nvSpPr>
        <p:spPr>
          <a:xfrm>
            <a:off x="365760" y="4968240"/>
            <a:ext cx="11460480" cy="257810"/>
          </a:xfrm>
          <a:prstGeom prst="roundRect">
            <a:avLst>
              <a:gd name="adj" fmla="val 25926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26E99E9-77B5-A8E6-DCFA-3D51093B3C33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3847B72-BB45-4E07-A5CC-FF3A75AE9F8C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E36B208-6808-4A4F-B9DF-67343F80909A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A92C882-398D-465C-B79A-AF0B421D93C4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27FBDD-B309-46EB-BE7E-0299492DEA43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E70A2D-08AB-40E7-BCE7-AC18CFD9000A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CASE STUDY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3711AC-863B-4EC1-84F8-6DA06F20F065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약세 상권도 미래 기반에 따라 “재편”과 “선점”으로 갈린다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1CA0EC-205C-4F7F-A003-63F3D5FA7059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취약한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곳에는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과도한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낙관을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피하고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안정적인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곳에는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조기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선점을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제안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A7544B-F12D-4800-9665-2C851255AEFB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4898175-5F58-4F5B-B6C1-4CD3E78A76B4}"/>
              </a:ext>
            </a:extLst>
          </p:cNvPr>
          <p:cNvSpPr>
            <a:spLocks noGrp="1"/>
          </p:cNvSpPr>
          <p:nvPr/>
        </p:nvSpPr>
        <p:spPr>
          <a:xfrm>
            <a:off x="50292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7F7D53-8566-47C9-A76B-503DD38C7D44}"/>
              </a:ext>
            </a:extLst>
          </p:cNvPr>
          <p:cNvSpPr>
            <a:spLocks noGrp="1"/>
          </p:cNvSpPr>
          <p:nvPr/>
        </p:nvSpPr>
        <p:spPr>
          <a:xfrm>
            <a:off x="50292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38CCB2B-A2D8-41FA-96C5-46FD1C36307C}"/>
              </a:ext>
            </a:extLst>
          </p:cNvPr>
          <p:cNvSpPr>
            <a:spLocks noGrp="1"/>
          </p:cNvSpPr>
          <p:nvPr/>
        </p:nvSpPr>
        <p:spPr>
          <a:xfrm>
            <a:off x="100584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구조취약형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D98774-D8FB-430B-A94A-C885008DDC49}"/>
              </a:ext>
            </a:extLst>
          </p:cNvPr>
          <p:cNvSpPr>
            <a:spLocks noGrp="1"/>
          </p:cNvSpPr>
          <p:nvPr/>
        </p:nvSpPr>
        <p:spPr>
          <a:xfrm>
            <a:off x="100584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취약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7A69AE4-801E-47A2-A347-D77D488297C7}"/>
              </a:ext>
            </a:extLst>
          </p:cNvPr>
          <p:cNvSpPr>
            <a:spLocks noGrp="1"/>
          </p:cNvSpPr>
          <p:nvPr/>
        </p:nvSpPr>
        <p:spPr>
          <a:xfrm>
            <a:off x="440436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재편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경고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ED92714-A648-436D-97B4-3EDF98B0B6CB}"/>
              </a:ext>
            </a:extLst>
          </p:cNvPr>
          <p:cNvSpPr>
            <a:spLocks noGrp="1"/>
          </p:cNvSpPr>
          <p:nvPr/>
        </p:nvSpPr>
        <p:spPr>
          <a:xfrm>
            <a:off x="6187440" y="1447800"/>
            <a:ext cx="5638800" cy="716280"/>
          </a:xfrm>
          <a:prstGeom prst="roundRect">
            <a:avLst>
              <a:gd name="adj" fmla="val 18085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BEC4E61-6756-477C-BA34-D5F48F12360A}"/>
              </a:ext>
            </a:extLst>
          </p:cNvPr>
          <p:cNvSpPr>
            <a:spLocks noGrp="1"/>
          </p:cNvSpPr>
          <p:nvPr/>
        </p:nvSpPr>
        <p:spPr>
          <a:xfrm>
            <a:off x="6324600" y="160782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D94687-C7E1-4EDD-A478-13F2330496D4}"/>
              </a:ext>
            </a:extLst>
          </p:cNvPr>
          <p:cNvSpPr>
            <a:spLocks noGrp="1"/>
          </p:cNvSpPr>
          <p:nvPr/>
        </p:nvSpPr>
        <p:spPr>
          <a:xfrm>
            <a:off x="6324600" y="168402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225CFC6-3E9C-450B-B059-C14E7DC16CF6}"/>
              </a:ext>
            </a:extLst>
          </p:cNvPr>
          <p:cNvSpPr>
            <a:spLocks noGrp="1"/>
          </p:cNvSpPr>
          <p:nvPr/>
        </p:nvSpPr>
        <p:spPr>
          <a:xfrm>
            <a:off x="6827520" y="1562100"/>
            <a:ext cx="48387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회복기회형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C633BA-640C-44F3-B83E-33C4579EC34A}"/>
              </a:ext>
            </a:extLst>
          </p:cNvPr>
          <p:cNvSpPr>
            <a:spLocks noGrp="1"/>
          </p:cNvSpPr>
          <p:nvPr/>
        </p:nvSpPr>
        <p:spPr>
          <a:xfrm>
            <a:off x="6827520" y="1821180"/>
            <a:ext cx="48387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약세 / 미래 안정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16D1FE2-0DE8-4CF2-A3AC-25727BCA7B69}"/>
              </a:ext>
            </a:extLst>
          </p:cNvPr>
          <p:cNvSpPr>
            <a:spLocks noGrp="1"/>
          </p:cNvSpPr>
          <p:nvPr/>
        </p:nvSpPr>
        <p:spPr>
          <a:xfrm>
            <a:off x="10226040" y="1828800"/>
            <a:ext cx="1409700" cy="1600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조기 선점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79E6FA3-A132-4BFD-91BE-AF4FC99E7A9F}"/>
              </a:ext>
            </a:extLst>
          </p:cNvPr>
          <p:cNvSpPr>
            <a:spLocks noGrp="1"/>
          </p:cNvSpPr>
          <p:nvPr/>
        </p:nvSpPr>
        <p:spPr>
          <a:xfrm>
            <a:off x="36576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BD09F52-1017-4529-9275-B2856381D3CD}"/>
              </a:ext>
            </a:extLst>
          </p:cNvPr>
          <p:cNvSpPr>
            <a:spLocks noGrp="1"/>
          </p:cNvSpPr>
          <p:nvPr/>
        </p:nvSpPr>
        <p:spPr>
          <a:xfrm>
            <a:off x="53340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F0ECE19-4526-4ABE-8104-0296BC970ADF}"/>
              </a:ext>
            </a:extLst>
          </p:cNvPr>
          <p:cNvSpPr>
            <a:spLocks noGrp="1"/>
          </p:cNvSpPr>
          <p:nvPr/>
        </p:nvSpPr>
        <p:spPr>
          <a:xfrm>
            <a:off x="53340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 dirty="0" err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구조취약형</a:t>
            </a:r>
            <a:endParaRPr sz="780" b="1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93BD8AB-DA12-4BD4-B888-E1ADB295DFA0}"/>
              </a:ext>
            </a:extLst>
          </p:cNvPr>
          <p:cNvSpPr>
            <a:spLocks noGrp="1"/>
          </p:cNvSpPr>
          <p:nvPr/>
        </p:nvSpPr>
        <p:spPr>
          <a:xfrm>
            <a:off x="53340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사상구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편의점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754E55D-BC3E-4077-88DA-96F7F85EFB10}"/>
              </a:ext>
            </a:extLst>
          </p:cNvPr>
          <p:cNvSpPr>
            <a:spLocks noGrp="1"/>
          </p:cNvSpPr>
          <p:nvPr/>
        </p:nvSpPr>
        <p:spPr>
          <a:xfrm>
            <a:off x="5486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16061F1-D0FE-4923-A449-06EBDA216E35}"/>
              </a:ext>
            </a:extLst>
          </p:cNvPr>
          <p:cNvSpPr>
            <a:spLocks noGrp="1"/>
          </p:cNvSpPr>
          <p:nvPr/>
        </p:nvSpPr>
        <p:spPr>
          <a:xfrm>
            <a:off x="5943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C01446D-2735-444A-9CF7-BFDF66602D70}"/>
              </a:ext>
            </a:extLst>
          </p:cNvPr>
          <p:cNvSpPr>
            <a:spLocks noGrp="1"/>
          </p:cNvSpPr>
          <p:nvPr/>
        </p:nvSpPr>
        <p:spPr>
          <a:xfrm>
            <a:off x="5943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50대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007DFDD-6234-4BF8-8344-90988E3810D1}"/>
              </a:ext>
            </a:extLst>
          </p:cNvPr>
          <p:cNvSpPr>
            <a:spLocks noGrp="1"/>
          </p:cNvSpPr>
          <p:nvPr/>
        </p:nvSpPr>
        <p:spPr>
          <a:xfrm>
            <a:off x="228600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38697-C994-4FF6-9B8C-AF7477A6C816}"/>
              </a:ext>
            </a:extLst>
          </p:cNvPr>
          <p:cNvSpPr>
            <a:spLocks noGrp="1"/>
          </p:cNvSpPr>
          <p:nvPr/>
        </p:nvSpPr>
        <p:spPr>
          <a:xfrm>
            <a:off x="233172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67511BE-EC4F-43DA-AEFA-77B78DFB1A6B}"/>
              </a:ext>
            </a:extLst>
          </p:cNvPr>
          <p:cNvSpPr>
            <a:spLocks noGrp="1"/>
          </p:cNvSpPr>
          <p:nvPr/>
        </p:nvSpPr>
        <p:spPr>
          <a:xfrm>
            <a:off x="233172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30대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33A965A-404C-473E-9D12-688A34772CD2}"/>
              </a:ext>
            </a:extLst>
          </p:cNvPr>
          <p:cNvSpPr>
            <a:spLocks noGrp="1"/>
          </p:cNvSpPr>
          <p:nvPr/>
        </p:nvSpPr>
        <p:spPr>
          <a:xfrm>
            <a:off x="402336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1B7537-63E1-4413-BA3C-8CB0FDBF270D}"/>
              </a:ext>
            </a:extLst>
          </p:cNvPr>
          <p:cNvSpPr>
            <a:spLocks noGrp="1"/>
          </p:cNvSpPr>
          <p:nvPr/>
        </p:nvSpPr>
        <p:spPr>
          <a:xfrm>
            <a:off x="406908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A50EA40-FA0B-4A21-A5CF-5C74FA5F592E}"/>
              </a:ext>
            </a:extLst>
          </p:cNvPr>
          <p:cNvSpPr>
            <a:spLocks noGrp="1"/>
          </p:cNvSpPr>
          <p:nvPr/>
        </p:nvSpPr>
        <p:spPr>
          <a:xfrm>
            <a:off x="406908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60대+ 상대 방어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813B63B-6153-44B8-9D3A-0EDB581A5881}"/>
              </a:ext>
            </a:extLst>
          </p:cNvPr>
          <p:cNvSpPr>
            <a:spLocks noGrp="1"/>
          </p:cNvSpPr>
          <p:nvPr/>
        </p:nvSpPr>
        <p:spPr>
          <a:xfrm>
            <a:off x="2617470" y="331216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3CB44CE-F43B-4104-8CA5-1450DA87F070}"/>
              </a:ext>
            </a:extLst>
          </p:cNvPr>
          <p:cNvSpPr>
            <a:spLocks noGrp="1"/>
          </p:cNvSpPr>
          <p:nvPr/>
        </p:nvSpPr>
        <p:spPr>
          <a:xfrm>
            <a:off x="1033780" y="346837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아이스크림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</a:t>
            </a:r>
            <a:r>
              <a:rPr 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디저트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젊은층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</a:t>
            </a:r>
            <a:r>
              <a:rPr 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도시락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중·고연령</a:t>
            </a:r>
            <a:r>
              <a:rPr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A37D6D8-EA8B-4E42-8A5B-4C8D2F09D713}"/>
              </a:ext>
            </a:extLst>
          </p:cNvPr>
          <p:cNvSpPr>
            <a:spLocks noGrp="1"/>
          </p:cNvSpPr>
          <p:nvPr/>
        </p:nvSpPr>
        <p:spPr>
          <a:xfrm>
            <a:off x="2719070" y="377698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A5EBE93-4F4A-4710-8572-C4A75EFEA609}"/>
              </a:ext>
            </a:extLst>
          </p:cNvPr>
          <p:cNvSpPr>
            <a:spLocks noGrp="1"/>
          </p:cNvSpPr>
          <p:nvPr/>
        </p:nvSpPr>
        <p:spPr>
          <a:xfrm>
            <a:off x="570230" y="399415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30대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신호가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존재하지만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 재구성만으로 구조 위험 개선은 제한적이다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상품전략만으로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해결된다고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보지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구조재편과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신규진입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주의를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함께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제안</a:t>
            </a:r>
            <a:r>
              <a:rPr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90C36E-4A2F-4D8E-AFA9-D6C639B22E7F}"/>
              </a:ext>
            </a:extLst>
          </p:cNvPr>
          <p:cNvSpPr>
            <a:spLocks noGrp="1"/>
          </p:cNvSpPr>
          <p:nvPr/>
        </p:nvSpPr>
        <p:spPr>
          <a:xfrm>
            <a:off x="55626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11473B0-02B2-4728-9E2B-D20363DD6521}"/>
              </a:ext>
            </a:extLst>
          </p:cNvPr>
          <p:cNvSpPr>
            <a:spLocks noGrp="1"/>
          </p:cNvSpPr>
          <p:nvPr/>
        </p:nvSpPr>
        <p:spPr>
          <a:xfrm>
            <a:off x="563880" y="47193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전환만으로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구조위험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해소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어려움</a:t>
            </a:r>
            <a:endParaRPr sz="81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0A510A18-BE2A-4699-B578-A25BC402AD45}"/>
              </a:ext>
            </a:extLst>
          </p:cNvPr>
          <p:cNvSpPr>
            <a:spLocks noGrp="1"/>
          </p:cNvSpPr>
          <p:nvPr/>
        </p:nvSpPr>
        <p:spPr>
          <a:xfrm>
            <a:off x="6187440" y="2293620"/>
            <a:ext cx="5638800" cy="2613660"/>
          </a:xfrm>
          <a:prstGeom prst="roundRect">
            <a:avLst>
              <a:gd name="adj" fmla="val 6414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21B4CAD-C311-42DB-9A74-47F1F821E267}"/>
              </a:ext>
            </a:extLst>
          </p:cNvPr>
          <p:cNvSpPr>
            <a:spLocks noGrp="1"/>
          </p:cNvSpPr>
          <p:nvPr/>
        </p:nvSpPr>
        <p:spPr>
          <a:xfrm>
            <a:off x="6355080" y="2430780"/>
            <a:ext cx="952500" cy="205740"/>
          </a:xfrm>
          <a:prstGeom prst="roundRect">
            <a:avLst>
              <a:gd name="adj" fmla="val 29630"/>
            </a:avLst>
          </a:prstGeom>
          <a:solidFill>
            <a:srgbClr val="193770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46E549F-7D77-4327-8350-7FD63619E866}"/>
              </a:ext>
            </a:extLst>
          </p:cNvPr>
          <p:cNvSpPr>
            <a:spLocks noGrp="1"/>
          </p:cNvSpPr>
          <p:nvPr/>
        </p:nvSpPr>
        <p:spPr>
          <a:xfrm>
            <a:off x="6355080" y="2442210"/>
            <a:ext cx="952500" cy="1447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회복기회형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D757F06-FA3C-45F9-B4F2-D5B2EDC474B9}"/>
              </a:ext>
            </a:extLst>
          </p:cNvPr>
          <p:cNvSpPr>
            <a:spLocks noGrp="1"/>
          </p:cNvSpPr>
          <p:nvPr/>
        </p:nvSpPr>
        <p:spPr>
          <a:xfrm>
            <a:off x="6355080" y="2407920"/>
            <a:ext cx="527304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시흥시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-&gt;</a:t>
            </a:r>
            <a:r>
              <a:rPr sz="13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대형할인점</a:t>
            </a:r>
            <a:endParaRPr sz="13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B5D4A6A5-6D28-4FDE-BAEE-AB2B67985908}"/>
              </a:ext>
            </a:extLst>
          </p:cNvPr>
          <p:cNvSpPr>
            <a:spLocks noGrp="1"/>
          </p:cNvSpPr>
          <p:nvPr/>
        </p:nvSpPr>
        <p:spPr>
          <a:xfrm>
            <a:off x="637032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CD98E9-BC9D-48F9-A2B0-D9AA7BA1FDFF}"/>
              </a:ext>
            </a:extLst>
          </p:cNvPr>
          <p:cNvSpPr>
            <a:spLocks noGrp="1"/>
          </p:cNvSpPr>
          <p:nvPr/>
        </p:nvSpPr>
        <p:spPr>
          <a:xfrm>
            <a:off x="641604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현재고객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B242A5C-7520-402E-B6D2-FEB96CF01EC3}"/>
              </a:ext>
            </a:extLst>
          </p:cNvPr>
          <p:cNvSpPr>
            <a:spLocks noGrp="1"/>
          </p:cNvSpPr>
          <p:nvPr/>
        </p:nvSpPr>
        <p:spPr>
          <a:xfrm>
            <a:off x="641604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40대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9AABE2E-3350-4B26-B3DB-5312A41B468F}"/>
              </a:ext>
            </a:extLst>
          </p:cNvPr>
          <p:cNvSpPr>
            <a:spLocks noGrp="1"/>
          </p:cNvSpPr>
          <p:nvPr/>
        </p:nvSpPr>
        <p:spPr>
          <a:xfrm>
            <a:off x="810768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FEBE7C8-0025-4D1C-AC26-DB4C7FABD55E}"/>
              </a:ext>
            </a:extLst>
          </p:cNvPr>
          <p:cNvSpPr>
            <a:spLocks noGrp="1"/>
          </p:cNvSpPr>
          <p:nvPr/>
        </p:nvSpPr>
        <p:spPr>
          <a:xfrm>
            <a:off x="815340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FF20950-5489-4153-B0CC-358F9BEAB940}"/>
              </a:ext>
            </a:extLst>
          </p:cNvPr>
          <p:cNvSpPr>
            <a:spLocks noGrp="1"/>
          </p:cNvSpPr>
          <p:nvPr/>
        </p:nvSpPr>
        <p:spPr>
          <a:xfrm>
            <a:off x="815340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30대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F897066D-2233-4942-86A4-8AE269D0D1C0}"/>
              </a:ext>
            </a:extLst>
          </p:cNvPr>
          <p:cNvSpPr>
            <a:spLocks noGrp="1"/>
          </p:cNvSpPr>
          <p:nvPr/>
        </p:nvSpPr>
        <p:spPr>
          <a:xfrm>
            <a:off x="9845040" y="2766060"/>
            <a:ext cx="1686560" cy="487680"/>
          </a:xfrm>
          <a:prstGeom prst="roundRect">
            <a:avLst>
              <a:gd name="adj" fmla="val 15625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5526788-D6C0-437B-AF31-EC3700495C37}"/>
              </a:ext>
            </a:extLst>
          </p:cNvPr>
          <p:cNvSpPr>
            <a:spLocks noGrp="1"/>
          </p:cNvSpPr>
          <p:nvPr/>
        </p:nvSpPr>
        <p:spPr>
          <a:xfrm>
            <a:off x="9890760" y="2819400"/>
            <a:ext cx="165608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미래고객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F90CD55-2342-4691-96A5-868BBE778687}"/>
              </a:ext>
            </a:extLst>
          </p:cNvPr>
          <p:cNvSpPr>
            <a:spLocks noGrp="1"/>
          </p:cNvSpPr>
          <p:nvPr/>
        </p:nvSpPr>
        <p:spPr>
          <a:xfrm>
            <a:off x="9890760" y="2987040"/>
            <a:ext cx="165608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60대 이상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10647E1A-04D1-44D6-A769-413DB00DF42B}"/>
              </a:ext>
            </a:extLst>
          </p:cNvPr>
          <p:cNvSpPr>
            <a:spLocks noGrp="1"/>
          </p:cNvSpPr>
          <p:nvPr/>
        </p:nvSpPr>
        <p:spPr>
          <a:xfrm>
            <a:off x="6377940" y="4678680"/>
            <a:ext cx="525780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B2D5096-1596-4F71-936B-BDB1AA1456EE}"/>
              </a:ext>
            </a:extLst>
          </p:cNvPr>
          <p:cNvSpPr>
            <a:spLocks noGrp="1"/>
          </p:cNvSpPr>
          <p:nvPr/>
        </p:nvSpPr>
        <p:spPr>
          <a:xfrm>
            <a:off x="6385560" y="4719320"/>
            <a:ext cx="524256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1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</a:t>
            </a:r>
            <a:r>
              <a:rPr 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관심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평균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1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괴리</a:t>
            </a:r>
            <a:r>
              <a:rPr sz="81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0.8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F4F4FBA-F90F-40E9-AD13-1714A88311DF}"/>
              </a:ext>
            </a:extLst>
          </p:cNvPr>
          <p:cNvSpPr>
            <a:spLocks noGrp="1"/>
          </p:cNvSpPr>
          <p:nvPr/>
        </p:nvSpPr>
        <p:spPr>
          <a:xfrm>
            <a:off x="457200" y="4991100"/>
            <a:ext cx="112776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구조취약형은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추천보다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경고가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중요할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있고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회복기회형은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기반을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근거로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선점할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3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있다</a:t>
            </a:r>
            <a:r>
              <a:rPr sz="93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23C7EF5-A115-4123-AF00-077DEEAED969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54819237-9D82-4634-83A7-1BEFAAA59F2A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  |  고객 재구성 What-if 민감도 시뮬레이션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7DB1921-7368-429C-8E62-4C6F81D76E68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09553B5-0108-4378-A8B9-51FD62DAF4E7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potential = headroom * advantage.clip(lower=0) / 100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best = potential[candidate_mask].max()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after = before + best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3F9BB6E7-30FE-4162-9ED7-1D7ED3250F2C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7080AC93-4B63-4E41-82D1-73D0F089A9A6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2861915-79EF-4613-9CFD-33542B7D0E1D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B8543F9-3CDD-45AA-B94D-97D06C094792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AFD3EDD-BE30-4C56-8A97-52F0E4244681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42F2141E-32B2-47E9-9CAD-BE2DF941D0B8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4BEE274-EBC8-4734-8DE2-F53AA1B7D359}"/>
              </a:ext>
            </a:extLst>
          </p:cNvPr>
          <p:cNvSpPr>
            <a:spLocks noGrp="1"/>
          </p:cNvSpPr>
          <p:nvPr/>
        </p:nvSpPr>
        <p:spPr>
          <a:xfrm>
            <a:off x="6667500" y="542970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약세가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모두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철수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대상은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아니며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기반이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안정적이면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선점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기회가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될 수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있어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두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유형을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BC88CA3-9DDA-45B9-BEC7-6DAEE69DD5B8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F12D2F37-7637-41D6-97DB-C44BB6521D7C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58AD957-F10A-418C-A3D2-C99CB6ADA7F3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전략 판단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6A87E78-058D-448A-8C62-35B39F864A1F}"/>
              </a:ext>
            </a:extLst>
          </p:cNvPr>
          <p:cNvSpPr>
            <a:spLocks noGrp="1"/>
          </p:cNvSpPr>
          <p:nvPr/>
        </p:nvSpPr>
        <p:spPr>
          <a:xfrm>
            <a:off x="6667500" y="5818912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구조취약형은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상품변경의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감소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회복기회형은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관심고객과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미래고객의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조기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가능성을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47CE827B-F54D-4FD3-8CA7-69F385E670AF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8438502-E876-40B6-8805-B9A8DAB11C5B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AD148F1-4C2C-4BF1-A005-3F1F5ADCDADC}"/>
              </a:ext>
            </a:extLst>
          </p:cNvPr>
          <p:cNvSpPr>
            <a:spLocks noGrp="1"/>
          </p:cNvSpPr>
          <p:nvPr/>
        </p:nvSpPr>
        <p:spPr>
          <a:xfrm>
            <a:off x="6667500" y="621469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Q75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여력과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상대우위로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What-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if를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사상구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-24.37→-24.05로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개선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되어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위험완화가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1.3%에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그침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89" name="그래픽 88">
            <a:extLst>
              <a:ext uri="{FF2B5EF4-FFF2-40B4-BE49-F238E27FC236}">
                <a16:creationId xmlns:a16="http://schemas.microsoft.com/office/drawing/2014/main" id="{7A6C814B-57AA-B0CB-8F93-807AC2598F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A2480CF6-8A6E-E1C2-4684-EBD1B1099529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3880257D-F0C2-36D9-8E83-537D1477FA21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0F4D15D4-4FAA-C6C7-494E-BB4BBEF2534D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D8D7C106-9CC9-7B15-F6D5-BDF73BF58A00}"/>
              </a:ext>
            </a:extLst>
          </p:cNvPr>
          <p:cNvSpPr>
            <a:spLocks noGrp="1"/>
          </p:cNvSpPr>
          <p:nvPr/>
        </p:nvSpPr>
        <p:spPr>
          <a:xfrm>
            <a:off x="8440420" y="3318510"/>
            <a:ext cx="10109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추천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메뉴</a:t>
            </a:r>
            <a:r>
              <a:rPr 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상품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4DBC007-02EB-5337-4D43-6A38B608EAE3}"/>
              </a:ext>
            </a:extLst>
          </p:cNvPr>
          <p:cNvSpPr>
            <a:spLocks noGrp="1"/>
          </p:cNvSpPr>
          <p:nvPr/>
        </p:nvSpPr>
        <p:spPr>
          <a:xfrm>
            <a:off x="6856730" y="3474720"/>
            <a:ext cx="4259580" cy="2438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밀키트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세대공통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간편식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중년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 / </a:t>
            </a:r>
            <a:r>
              <a:rPr lang="ko-KR" altLang="en-US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건강식품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(</a:t>
            </a:r>
            <a:r>
              <a:rPr lang="ko-KR" altLang="en-US" sz="930" b="1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고연령</a:t>
            </a:r>
            <a:r>
              <a:rPr lang="en-US" altLang="ko-KR" sz="930" b="1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)</a:t>
            </a:r>
            <a:endParaRPr sz="930" b="1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44D4B9AE-8A2A-0ADD-63AE-994842056F4B}"/>
              </a:ext>
            </a:extLst>
          </p:cNvPr>
          <p:cNvSpPr>
            <a:spLocks noGrp="1"/>
          </p:cNvSpPr>
          <p:nvPr/>
        </p:nvSpPr>
        <p:spPr>
          <a:xfrm>
            <a:off x="8542020" y="3783330"/>
            <a:ext cx="76200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8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8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84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해석</a:t>
            </a:r>
            <a:endParaRPr sz="8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EF78292-D92A-19AE-3E75-9C12FEF746C5}"/>
              </a:ext>
            </a:extLst>
          </p:cNvPr>
          <p:cNvSpPr>
            <a:spLocks noGrp="1"/>
          </p:cNvSpPr>
          <p:nvPr/>
        </p:nvSpPr>
        <p:spPr>
          <a:xfrm>
            <a:off x="6393180" y="4000500"/>
            <a:ext cx="524256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성장 신호는 약하지만 미래 고객 기반은 안정적이다</a:t>
            </a:r>
            <a:r>
              <a:rPr lang="en-US" altLang="ko-KR" sz="93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  <a:p>
            <a:pPr algn="ctr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결제보다 관심이 앞선 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30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대를 먼저 확보하고 장기적으로 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60</a:t>
            </a:r>
            <a:r>
              <a:rPr lang="ko-KR" altLang="en-US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대 이상 고객 기반을 조기에 선점</a:t>
            </a:r>
            <a:r>
              <a:rPr lang="en-US" altLang="ko-KR" sz="93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  <a:endParaRPr sz="93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1074179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78">
            <a:extLst>
              <a:ext uri="{FF2B5EF4-FFF2-40B4-BE49-F238E27FC236}">
                <a16:creationId xmlns:a16="http://schemas.microsoft.com/office/drawing/2014/main" id="{F2E44957-3570-D609-C427-D3A967591722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CCD368-E32D-40EF-9C7F-FFC4FCD1F171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5EA496-9302-4FAD-B881-741BB1225B82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F31F421-D2FF-4125-9BEB-AA3FEAAF53DA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19137E7-412A-49C4-A271-FAA415D758B7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3DA269-B0BE-4C58-82D7-C51FC2DB5E97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ROBUSTNESS CHECK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4F4B55D-6E3B-41A4-864A-A6E28A531F0E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외부유입을 고려해도 진단은 유지되는가?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07C4CB-81D6-4314-8CE7-80DCFC6BE830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각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지역에서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확보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가능한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생활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유동인구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자료로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Future Stress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진단의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개별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40891F-9394-45F3-B9B4-6C0C54FB04CC}"/>
              </a:ext>
            </a:extLst>
          </p:cNvPr>
          <p:cNvSpPr>
            <a:spLocks noGrp="1"/>
          </p:cNvSpPr>
          <p:nvPr/>
        </p:nvSpPr>
        <p:spPr>
          <a:xfrm>
            <a:off x="3657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4E2C990-40A9-4355-8B34-63A9EDB48BEA}"/>
              </a:ext>
            </a:extLst>
          </p:cNvPr>
          <p:cNvSpPr>
            <a:spLocks noGrp="1"/>
          </p:cNvSpPr>
          <p:nvPr/>
        </p:nvSpPr>
        <p:spPr>
          <a:xfrm>
            <a:off x="516813" y="1508760"/>
            <a:ext cx="3407487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서울  95.1%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DF85D6-139E-4777-9540-F3B32235E5B4}"/>
              </a:ext>
            </a:extLst>
          </p:cNvPr>
          <p:cNvSpPr>
            <a:spLocks noGrp="1"/>
          </p:cNvSpPr>
          <p:nvPr/>
        </p:nvSpPr>
        <p:spPr>
          <a:xfrm>
            <a:off x="516813" y="1790700"/>
            <a:ext cx="3407487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Q75 61건  /  ρ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=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0.974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FE80C09-F7EE-420A-A3DF-DE50F1CFC95E}"/>
              </a:ext>
            </a:extLst>
          </p:cNvPr>
          <p:cNvSpPr>
            <a:spLocks noGrp="1"/>
          </p:cNvSpPr>
          <p:nvPr/>
        </p:nvSpPr>
        <p:spPr>
          <a:xfrm>
            <a:off x="516813" y="2019300"/>
            <a:ext cx="3407487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생활인구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연령구조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재가중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566FFBF-9D6F-4112-85C1-462EA488A547}"/>
              </a:ext>
            </a:extLst>
          </p:cNvPr>
          <p:cNvSpPr>
            <a:spLocks noGrp="1"/>
          </p:cNvSpPr>
          <p:nvPr/>
        </p:nvSpPr>
        <p:spPr>
          <a:xfrm>
            <a:off x="4251960" y="1447800"/>
            <a:ext cx="36957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6C26C9-E7D2-4EB9-9D04-8211D32E8BB9}"/>
              </a:ext>
            </a:extLst>
          </p:cNvPr>
          <p:cNvSpPr>
            <a:spLocks noGrp="1"/>
          </p:cNvSpPr>
          <p:nvPr/>
        </p:nvSpPr>
        <p:spPr>
          <a:xfrm>
            <a:off x="4403013" y="1508760"/>
            <a:ext cx="3407487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부산  90.2%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3BD29D-E54D-4EC9-8505-2F9F1493AE41}"/>
              </a:ext>
            </a:extLst>
          </p:cNvPr>
          <p:cNvSpPr>
            <a:spLocks noGrp="1"/>
          </p:cNvSpPr>
          <p:nvPr/>
        </p:nvSpPr>
        <p:spPr>
          <a:xfrm>
            <a:off x="4403013" y="1790700"/>
            <a:ext cx="3407487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Q75 41건  /  ρ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=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0.966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2FF7037-CFEC-4125-A834-8D78BE1031F6}"/>
              </a:ext>
            </a:extLst>
          </p:cNvPr>
          <p:cNvSpPr>
            <a:spLocks noGrp="1"/>
          </p:cNvSpPr>
          <p:nvPr/>
        </p:nvSpPr>
        <p:spPr>
          <a:xfrm>
            <a:off x="4403013" y="2019300"/>
            <a:ext cx="3407487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2025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생활인구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거주노출비율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FC8AAC1-ECFA-4940-9F13-86B778DDC82C}"/>
              </a:ext>
            </a:extLst>
          </p:cNvPr>
          <p:cNvSpPr>
            <a:spLocks noGrp="1"/>
          </p:cNvSpPr>
          <p:nvPr/>
        </p:nvSpPr>
        <p:spPr>
          <a:xfrm>
            <a:off x="8138160" y="1447800"/>
            <a:ext cx="368808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C6E6D1-1A4D-46AF-96D0-4E79981C8924}"/>
              </a:ext>
            </a:extLst>
          </p:cNvPr>
          <p:cNvSpPr>
            <a:spLocks noGrp="1"/>
          </p:cNvSpPr>
          <p:nvPr/>
        </p:nvSpPr>
        <p:spPr>
          <a:xfrm>
            <a:off x="8290560" y="1508760"/>
            <a:ext cx="339852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경기  90.0%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AB06E54-03AB-4FB0-AA40-B84DBEAFBA55}"/>
              </a:ext>
            </a:extLst>
          </p:cNvPr>
          <p:cNvSpPr>
            <a:spLocks noGrp="1"/>
          </p:cNvSpPr>
          <p:nvPr/>
        </p:nvSpPr>
        <p:spPr>
          <a:xfrm>
            <a:off x="8290560" y="1790700"/>
            <a:ext cx="339852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20" b="0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Q75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매칭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50건 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15개 </a:t>
            </a:r>
            <a:r>
              <a:rPr sz="1020" b="0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시군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sz="102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ρ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=</a:t>
            </a:r>
            <a:r>
              <a:rPr lang="en-US"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20" b="0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0.991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EA9F28-A86D-46BA-A2C4-FF601AD0739F}"/>
              </a:ext>
            </a:extLst>
          </p:cNvPr>
          <p:cNvSpPr>
            <a:spLocks noGrp="1"/>
          </p:cNvSpPr>
          <p:nvPr/>
        </p:nvSpPr>
        <p:spPr>
          <a:xfrm>
            <a:off x="8290560" y="2019300"/>
            <a:ext cx="3398520" cy="167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2026.01 ~ 03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유동인구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연령구조</a:t>
            </a:r>
            <a:r>
              <a:rPr sz="9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재가중</a:t>
            </a:r>
            <a:endParaRPr sz="90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0068194-A391-45B3-A161-F4440135EC55}"/>
              </a:ext>
            </a:extLst>
          </p:cNvPr>
          <p:cNvSpPr>
            <a:spLocks noGrp="1"/>
          </p:cNvSpPr>
          <p:nvPr/>
        </p:nvSpPr>
        <p:spPr>
          <a:xfrm>
            <a:off x="365760" y="2377440"/>
            <a:ext cx="5791200" cy="2362200"/>
          </a:xfrm>
          <a:prstGeom prst="roundRect">
            <a:avLst>
              <a:gd name="adj" fmla="val 741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812C7EC-E585-44F2-AAD1-04B42C61B6BF}"/>
              </a:ext>
            </a:extLst>
          </p:cNvPr>
          <p:cNvSpPr>
            <a:spLocks noGrp="1"/>
          </p:cNvSpPr>
          <p:nvPr/>
        </p:nvSpPr>
        <p:spPr>
          <a:xfrm>
            <a:off x="594360" y="2545080"/>
            <a:ext cx="5257800" cy="2743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sz="15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목적과</a:t>
            </a:r>
            <a:r>
              <a:rPr sz="15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156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56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지표</a:t>
            </a:r>
            <a:endParaRPr sz="156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B821992-FE53-4736-A5C8-842C8DA9FCB3}"/>
              </a:ext>
            </a:extLst>
          </p:cNvPr>
          <p:cNvSpPr>
            <a:spLocks noGrp="1"/>
          </p:cNvSpPr>
          <p:nvPr/>
        </p:nvSpPr>
        <p:spPr>
          <a:xfrm>
            <a:off x="594360" y="2971800"/>
            <a:ext cx="5257800" cy="5105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“각 지역의 가용 외부유입 자료를 반영했을 때</a:t>
            </a:r>
          </a:p>
          <a:p>
            <a:pPr algn="ctr">
              <a:def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기존 미래 소비기반 Stress 진단이 얼마나 유지되는가?”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2C119C-DC71-4C55-A2FE-99B5FB1B466C}"/>
              </a:ext>
            </a:extLst>
          </p:cNvPr>
          <p:cNvSpPr>
            <a:spLocks noGrp="1"/>
          </p:cNvSpPr>
          <p:nvPr/>
        </p:nvSpPr>
        <p:spPr>
          <a:xfrm>
            <a:off x="594360" y="3581400"/>
            <a:ext cx="52578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공통</a:t>
            </a:r>
            <a:r>
              <a:rPr sz="960" b="1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60" b="1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지표</a:t>
            </a:r>
            <a:endParaRPr sz="960" b="1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4A3E4D4-4D47-4DAB-A46B-1CEE950B3F21}"/>
              </a:ext>
            </a:extLst>
          </p:cNvPr>
          <p:cNvSpPr>
            <a:spLocks noGrp="1"/>
          </p:cNvSpPr>
          <p:nvPr/>
        </p:nvSpPr>
        <p:spPr>
          <a:xfrm>
            <a:off x="594360" y="3817620"/>
            <a:ext cx="5257800" cy="2209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위험</a:t>
            </a:r>
            <a:r>
              <a:rPr lang="en-US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/</a:t>
            </a:r>
            <a:r>
              <a:rPr lang="en-US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안정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부호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일치율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</a:t>
            </a:r>
            <a:r>
              <a:rPr lang="ko-KR" altLang="en-US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및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 Spearman </a:t>
            </a:r>
            <a:r>
              <a:rPr sz="108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순위상관</a:t>
            </a:r>
            <a:endParaRPr sz="108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A6B34E9-3BB8-4BD1-A93E-5226FB979DC8}"/>
              </a:ext>
            </a:extLst>
          </p:cNvPr>
          <p:cNvSpPr>
            <a:spLocks noGrp="1"/>
          </p:cNvSpPr>
          <p:nvPr/>
        </p:nvSpPr>
        <p:spPr>
          <a:xfrm>
            <a:off x="594360" y="4267200"/>
            <a:ext cx="12192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지역별 개별 해석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7741BD9-A507-4E26-846C-5DD0534AFB1E}"/>
              </a:ext>
            </a:extLst>
          </p:cNvPr>
          <p:cNvSpPr>
            <a:spLocks noGrp="1"/>
          </p:cNvSpPr>
          <p:nvPr/>
        </p:nvSpPr>
        <p:spPr>
          <a:xfrm>
            <a:off x="1920240" y="4251960"/>
            <a:ext cx="3810000" cy="3200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 대부분 유지  /  부산 경계 사례 중심  /  경기 일부 안정 → 위험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B0FD84F-2A65-4300-956D-57013120CDE7}"/>
              </a:ext>
            </a:extLst>
          </p:cNvPr>
          <p:cNvSpPr>
            <a:spLocks noGrp="1"/>
          </p:cNvSpPr>
          <p:nvPr/>
        </p:nvSpPr>
        <p:spPr>
          <a:xfrm>
            <a:off x="6339840" y="2377440"/>
            <a:ext cx="5486400" cy="2362200"/>
          </a:xfrm>
          <a:prstGeom prst="roundRect">
            <a:avLst>
              <a:gd name="adj" fmla="val 7419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DDB34A8-6E69-44F0-AF17-1249FF7F2096}"/>
              </a:ext>
            </a:extLst>
          </p:cNvPr>
          <p:cNvSpPr>
            <a:spLocks noGrp="1"/>
          </p:cNvSpPr>
          <p:nvPr/>
        </p:nvSpPr>
        <p:spPr>
          <a:xfrm>
            <a:off x="6598920" y="2552700"/>
            <a:ext cx="472440" cy="4724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EDD2D47-E4B1-4CF3-B908-CF1850DE8859}"/>
              </a:ext>
            </a:extLst>
          </p:cNvPr>
          <p:cNvSpPr>
            <a:spLocks noGrp="1"/>
          </p:cNvSpPr>
          <p:nvPr/>
        </p:nvSpPr>
        <p:spPr>
          <a:xfrm>
            <a:off x="6736080" y="2651760"/>
            <a:ext cx="198120" cy="19812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32743E6-88F9-4EA4-8981-08ECB102E477}"/>
              </a:ext>
            </a:extLst>
          </p:cNvPr>
          <p:cNvSpPr>
            <a:spLocks noGrp="1"/>
          </p:cNvSpPr>
          <p:nvPr/>
        </p:nvSpPr>
        <p:spPr>
          <a:xfrm>
            <a:off x="6797040" y="2842260"/>
            <a:ext cx="76200" cy="91440"/>
          </a:xfrm>
          <a:prstGeom prst="roundRect">
            <a:avLst>
              <a:gd name="adj" fmla="val 3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149EE42-F125-487F-932C-E97D2BEBDBAF}"/>
              </a:ext>
            </a:extLst>
          </p:cNvPr>
          <p:cNvSpPr>
            <a:spLocks noGrp="1"/>
          </p:cNvSpPr>
          <p:nvPr/>
        </p:nvSpPr>
        <p:spPr>
          <a:xfrm>
            <a:off x="6766560" y="2941320"/>
            <a:ext cx="137160" cy="30480"/>
          </a:xfrm>
          <a:prstGeom prst="roundRect">
            <a:avLst>
              <a:gd name="adj" fmla="val 5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619476C-9CA5-43F3-AF56-973F9FC5103B}"/>
              </a:ext>
            </a:extLst>
          </p:cNvPr>
          <p:cNvSpPr>
            <a:spLocks noGrp="1"/>
          </p:cNvSpPr>
          <p:nvPr/>
        </p:nvSpPr>
        <p:spPr>
          <a:xfrm>
            <a:off x="7239000" y="2628900"/>
            <a:ext cx="4152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검증에서 무엇이 달라졌나</a:t>
            </a:r>
            <a:r>
              <a:rPr lang="en-US" altLang="ko-KR" sz="15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?</a:t>
            </a:r>
            <a:endParaRPr sz="15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979C6C3-D184-4A37-B9FD-7C7BC3D76CA8}"/>
              </a:ext>
            </a:extLst>
          </p:cNvPr>
          <p:cNvSpPr>
            <a:spLocks noGrp="1"/>
          </p:cNvSpPr>
          <p:nvPr/>
        </p:nvSpPr>
        <p:spPr>
          <a:xfrm>
            <a:off x="6629400" y="3185160"/>
            <a:ext cx="53340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서울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1417DAE-D5E1-43F3-85B1-01FF8992FD2C}"/>
              </a:ext>
            </a:extLst>
          </p:cNvPr>
          <p:cNvSpPr>
            <a:spLocks noGrp="1"/>
          </p:cNvSpPr>
          <p:nvPr/>
        </p:nvSpPr>
        <p:spPr>
          <a:xfrm>
            <a:off x="7254240" y="3185160"/>
            <a:ext cx="3962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생활인구 연령구조를 반영해도 위험</a:t>
            </a:r>
            <a:r>
              <a:rPr lang="en-US" altLang="ko-KR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안정 진단과 순위가 대부분 유지됨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01FD2DF-4678-4E81-9AD6-A8DF1ACD1089}"/>
              </a:ext>
            </a:extLst>
          </p:cNvPr>
          <p:cNvSpPr>
            <a:spLocks noGrp="1"/>
          </p:cNvSpPr>
          <p:nvPr/>
        </p:nvSpPr>
        <p:spPr>
          <a:xfrm>
            <a:off x="6629400" y="3604260"/>
            <a:ext cx="53340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부산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26B9F4F-0D37-4B44-A14A-10779F881A42}"/>
              </a:ext>
            </a:extLst>
          </p:cNvPr>
          <p:cNvSpPr>
            <a:spLocks noGrp="1"/>
          </p:cNvSpPr>
          <p:nvPr/>
        </p:nvSpPr>
        <p:spPr>
          <a:xfrm>
            <a:off x="7254240" y="3604260"/>
            <a:ext cx="3962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변경 사례는 기존 </a:t>
            </a:r>
            <a:r>
              <a:rPr lang="en-US" altLang="ko-KR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</a:t>
            </a: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가 </a:t>
            </a:r>
            <a:r>
              <a:rPr lang="en-US" altLang="ko-KR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에 가까웠던 경계 사례에 집중됨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1F975F7-4405-437E-AB6B-E7EB1BDD879C}"/>
              </a:ext>
            </a:extLst>
          </p:cNvPr>
          <p:cNvSpPr>
            <a:spLocks noGrp="1"/>
          </p:cNvSpPr>
          <p:nvPr/>
        </p:nvSpPr>
        <p:spPr>
          <a:xfrm>
            <a:off x="6629400" y="4023360"/>
            <a:ext cx="53340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2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경기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CD4BEC7-8B67-4FE6-9B38-E018B91CEAB2}"/>
              </a:ext>
            </a:extLst>
          </p:cNvPr>
          <p:cNvSpPr>
            <a:spLocks noGrp="1"/>
          </p:cNvSpPr>
          <p:nvPr/>
        </p:nvSpPr>
        <p:spPr>
          <a:xfrm>
            <a:off x="7254240" y="4023360"/>
            <a:ext cx="39624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6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6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전체 위험 순위는 거의 유지됐지만 일부 안정 사례가 위험으로 전환됨</a:t>
            </a:r>
            <a:endParaRPr sz="96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6598D79-DF53-4860-AE1D-7C2B6455B04F}"/>
              </a:ext>
            </a:extLst>
          </p:cNvPr>
          <p:cNvSpPr>
            <a:spLocks noGrp="1"/>
          </p:cNvSpPr>
          <p:nvPr/>
        </p:nvSpPr>
        <p:spPr>
          <a:xfrm>
            <a:off x="6629400" y="4457700"/>
            <a:ext cx="4800600" cy="182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9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외부 유입을 반영해도 기존 진단은 대체로 유지되며</a:t>
            </a:r>
            <a:r>
              <a:rPr lang="en-US" altLang="ko-KR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9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경계 사례는 별도 관리 필요함</a:t>
            </a:r>
            <a:endParaRPr sz="99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DDBFE628-F39C-4696-BDCD-5006A682BEAE}"/>
              </a:ext>
            </a:extLst>
          </p:cNvPr>
          <p:cNvSpPr>
            <a:spLocks noGrp="1"/>
          </p:cNvSpPr>
          <p:nvPr/>
        </p:nvSpPr>
        <p:spPr>
          <a:xfrm>
            <a:off x="365760" y="4838700"/>
            <a:ext cx="11460480" cy="326390"/>
          </a:xfrm>
          <a:prstGeom prst="roundRect">
            <a:avLst>
              <a:gd name="adj" fmla="val 23684"/>
            </a:avLst>
          </a:prstGeom>
          <a:solidFill>
            <a:srgbClr val="DCE7FC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BA091EA-C8D3-4E72-BD05-72555C920946}"/>
              </a:ext>
            </a:extLst>
          </p:cNvPr>
          <p:cNvSpPr>
            <a:spLocks noGrp="1"/>
          </p:cNvSpPr>
          <p:nvPr/>
        </p:nvSpPr>
        <p:spPr>
          <a:xfrm>
            <a:off x="457200" y="4899660"/>
            <a:ext cx="112776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데이터의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기간</a:t>
            </a:r>
            <a:r>
              <a:rPr lang="en-US"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구조</a:t>
            </a:r>
            <a:r>
              <a:rPr lang="en-US"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/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보정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방식이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달라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수치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직접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비교는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하지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않음</a:t>
            </a:r>
            <a:r>
              <a:rPr sz="10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75F3569-C838-4710-A31E-67ADE9DF20AC}"/>
              </a:ext>
            </a:extLst>
          </p:cNvPr>
          <p:cNvSpPr>
            <a:spLocks noGrp="1"/>
          </p:cNvSpPr>
          <p:nvPr/>
        </p:nvSpPr>
        <p:spPr>
          <a:xfrm>
            <a:off x="365760" y="52870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6CBD3D0-22E4-4FF2-835A-6562D5290CCD}"/>
              </a:ext>
            </a:extLst>
          </p:cNvPr>
          <p:cNvSpPr>
            <a:spLocks noGrp="1"/>
          </p:cNvSpPr>
          <p:nvPr/>
        </p:nvSpPr>
        <p:spPr>
          <a:xfrm>
            <a:off x="365760" y="53555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강건성 검증  |  지역별 자료구조에 맞춘 재가중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B151024-A347-4923-B066-86D51951FED2}"/>
              </a:ext>
            </a:extLst>
          </p:cNvPr>
          <p:cNvSpPr>
            <a:spLocks noGrp="1"/>
          </p:cNvSpPr>
          <p:nvPr/>
        </p:nvSpPr>
        <p:spPr>
          <a:xfrm>
            <a:off x="365760" y="56451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8C35E66-272B-4433-A867-E21491DB83CA}"/>
              </a:ext>
            </a:extLst>
          </p:cNvPr>
          <p:cNvSpPr>
            <a:spLocks noGrp="1"/>
          </p:cNvSpPr>
          <p:nvPr/>
        </p:nvSpPr>
        <p:spPr>
          <a:xfrm>
            <a:off x="487680" y="57594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raw = share * correction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adj_share = raw / raw.groupby(keys).transform("sum")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agreement = (sign(base) == sign(adj)).mean()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rho, p = spearmanr(base, adj)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C197C489-F9C9-4325-BA4D-BB740089ADA0}"/>
              </a:ext>
            </a:extLst>
          </p:cNvPr>
          <p:cNvSpPr>
            <a:spLocks noGrp="1"/>
          </p:cNvSpPr>
          <p:nvPr/>
        </p:nvSpPr>
        <p:spPr>
          <a:xfrm>
            <a:off x="4800600" y="53555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F41FD28-1AA3-4584-978E-57C953EC4894}"/>
              </a:ext>
            </a:extLst>
          </p:cNvPr>
          <p:cNvSpPr>
            <a:spLocks noGrp="1"/>
          </p:cNvSpPr>
          <p:nvPr/>
        </p:nvSpPr>
        <p:spPr>
          <a:xfrm>
            <a:off x="4968240" y="54317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2B83DFA-4A5B-4983-A427-EFEF2CD2503C}"/>
              </a:ext>
            </a:extLst>
          </p:cNvPr>
          <p:cNvSpPr>
            <a:spLocks noGrp="1"/>
          </p:cNvSpPr>
          <p:nvPr/>
        </p:nvSpPr>
        <p:spPr>
          <a:xfrm>
            <a:off x="4998720" y="54317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20577D7-705F-426D-BAFF-03B68325F557}"/>
              </a:ext>
            </a:extLst>
          </p:cNvPr>
          <p:cNvSpPr>
            <a:spLocks noGrp="1"/>
          </p:cNvSpPr>
          <p:nvPr/>
        </p:nvSpPr>
        <p:spPr>
          <a:xfrm>
            <a:off x="5052060" y="55308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292EE43-570B-4AD3-BA2F-9F454E1093B2}"/>
              </a:ext>
            </a:extLst>
          </p:cNvPr>
          <p:cNvSpPr>
            <a:spLocks noGrp="1"/>
          </p:cNvSpPr>
          <p:nvPr/>
        </p:nvSpPr>
        <p:spPr>
          <a:xfrm>
            <a:off x="5052060" y="55994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8675176-D850-4F19-A2AD-B3E8F8E6E7A2}"/>
              </a:ext>
            </a:extLst>
          </p:cNvPr>
          <p:cNvSpPr>
            <a:spLocks noGrp="1"/>
          </p:cNvSpPr>
          <p:nvPr/>
        </p:nvSpPr>
        <p:spPr>
          <a:xfrm>
            <a:off x="5052060" y="56680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664F0D0-76B8-45F9-9D55-C37991CFA521}"/>
              </a:ext>
            </a:extLst>
          </p:cNvPr>
          <p:cNvSpPr>
            <a:spLocks noGrp="1"/>
          </p:cNvSpPr>
          <p:nvPr/>
        </p:nvSpPr>
        <p:spPr>
          <a:xfrm>
            <a:off x="5394960" y="54165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1C2A7C8-B60F-4331-A562-0044365DD41E}"/>
              </a:ext>
            </a:extLst>
          </p:cNvPr>
          <p:cNvSpPr>
            <a:spLocks noGrp="1"/>
          </p:cNvSpPr>
          <p:nvPr/>
        </p:nvSpPr>
        <p:spPr>
          <a:xfrm>
            <a:off x="6667500" y="539681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카드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결제지역과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거주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활동지역이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다를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수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있다는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한계를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점검하는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민감도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검증이며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거주지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보정은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아님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160BBF9-5A38-4EB8-A3BB-EBC88FB14814}"/>
              </a:ext>
            </a:extLst>
          </p:cNvPr>
          <p:cNvSpPr>
            <a:spLocks noGrp="1"/>
          </p:cNvSpPr>
          <p:nvPr/>
        </p:nvSpPr>
        <p:spPr>
          <a:xfrm>
            <a:off x="4953000" y="57645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0F890E5-EED4-4DE8-AD26-50EF7766B6CE}"/>
              </a:ext>
            </a:extLst>
          </p:cNvPr>
          <p:cNvSpPr>
            <a:spLocks noGrp="1"/>
          </p:cNvSpPr>
          <p:nvPr/>
        </p:nvSpPr>
        <p:spPr>
          <a:xfrm>
            <a:off x="4968240" y="58407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37560D1-2C11-41A0-B8E9-C2586D9D6D11}"/>
              </a:ext>
            </a:extLst>
          </p:cNvPr>
          <p:cNvSpPr>
            <a:spLocks noGrp="1"/>
          </p:cNvSpPr>
          <p:nvPr/>
        </p:nvSpPr>
        <p:spPr>
          <a:xfrm>
            <a:off x="5394960" y="58254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검증 판단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42B6B1-52DD-46B9-9696-11C1DA8972AE}"/>
              </a:ext>
            </a:extLst>
          </p:cNvPr>
          <p:cNvSpPr>
            <a:spLocks noGrp="1"/>
          </p:cNvSpPr>
          <p:nvPr/>
        </p:nvSpPr>
        <p:spPr>
          <a:xfrm>
            <a:off x="6667500" y="580575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간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수치를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비교하지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각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안에서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전후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</a:t>
            </a:r>
            <a:r>
              <a:rPr 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안정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부호와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Stress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순위의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확인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3DD90F3-B64D-441A-8EFC-64DAB830066C}"/>
              </a:ext>
            </a:extLst>
          </p:cNvPr>
          <p:cNvSpPr>
            <a:spLocks noGrp="1"/>
          </p:cNvSpPr>
          <p:nvPr/>
        </p:nvSpPr>
        <p:spPr>
          <a:xfrm>
            <a:off x="4953000" y="61734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5004BE8-33C1-42E7-BDBC-9A092DACC5C5}"/>
              </a:ext>
            </a:extLst>
          </p:cNvPr>
          <p:cNvSpPr>
            <a:spLocks noGrp="1"/>
          </p:cNvSpPr>
          <p:nvPr/>
        </p:nvSpPr>
        <p:spPr>
          <a:xfrm>
            <a:off x="5394960" y="62344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6768B07-9901-4ECA-A726-E25C914484C1}"/>
              </a:ext>
            </a:extLst>
          </p:cNvPr>
          <p:cNvSpPr>
            <a:spLocks noGrp="1"/>
          </p:cNvSpPr>
          <p:nvPr/>
        </p:nvSpPr>
        <p:spPr>
          <a:xfrm>
            <a:off x="6667500" y="621469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생활인구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연령구조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부산은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거주노출비율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경기는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유동인구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연령구조로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재가중해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일치율과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90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l"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Spearman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ρ를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90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계산</a:t>
            </a:r>
            <a:r>
              <a:rPr sz="90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77" name="그래픽 76">
            <a:extLst>
              <a:ext uri="{FF2B5EF4-FFF2-40B4-BE49-F238E27FC236}">
                <a16:creationId xmlns:a16="http://schemas.microsoft.com/office/drawing/2014/main" id="{5D637D87-2589-57F8-DC10-B0EACF0FDC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61405"/>
            <a:ext cx="421005" cy="421005"/>
          </a:xfrm>
          <a:prstGeom prst="rect">
            <a:avLst/>
          </a:prstGeom>
        </p:spPr>
      </p:pic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D88E937F-014E-A396-93B5-AEE0205C1B12}"/>
              </a:ext>
            </a:extLst>
          </p:cNvPr>
          <p:cNvSpPr>
            <a:spLocks noGrp="1"/>
          </p:cNvSpPr>
          <p:nvPr/>
        </p:nvSpPr>
        <p:spPr>
          <a:xfrm>
            <a:off x="4960620" y="60388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E0B38DF8-70C2-A79C-242B-FF84F75F0B5F}"/>
              </a:ext>
            </a:extLst>
          </p:cNvPr>
          <p:cNvSpPr>
            <a:spLocks noGrp="1"/>
          </p:cNvSpPr>
          <p:nvPr/>
        </p:nvSpPr>
        <p:spPr>
          <a:xfrm>
            <a:off x="5074920" y="59626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27C4490-615E-94B0-4B66-E7769EFD9468}"/>
              </a:ext>
            </a:extLst>
          </p:cNvPr>
          <p:cNvSpPr>
            <a:spLocks noGrp="1"/>
          </p:cNvSpPr>
          <p:nvPr/>
        </p:nvSpPr>
        <p:spPr>
          <a:xfrm>
            <a:off x="5189220" y="58635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3FF730C4-EB1D-80EB-DBBE-4BECBA6832C0}"/>
              </a:ext>
            </a:extLst>
          </p:cNvPr>
          <p:cNvSpPr>
            <a:spLocks noGrp="1"/>
          </p:cNvSpPr>
          <p:nvPr/>
        </p:nvSpPr>
        <p:spPr>
          <a:xfrm>
            <a:off x="4483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7FF51401-1A59-6DE5-8507-87ED68FCB0CF}"/>
              </a:ext>
            </a:extLst>
          </p:cNvPr>
          <p:cNvSpPr>
            <a:spLocks noGrp="1"/>
          </p:cNvSpPr>
          <p:nvPr/>
        </p:nvSpPr>
        <p:spPr>
          <a:xfrm>
            <a:off x="4483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</a:t>
            </a: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90194EA-9C51-EDF9-3980-88766FB794C8}"/>
              </a:ext>
            </a:extLst>
          </p:cNvPr>
          <p:cNvSpPr>
            <a:spLocks noGrp="1"/>
          </p:cNvSpPr>
          <p:nvPr/>
        </p:nvSpPr>
        <p:spPr>
          <a:xfrm>
            <a:off x="43345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5F09F437-7D9F-836C-4082-5259C05CD32A}"/>
              </a:ext>
            </a:extLst>
          </p:cNvPr>
          <p:cNvSpPr>
            <a:spLocks noGrp="1"/>
          </p:cNvSpPr>
          <p:nvPr/>
        </p:nvSpPr>
        <p:spPr>
          <a:xfrm>
            <a:off x="43345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1F80977E-3D1B-1F36-8AD1-7113734900A0}"/>
              </a:ext>
            </a:extLst>
          </p:cNvPr>
          <p:cNvSpPr>
            <a:spLocks noGrp="1"/>
          </p:cNvSpPr>
          <p:nvPr/>
        </p:nvSpPr>
        <p:spPr>
          <a:xfrm>
            <a:off x="8220710" y="1489710"/>
            <a:ext cx="381000" cy="38100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1DC9929-A5AE-E5B5-8B3E-7D0C0862296D}"/>
              </a:ext>
            </a:extLst>
          </p:cNvPr>
          <p:cNvSpPr>
            <a:spLocks noGrp="1"/>
          </p:cNvSpPr>
          <p:nvPr/>
        </p:nvSpPr>
        <p:spPr>
          <a:xfrm>
            <a:off x="8220710" y="156591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918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직사각형 85">
            <a:extLst>
              <a:ext uri="{FF2B5EF4-FFF2-40B4-BE49-F238E27FC236}">
                <a16:creationId xmlns:a16="http://schemas.microsoft.com/office/drawing/2014/main" id="{D20B4BAE-74BC-AC09-9CCB-C141C30FB2F6}"/>
              </a:ext>
            </a:extLst>
          </p:cNvPr>
          <p:cNvSpPr>
            <a:spLocks noGrp="1"/>
          </p:cNvSpPr>
          <p:nvPr/>
        </p:nvSpPr>
        <p:spPr>
          <a:xfrm>
            <a:off x="0" y="6659880"/>
            <a:ext cx="12192000" cy="19812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288090-CBDC-4D8D-BD33-B8DE259998B3}"/>
              </a:ext>
            </a:extLst>
          </p:cNvPr>
          <p:cNvSpPr>
            <a:spLocks noGrp="1"/>
          </p:cNvSpPr>
          <p:nvPr/>
        </p:nvSpPr>
        <p:spPr>
          <a:xfrm>
            <a:off x="365760" y="6682740"/>
            <a:ext cx="533400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9639C4-88AE-4B5F-B13D-27EF2F5AFCAE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8A91C57-DA2F-464D-AF65-7974C2DF5216}"/>
              </a:ext>
            </a:extLst>
          </p:cNvPr>
          <p:cNvSpPr>
            <a:spLocks noGrp="1"/>
          </p:cNvSpPr>
          <p:nvPr/>
        </p:nvSpPr>
        <p:spPr>
          <a:xfrm>
            <a:off x="381000" y="114300"/>
            <a:ext cx="434340" cy="43434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42E595-CC40-40EE-99C0-CD2409F1CF58}"/>
              </a:ext>
            </a:extLst>
          </p:cNvPr>
          <p:cNvSpPr>
            <a:spLocks noGrp="1"/>
          </p:cNvSpPr>
          <p:nvPr/>
        </p:nvSpPr>
        <p:spPr>
          <a:xfrm>
            <a:off x="381000" y="175260"/>
            <a:ext cx="43434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5EA98E-A79C-4735-A299-0840440BACD7}"/>
              </a:ext>
            </a:extLst>
          </p:cNvPr>
          <p:cNvSpPr>
            <a:spLocks noGrp="1"/>
          </p:cNvSpPr>
          <p:nvPr/>
        </p:nvSpPr>
        <p:spPr>
          <a:xfrm>
            <a:off x="975360" y="137160"/>
            <a:ext cx="5791200" cy="3276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9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CONCLUSION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88F772C-8E3D-4FFC-8BBC-3F91201EE4DF}"/>
              </a:ext>
            </a:extLst>
          </p:cNvPr>
          <p:cNvSpPr>
            <a:spLocks noGrp="1"/>
          </p:cNvSpPr>
          <p:nvPr/>
        </p:nvSpPr>
        <p:spPr>
          <a:xfrm>
            <a:off x="396240" y="624840"/>
            <a:ext cx="11391900" cy="411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52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현재의 매출에서, 미래의 고객까지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E6EC47-260E-4CE0-84D8-118F55199A58}"/>
              </a:ext>
            </a:extLst>
          </p:cNvPr>
          <p:cNvSpPr>
            <a:spLocks noGrp="1"/>
          </p:cNvSpPr>
          <p:nvPr/>
        </p:nvSpPr>
        <p:spPr>
          <a:xfrm>
            <a:off x="403860" y="1089660"/>
            <a:ext cx="1138428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여부를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설명하는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데서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끝나지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않고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어떤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고객</a:t>
            </a:r>
            <a:r>
              <a:rPr 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및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상품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전략이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필요한지까지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연결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F8DCE44-7266-458B-B367-221BF8CE41C1}"/>
              </a:ext>
            </a:extLst>
          </p:cNvPr>
          <p:cNvSpPr>
            <a:spLocks noGrp="1"/>
          </p:cNvSpPr>
          <p:nvPr/>
        </p:nvSpPr>
        <p:spPr>
          <a:xfrm>
            <a:off x="36576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60AA8A1-9182-496A-A7DB-35AB792131D5}"/>
              </a:ext>
            </a:extLst>
          </p:cNvPr>
          <p:cNvSpPr>
            <a:spLocks noGrp="1"/>
          </p:cNvSpPr>
          <p:nvPr/>
        </p:nvSpPr>
        <p:spPr>
          <a:xfrm>
            <a:off x="49530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83B015F-EE8C-4C5E-8295-A10856289B52}"/>
              </a:ext>
            </a:extLst>
          </p:cNvPr>
          <p:cNvSpPr>
            <a:spLocks noGrp="1"/>
          </p:cNvSpPr>
          <p:nvPr/>
        </p:nvSpPr>
        <p:spPr>
          <a:xfrm>
            <a:off x="49530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4F23FA-0D81-4225-B32C-62D23980F78D}"/>
              </a:ext>
            </a:extLst>
          </p:cNvPr>
          <p:cNvSpPr>
            <a:spLocks noGrp="1"/>
          </p:cNvSpPr>
          <p:nvPr/>
        </p:nvSpPr>
        <p:spPr>
          <a:xfrm>
            <a:off x="83058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</a:t>
            </a:r>
            <a:r>
              <a:rPr sz="11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현재소비</a:t>
            </a:r>
            <a:endParaRPr sz="114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6D602C0-5A5A-407D-B132-91D882ABB13A}"/>
              </a:ext>
            </a:extLst>
          </p:cNvPr>
          <p:cNvSpPr>
            <a:spLocks noGrp="1"/>
          </p:cNvSpPr>
          <p:nvPr/>
        </p:nvSpPr>
        <p:spPr>
          <a:xfrm>
            <a:off x="83058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현재 성과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DFAB023-3C1C-4E81-AD3E-19640D4DD93D}"/>
              </a:ext>
            </a:extLst>
          </p:cNvPr>
          <p:cNvSpPr>
            <a:spLocks noGrp="1"/>
          </p:cNvSpPr>
          <p:nvPr/>
        </p:nvSpPr>
        <p:spPr>
          <a:xfrm>
            <a:off x="237744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FC0FCED-4871-442A-AC77-51EC5ACFE314}"/>
              </a:ext>
            </a:extLst>
          </p:cNvPr>
          <p:cNvSpPr>
            <a:spLocks noGrp="1"/>
          </p:cNvSpPr>
          <p:nvPr/>
        </p:nvSpPr>
        <p:spPr>
          <a:xfrm>
            <a:off x="269748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F4F7FD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DEC585A-1D8F-4D5C-9DC2-90D8D5B7E71F}"/>
              </a:ext>
            </a:extLst>
          </p:cNvPr>
          <p:cNvSpPr>
            <a:spLocks noGrp="1"/>
          </p:cNvSpPr>
          <p:nvPr/>
        </p:nvSpPr>
        <p:spPr>
          <a:xfrm>
            <a:off x="282702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7291DA-3495-4ABC-9CCA-02FD32DD1BA6}"/>
              </a:ext>
            </a:extLst>
          </p:cNvPr>
          <p:cNvSpPr>
            <a:spLocks noGrp="1"/>
          </p:cNvSpPr>
          <p:nvPr/>
        </p:nvSpPr>
        <p:spPr>
          <a:xfrm>
            <a:off x="282702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C4A1DC-5CBD-436D-B952-86204F878D83}"/>
              </a:ext>
            </a:extLst>
          </p:cNvPr>
          <p:cNvSpPr>
            <a:spLocks noGrp="1"/>
          </p:cNvSpPr>
          <p:nvPr/>
        </p:nvSpPr>
        <p:spPr>
          <a:xfrm>
            <a:off x="316230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B740F7F-AB77-4B0F-971C-D3600D08E3E5}"/>
              </a:ext>
            </a:extLst>
          </p:cNvPr>
          <p:cNvSpPr>
            <a:spLocks noGrp="1"/>
          </p:cNvSpPr>
          <p:nvPr/>
        </p:nvSpPr>
        <p:spPr>
          <a:xfrm>
            <a:off x="316230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미래 노출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FEBE9EF-E998-4C94-9CD7-8336BAB759FE}"/>
              </a:ext>
            </a:extLst>
          </p:cNvPr>
          <p:cNvSpPr>
            <a:spLocks noGrp="1"/>
          </p:cNvSpPr>
          <p:nvPr/>
        </p:nvSpPr>
        <p:spPr>
          <a:xfrm>
            <a:off x="470916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773F7C8-DB12-46DA-B7D6-107092AAC1FA}"/>
              </a:ext>
            </a:extLst>
          </p:cNvPr>
          <p:cNvSpPr>
            <a:spLocks noGrp="1"/>
          </p:cNvSpPr>
          <p:nvPr/>
        </p:nvSpPr>
        <p:spPr>
          <a:xfrm>
            <a:off x="502920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B7C9F1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198A852C-AAE2-45E4-8D45-066F17ED0FFB}"/>
              </a:ext>
            </a:extLst>
          </p:cNvPr>
          <p:cNvSpPr>
            <a:spLocks noGrp="1"/>
          </p:cNvSpPr>
          <p:nvPr/>
        </p:nvSpPr>
        <p:spPr>
          <a:xfrm>
            <a:off x="515874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589AF24-57A8-4DCB-8B7D-474C9A7429AE}"/>
              </a:ext>
            </a:extLst>
          </p:cNvPr>
          <p:cNvSpPr>
            <a:spLocks noGrp="1"/>
          </p:cNvSpPr>
          <p:nvPr/>
        </p:nvSpPr>
        <p:spPr>
          <a:xfrm>
            <a:off x="515874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543554-99C3-4836-9E90-88E889CB2748}"/>
              </a:ext>
            </a:extLst>
          </p:cNvPr>
          <p:cNvSpPr>
            <a:spLocks noGrp="1"/>
          </p:cNvSpPr>
          <p:nvPr/>
        </p:nvSpPr>
        <p:spPr>
          <a:xfrm>
            <a:off x="549402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진단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4F239A8-6A74-40B4-AEA5-F63546A32278}"/>
              </a:ext>
            </a:extLst>
          </p:cNvPr>
          <p:cNvSpPr>
            <a:spLocks noGrp="1"/>
          </p:cNvSpPr>
          <p:nvPr/>
        </p:nvSpPr>
        <p:spPr>
          <a:xfrm>
            <a:off x="549402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상권 처방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3D51B49-E0CA-4587-AB08-FFEBB519E00F}"/>
              </a:ext>
            </a:extLst>
          </p:cNvPr>
          <p:cNvSpPr>
            <a:spLocks noGrp="1"/>
          </p:cNvSpPr>
          <p:nvPr/>
        </p:nvSpPr>
        <p:spPr>
          <a:xfrm>
            <a:off x="704088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29D708A-0ACA-4F40-AAF0-5EA954F30266}"/>
              </a:ext>
            </a:extLst>
          </p:cNvPr>
          <p:cNvSpPr>
            <a:spLocks noGrp="1"/>
          </p:cNvSpPr>
          <p:nvPr/>
        </p:nvSpPr>
        <p:spPr>
          <a:xfrm>
            <a:off x="736092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F4F7FD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79A9CD5-DF59-4548-AFFB-1064D2E25D93}"/>
              </a:ext>
            </a:extLst>
          </p:cNvPr>
          <p:cNvSpPr>
            <a:spLocks noGrp="1"/>
          </p:cNvSpPr>
          <p:nvPr/>
        </p:nvSpPr>
        <p:spPr>
          <a:xfrm>
            <a:off x="749046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1BBB847-9A2F-4DE9-B680-7649419CDB4E}"/>
              </a:ext>
            </a:extLst>
          </p:cNvPr>
          <p:cNvSpPr>
            <a:spLocks noGrp="1"/>
          </p:cNvSpPr>
          <p:nvPr/>
        </p:nvSpPr>
        <p:spPr>
          <a:xfrm>
            <a:off x="749046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4F4491E-4BCC-4650-812D-FE7440078DF8}"/>
              </a:ext>
            </a:extLst>
          </p:cNvPr>
          <p:cNvSpPr>
            <a:spLocks noGrp="1"/>
          </p:cNvSpPr>
          <p:nvPr/>
        </p:nvSpPr>
        <p:spPr>
          <a:xfrm>
            <a:off x="782574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관심고객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136E828-AC7C-4762-A5D9-8912C850586E}"/>
              </a:ext>
            </a:extLst>
          </p:cNvPr>
          <p:cNvSpPr>
            <a:spLocks noGrp="1"/>
          </p:cNvSpPr>
          <p:nvPr/>
        </p:nvSpPr>
        <p:spPr>
          <a:xfrm>
            <a:off x="782574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잠재 수요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B3A568F-D071-49E5-81B4-7A5EE389DEB3}"/>
              </a:ext>
            </a:extLst>
          </p:cNvPr>
          <p:cNvSpPr>
            <a:spLocks noGrp="1"/>
          </p:cNvSpPr>
          <p:nvPr/>
        </p:nvSpPr>
        <p:spPr>
          <a:xfrm>
            <a:off x="9372600" y="1783080"/>
            <a:ext cx="2667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12C0AB0-7BEF-4DBD-9A58-9D273AFFFE35}"/>
              </a:ext>
            </a:extLst>
          </p:cNvPr>
          <p:cNvSpPr>
            <a:spLocks noGrp="1"/>
          </p:cNvSpPr>
          <p:nvPr/>
        </p:nvSpPr>
        <p:spPr>
          <a:xfrm>
            <a:off x="9692640" y="1539240"/>
            <a:ext cx="1965960" cy="762000"/>
          </a:xfrm>
          <a:prstGeom prst="roundRect">
            <a:avLst>
              <a:gd name="adj" fmla="val 16000"/>
            </a:avLst>
          </a:prstGeom>
          <a:solidFill>
            <a:srgbClr val="EAF1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346F0DA-E218-4C06-B6A4-7C7B71ADF8C9}"/>
              </a:ext>
            </a:extLst>
          </p:cNvPr>
          <p:cNvSpPr>
            <a:spLocks noGrp="1"/>
          </p:cNvSpPr>
          <p:nvPr/>
        </p:nvSpPr>
        <p:spPr>
          <a:xfrm>
            <a:off x="9822180" y="1714500"/>
            <a:ext cx="335280" cy="33528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87A422F-BDC3-46A1-A7F2-ABBD3BF03CCC}"/>
              </a:ext>
            </a:extLst>
          </p:cNvPr>
          <p:cNvSpPr>
            <a:spLocks noGrp="1"/>
          </p:cNvSpPr>
          <p:nvPr/>
        </p:nvSpPr>
        <p:spPr>
          <a:xfrm>
            <a:off x="9822180" y="1790700"/>
            <a:ext cx="33528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F1E39BB-C3A6-40B3-9CA5-7C988FA80A46}"/>
              </a:ext>
            </a:extLst>
          </p:cNvPr>
          <p:cNvSpPr>
            <a:spLocks noGrp="1"/>
          </p:cNvSpPr>
          <p:nvPr/>
        </p:nvSpPr>
        <p:spPr>
          <a:xfrm>
            <a:off x="10157460" y="1645920"/>
            <a:ext cx="1257300" cy="2133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1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상품 전략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B7650EC-9381-405F-9532-5A42746DB6FC}"/>
              </a:ext>
            </a:extLst>
          </p:cNvPr>
          <p:cNvSpPr>
            <a:spLocks noGrp="1"/>
          </p:cNvSpPr>
          <p:nvPr/>
        </p:nvSpPr>
        <p:spPr>
          <a:xfrm>
            <a:off x="10157460" y="1965960"/>
            <a:ext cx="1257300" cy="1752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실행 방향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49B4718-7B7B-4336-BE7C-7FC270B02EB9}"/>
              </a:ext>
            </a:extLst>
          </p:cNvPr>
          <p:cNvSpPr>
            <a:spLocks noGrp="1"/>
          </p:cNvSpPr>
          <p:nvPr/>
        </p:nvSpPr>
        <p:spPr>
          <a:xfrm>
            <a:off x="365760" y="2567940"/>
            <a:ext cx="11422380" cy="2971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74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근거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74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74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기대효과</a:t>
            </a:r>
            <a:endParaRPr sz="174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81F00A51-5BFC-4FC1-96E6-57E53B805813}"/>
              </a:ext>
            </a:extLst>
          </p:cNvPr>
          <p:cNvSpPr>
            <a:spLocks noGrp="1"/>
          </p:cNvSpPr>
          <p:nvPr/>
        </p:nvSpPr>
        <p:spPr>
          <a:xfrm>
            <a:off x="365760" y="2971800"/>
            <a:ext cx="3688080" cy="1330960"/>
          </a:xfrm>
          <a:prstGeom prst="roundRect">
            <a:avLst>
              <a:gd name="adj" fmla="val 121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E75EDF9-5C76-4857-96E3-32DA9233F00F}"/>
              </a:ext>
            </a:extLst>
          </p:cNvPr>
          <p:cNvSpPr>
            <a:spLocks noGrp="1"/>
          </p:cNvSpPr>
          <p:nvPr/>
        </p:nvSpPr>
        <p:spPr>
          <a:xfrm>
            <a:off x="434340" y="3014980"/>
            <a:ext cx="396240" cy="3962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7FA3B16-EC98-4901-8370-0EF52BE8A9DD}"/>
              </a:ext>
            </a:extLst>
          </p:cNvPr>
          <p:cNvSpPr>
            <a:spLocks noGrp="1"/>
          </p:cNvSpPr>
          <p:nvPr/>
        </p:nvSpPr>
        <p:spPr>
          <a:xfrm>
            <a:off x="434340" y="3091180"/>
            <a:ext cx="39624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A8773DE-F596-4A79-98EA-9CA6B4FF3A99}"/>
              </a:ext>
            </a:extLst>
          </p:cNvPr>
          <p:cNvSpPr>
            <a:spLocks noGrp="1"/>
          </p:cNvSpPr>
          <p:nvPr/>
        </p:nvSpPr>
        <p:spPr>
          <a:xfrm>
            <a:off x="571500" y="3101339"/>
            <a:ext cx="3291840" cy="2815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위험 조기 경보</a:t>
            </a:r>
            <a:endParaRPr sz="14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F45E0F-EAF4-4E79-9D3F-58128C9422B2}"/>
              </a:ext>
            </a:extLst>
          </p:cNvPr>
          <p:cNvSpPr>
            <a:spLocks noGrp="1"/>
          </p:cNvSpPr>
          <p:nvPr/>
        </p:nvSpPr>
        <p:spPr>
          <a:xfrm>
            <a:off x="594360" y="3566159"/>
            <a:ext cx="3202940" cy="4607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매출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성장만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보고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미래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안전을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과대평가하는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endParaRPr lang="en-US"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오류를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줄임</a:t>
            </a:r>
            <a:endParaRPr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87FFB92-CEB9-4E63-BCC8-878AF5C4380B}"/>
              </a:ext>
            </a:extLst>
          </p:cNvPr>
          <p:cNvSpPr>
            <a:spLocks noGrp="1"/>
          </p:cNvSpPr>
          <p:nvPr/>
        </p:nvSpPr>
        <p:spPr>
          <a:xfrm>
            <a:off x="4251960" y="2971800"/>
            <a:ext cx="3688080" cy="1330960"/>
          </a:xfrm>
          <a:prstGeom prst="roundRect">
            <a:avLst>
              <a:gd name="adj" fmla="val 121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DCA35FC-7AFA-4428-BB91-0E4258377A39}"/>
              </a:ext>
            </a:extLst>
          </p:cNvPr>
          <p:cNvSpPr>
            <a:spLocks noGrp="1"/>
          </p:cNvSpPr>
          <p:nvPr/>
        </p:nvSpPr>
        <p:spPr>
          <a:xfrm>
            <a:off x="4320540" y="3014980"/>
            <a:ext cx="396240" cy="3962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AA86C22-0A7D-4435-87AC-BBB45935D802}"/>
              </a:ext>
            </a:extLst>
          </p:cNvPr>
          <p:cNvSpPr>
            <a:spLocks noGrp="1"/>
          </p:cNvSpPr>
          <p:nvPr/>
        </p:nvSpPr>
        <p:spPr>
          <a:xfrm>
            <a:off x="4320540" y="3091180"/>
            <a:ext cx="39624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9A1D898-1065-4BD4-81AE-4A52C933B6E3}"/>
              </a:ext>
            </a:extLst>
          </p:cNvPr>
          <p:cNvSpPr>
            <a:spLocks noGrp="1"/>
          </p:cNvSpPr>
          <p:nvPr/>
        </p:nvSpPr>
        <p:spPr>
          <a:xfrm>
            <a:off x="4457700" y="3101339"/>
            <a:ext cx="3291840" cy="2815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타깃 고객 선정</a:t>
            </a:r>
            <a:endParaRPr sz="144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C9705FE-EB87-462A-86FC-8E8AE86DD02F}"/>
              </a:ext>
            </a:extLst>
          </p:cNvPr>
          <p:cNvSpPr>
            <a:spLocks noGrp="1"/>
          </p:cNvSpPr>
          <p:nvPr/>
        </p:nvSpPr>
        <p:spPr>
          <a:xfrm>
            <a:off x="4480560" y="3566159"/>
            <a:ext cx="3200400" cy="4607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결제와 관심의 순위차로 우선 공략 연령을 선정</a:t>
            </a:r>
            <a:endParaRPr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8CA3B57-B0FE-444E-B56F-06357A544147}"/>
              </a:ext>
            </a:extLst>
          </p:cNvPr>
          <p:cNvSpPr>
            <a:spLocks noGrp="1"/>
          </p:cNvSpPr>
          <p:nvPr/>
        </p:nvSpPr>
        <p:spPr>
          <a:xfrm>
            <a:off x="8138160" y="2971800"/>
            <a:ext cx="3688080" cy="1330960"/>
          </a:xfrm>
          <a:prstGeom prst="roundRect">
            <a:avLst>
              <a:gd name="adj" fmla="val 121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0CE0B21-AEE1-4667-8FFE-6A515BCC85E5}"/>
              </a:ext>
            </a:extLst>
          </p:cNvPr>
          <p:cNvSpPr>
            <a:spLocks noGrp="1"/>
          </p:cNvSpPr>
          <p:nvPr/>
        </p:nvSpPr>
        <p:spPr>
          <a:xfrm>
            <a:off x="8206740" y="3014980"/>
            <a:ext cx="396240" cy="3962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4E9EDD6-8FF4-48F4-8A18-39F863043BB5}"/>
              </a:ext>
            </a:extLst>
          </p:cNvPr>
          <p:cNvSpPr>
            <a:spLocks noGrp="1"/>
          </p:cNvSpPr>
          <p:nvPr/>
        </p:nvSpPr>
        <p:spPr>
          <a:xfrm>
            <a:off x="8206740" y="3091180"/>
            <a:ext cx="39624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F92E620-9131-4BFE-933B-31DA5194A3DE}"/>
              </a:ext>
            </a:extLst>
          </p:cNvPr>
          <p:cNvSpPr>
            <a:spLocks noGrp="1"/>
          </p:cNvSpPr>
          <p:nvPr/>
        </p:nvSpPr>
        <p:spPr>
          <a:xfrm>
            <a:off x="8343900" y="3101339"/>
            <a:ext cx="3291840" cy="2815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144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44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실행전략 제공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A64B4128-5EF6-4D74-A757-06B2305733F8}"/>
              </a:ext>
            </a:extLst>
          </p:cNvPr>
          <p:cNvSpPr>
            <a:spLocks noGrp="1"/>
          </p:cNvSpPr>
          <p:nvPr/>
        </p:nvSpPr>
        <p:spPr>
          <a:xfrm>
            <a:off x="8366760" y="3566159"/>
            <a:ext cx="3307080" cy="46071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 경보와 방어</a:t>
            </a:r>
            <a:r>
              <a:rPr lang="en-US" altLang="ko-KR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</a:t>
            </a:r>
            <a:r>
              <a:rPr lang="en-US" altLang="ko-KR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재편</a:t>
            </a:r>
            <a:r>
              <a:rPr lang="en-US" altLang="ko-KR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105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선점 전략을 상권별로 제공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154A3C90-E190-4FC0-B518-E7F3A6E74ADC}"/>
              </a:ext>
            </a:extLst>
          </p:cNvPr>
          <p:cNvSpPr>
            <a:spLocks noGrp="1"/>
          </p:cNvSpPr>
          <p:nvPr/>
        </p:nvSpPr>
        <p:spPr>
          <a:xfrm>
            <a:off x="365760" y="4569460"/>
            <a:ext cx="11460480" cy="495300"/>
          </a:xfrm>
          <a:prstGeom prst="roundRect">
            <a:avLst>
              <a:gd name="adj" fmla="val 18462"/>
            </a:avLst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BAB0942-5EAD-4851-843E-0BBD394AE5E6}"/>
              </a:ext>
            </a:extLst>
          </p:cNvPr>
          <p:cNvSpPr>
            <a:spLocks noGrp="1"/>
          </p:cNvSpPr>
          <p:nvPr/>
        </p:nvSpPr>
        <p:spPr>
          <a:xfrm>
            <a:off x="533400" y="4683760"/>
            <a:ext cx="111252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3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“지금 누가 결제하는지, 아직 결제는 적지만 누가 관심을 보이는지, 앞으로 누가 남을지를 함께 본다.”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FFE523A-FA7B-4525-859A-F84AD77703B8}"/>
              </a:ext>
            </a:extLst>
          </p:cNvPr>
          <p:cNvSpPr>
            <a:spLocks noGrp="1"/>
          </p:cNvSpPr>
          <p:nvPr/>
        </p:nvSpPr>
        <p:spPr>
          <a:xfrm>
            <a:off x="365760" y="5274310"/>
            <a:ext cx="11460480" cy="1524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762B02D-3E40-45BB-919C-E26BFB25B517}"/>
              </a:ext>
            </a:extLst>
          </p:cNvPr>
          <p:cNvSpPr>
            <a:spLocks noGrp="1"/>
          </p:cNvSpPr>
          <p:nvPr/>
        </p:nvSpPr>
        <p:spPr>
          <a:xfrm>
            <a:off x="365760" y="5342890"/>
            <a:ext cx="4495800" cy="2362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분석 구현 요약  |  현재 소비에서 실행전략까지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8D2BA1E-F354-4CF9-BC6C-E4A88ED66F80}"/>
              </a:ext>
            </a:extLst>
          </p:cNvPr>
          <p:cNvSpPr>
            <a:spLocks noGrp="1"/>
          </p:cNvSpPr>
          <p:nvPr/>
        </p:nvSpPr>
        <p:spPr>
          <a:xfrm>
            <a:off x="365760" y="5632450"/>
            <a:ext cx="4267200" cy="937260"/>
          </a:xfrm>
          <a:prstGeom prst="roundRect">
            <a:avLst>
              <a:gd name="adj" fmla="val 11382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820E5C7-58FC-4244-A8AB-013853C52847}"/>
              </a:ext>
            </a:extLst>
          </p:cNvPr>
          <p:cNvSpPr>
            <a:spLocks noGrp="1"/>
          </p:cNvSpPr>
          <p:nvPr/>
        </p:nvSpPr>
        <p:spPr>
          <a:xfrm>
            <a:off x="487680" y="5746750"/>
            <a:ext cx="4008120" cy="7543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base = bc.merge(pop).merge(naver)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 = calc_stress(base)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segment = classify_2x2(stress)</a:t>
            </a:r>
          </a:p>
          <a:p>
            <a:pPr algn="l">
              <a:def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3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strategy = segment.merge(signal)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1E8009C-2BE7-42EC-8615-79F4415837EB}"/>
              </a:ext>
            </a:extLst>
          </p:cNvPr>
          <p:cNvSpPr>
            <a:spLocks noGrp="1"/>
          </p:cNvSpPr>
          <p:nvPr/>
        </p:nvSpPr>
        <p:spPr>
          <a:xfrm>
            <a:off x="4800600" y="5342890"/>
            <a:ext cx="7025640" cy="1226820"/>
          </a:xfrm>
          <a:prstGeom prst="roundRect">
            <a:avLst>
              <a:gd name="adj" fmla="val 1118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3D736B5-DB2A-43FB-8349-04F8EAC59EDD}"/>
              </a:ext>
            </a:extLst>
          </p:cNvPr>
          <p:cNvSpPr>
            <a:spLocks noGrp="1"/>
          </p:cNvSpPr>
          <p:nvPr/>
        </p:nvSpPr>
        <p:spPr>
          <a:xfrm>
            <a:off x="4968240" y="541909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CE180D6-91E9-49F6-8273-125DF1D5E155}"/>
              </a:ext>
            </a:extLst>
          </p:cNvPr>
          <p:cNvSpPr>
            <a:spLocks noGrp="1"/>
          </p:cNvSpPr>
          <p:nvPr/>
        </p:nvSpPr>
        <p:spPr>
          <a:xfrm>
            <a:off x="4998720" y="5419090"/>
            <a:ext cx="259080" cy="320040"/>
          </a:xfrm>
          <a:prstGeom prst="roundRect">
            <a:avLst>
              <a:gd name="adj" fmla="val 11765"/>
            </a:avLst>
          </a:prstGeom>
          <a:noFill/>
          <a:ln w="2857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AC4535E-6D3E-4B94-8340-7F2689132DF1}"/>
              </a:ext>
            </a:extLst>
          </p:cNvPr>
          <p:cNvSpPr>
            <a:spLocks noGrp="1"/>
          </p:cNvSpPr>
          <p:nvPr/>
        </p:nvSpPr>
        <p:spPr>
          <a:xfrm>
            <a:off x="5052060" y="551815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39B73BA-0DF7-413C-8C89-A278D42A6ED8}"/>
              </a:ext>
            </a:extLst>
          </p:cNvPr>
          <p:cNvSpPr>
            <a:spLocks noGrp="1"/>
          </p:cNvSpPr>
          <p:nvPr/>
        </p:nvSpPr>
        <p:spPr>
          <a:xfrm>
            <a:off x="5052060" y="5586730"/>
            <a:ext cx="1524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B26596B-B86E-4270-82CD-1FA65D74EA22}"/>
              </a:ext>
            </a:extLst>
          </p:cNvPr>
          <p:cNvSpPr>
            <a:spLocks noGrp="1"/>
          </p:cNvSpPr>
          <p:nvPr/>
        </p:nvSpPr>
        <p:spPr>
          <a:xfrm>
            <a:off x="5052060" y="5655310"/>
            <a:ext cx="114300" cy="2286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2FEFCF1-3F76-46F9-A4B8-8119B515B881}"/>
              </a:ext>
            </a:extLst>
          </p:cNvPr>
          <p:cNvSpPr>
            <a:spLocks noGrp="1"/>
          </p:cNvSpPr>
          <p:nvPr/>
        </p:nvSpPr>
        <p:spPr>
          <a:xfrm>
            <a:off x="5394960" y="540385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설계 이유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4F3D29B0-58F0-4186-BC45-2DCC904FFFFD}"/>
              </a:ext>
            </a:extLst>
          </p:cNvPr>
          <p:cNvSpPr>
            <a:spLocks noGrp="1"/>
          </p:cNvSpPr>
          <p:nvPr/>
        </p:nvSpPr>
        <p:spPr>
          <a:xfrm>
            <a:off x="6667500" y="541700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BC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카드 분석 담당자와 가맹점이 상권 위험 진단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 타깃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 기획에 활용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2ECD4A6-61D6-4474-A333-11840FE6CCD9}"/>
              </a:ext>
            </a:extLst>
          </p:cNvPr>
          <p:cNvSpPr>
            <a:spLocks noGrp="1"/>
          </p:cNvSpPr>
          <p:nvPr/>
        </p:nvSpPr>
        <p:spPr>
          <a:xfrm>
            <a:off x="4953000" y="575183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DA9FFAE8-31CD-4E98-92A6-B55C6A897884}"/>
              </a:ext>
            </a:extLst>
          </p:cNvPr>
          <p:cNvSpPr>
            <a:spLocks noGrp="1"/>
          </p:cNvSpPr>
          <p:nvPr/>
        </p:nvSpPr>
        <p:spPr>
          <a:xfrm>
            <a:off x="4968240" y="5828030"/>
            <a:ext cx="320040" cy="32004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DFEA2EC-2F03-4203-A582-BE0A36A613ED}"/>
              </a:ext>
            </a:extLst>
          </p:cNvPr>
          <p:cNvSpPr>
            <a:spLocks noGrp="1"/>
          </p:cNvSpPr>
          <p:nvPr/>
        </p:nvSpPr>
        <p:spPr>
          <a:xfrm>
            <a:off x="5394960" y="581279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의사결정 연결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BA92456-1E98-44DD-849A-A77D37FDE65D}"/>
              </a:ext>
            </a:extLst>
          </p:cNvPr>
          <p:cNvSpPr>
            <a:spLocks noGrp="1"/>
          </p:cNvSpPr>
          <p:nvPr/>
        </p:nvSpPr>
        <p:spPr>
          <a:xfrm>
            <a:off x="6667500" y="5832524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월별 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BC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결제데이터 갱신에 맞춰 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유형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잠재고객 후보를 </a:t>
            </a:r>
            <a:r>
              <a:rPr lang="ko-KR" altLang="en-US" sz="90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재산출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A89C06F9-5D9A-40F1-B1C1-D31D3098D0A8}"/>
              </a:ext>
            </a:extLst>
          </p:cNvPr>
          <p:cNvSpPr>
            <a:spLocks noGrp="1"/>
          </p:cNvSpPr>
          <p:nvPr/>
        </p:nvSpPr>
        <p:spPr>
          <a:xfrm>
            <a:off x="4953000" y="6160770"/>
            <a:ext cx="6720840" cy="762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74084E4-C602-4117-A6F5-578CC005215A}"/>
              </a:ext>
            </a:extLst>
          </p:cNvPr>
          <p:cNvSpPr>
            <a:spLocks noGrp="1"/>
          </p:cNvSpPr>
          <p:nvPr/>
        </p:nvSpPr>
        <p:spPr>
          <a:xfrm>
            <a:off x="5394960" y="6221730"/>
            <a:ext cx="133350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8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실제 구현 방식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8C1BE15-8E11-4A0F-A65D-19B394B15250}"/>
              </a:ext>
            </a:extLst>
          </p:cNvPr>
          <p:cNvSpPr>
            <a:spLocks noGrp="1"/>
          </p:cNvSpPr>
          <p:nvPr/>
        </p:nvSpPr>
        <p:spPr>
          <a:xfrm>
            <a:off x="6667500" y="6234886"/>
            <a:ext cx="4968240" cy="2946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52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적용 전후 이용금액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신규 연령고객 비중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프로모션 </a:t>
            </a:r>
            <a:r>
              <a:rPr lang="ko-KR" altLang="en-US" sz="90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반응률을</a:t>
            </a:r>
            <a:r>
              <a:rPr lang="ko-KR" altLang="en-US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비교해 효과 확인</a:t>
            </a:r>
            <a:r>
              <a:rPr lang="en-US" altLang="ko-KR" sz="90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pic>
        <p:nvPicPr>
          <p:cNvPr id="84" name="그래픽 83">
            <a:extLst>
              <a:ext uri="{FF2B5EF4-FFF2-40B4-BE49-F238E27FC236}">
                <a16:creationId xmlns:a16="http://schemas.microsoft.com/office/drawing/2014/main" id="{798709C4-D599-ADBA-65A9-26569469D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917757" y="6148705"/>
            <a:ext cx="421005" cy="421005"/>
          </a:xfrm>
          <a:prstGeom prst="rect">
            <a:avLst/>
          </a:prstGeom>
        </p:spPr>
      </p:pic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FFE52D8C-C0D6-586F-175F-CD8EB3B3A806}"/>
              </a:ext>
            </a:extLst>
          </p:cNvPr>
          <p:cNvSpPr>
            <a:spLocks noGrp="1"/>
          </p:cNvSpPr>
          <p:nvPr/>
        </p:nvSpPr>
        <p:spPr>
          <a:xfrm>
            <a:off x="4960620" y="6026150"/>
            <a:ext cx="99060" cy="108167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212DDEC7-567E-E9FF-C132-2B8D79B7BFAE}"/>
              </a:ext>
            </a:extLst>
          </p:cNvPr>
          <p:cNvSpPr>
            <a:spLocks noGrp="1"/>
          </p:cNvSpPr>
          <p:nvPr/>
        </p:nvSpPr>
        <p:spPr>
          <a:xfrm>
            <a:off x="5074920" y="5949950"/>
            <a:ext cx="99060" cy="16826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66AC7D9-ACA6-D47A-F60F-566A72AB7C80}"/>
              </a:ext>
            </a:extLst>
          </p:cNvPr>
          <p:cNvSpPr>
            <a:spLocks noGrp="1"/>
          </p:cNvSpPr>
          <p:nvPr/>
        </p:nvSpPr>
        <p:spPr>
          <a:xfrm>
            <a:off x="5189220" y="5850890"/>
            <a:ext cx="99060" cy="246380"/>
          </a:xfrm>
          <a:prstGeom prst="roundRect">
            <a:avLst>
              <a:gd name="adj" fmla="val 40000"/>
            </a:avLst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6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타원 89">
            <a:extLst>
              <a:ext uri="{FF2B5EF4-FFF2-40B4-BE49-F238E27FC236}">
                <a16:creationId xmlns:a16="http://schemas.microsoft.com/office/drawing/2014/main" id="{51A16091-F21E-4E13-AC57-E3BC2F931D2D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438150" cy="43815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6E6851E-66DA-4328-81D9-762D2604067E}"/>
              </a:ext>
            </a:extLst>
          </p:cNvPr>
          <p:cNvSpPr>
            <a:spLocks noGrp="1"/>
          </p:cNvSpPr>
          <p:nvPr/>
        </p:nvSpPr>
        <p:spPr>
          <a:xfrm>
            <a:off x="381000" y="161925"/>
            <a:ext cx="438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8295145-31C4-4032-9507-9AA468331DA5}"/>
              </a:ext>
            </a:extLst>
          </p:cNvPr>
          <p:cNvSpPr>
            <a:spLocks noGrp="1"/>
          </p:cNvSpPr>
          <p:nvPr/>
        </p:nvSpPr>
        <p:spPr>
          <a:xfrm>
            <a:off x="962025" y="123825"/>
            <a:ext cx="5334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TECHNICAL METHOD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41D1FEF-4D0B-4DBD-B511-39DB0A750088}"/>
              </a:ext>
            </a:extLst>
          </p:cNvPr>
          <p:cNvSpPr>
            <a:spLocks noGrp="1"/>
          </p:cNvSpPr>
          <p:nvPr/>
        </p:nvSpPr>
        <p:spPr>
          <a:xfrm>
            <a:off x="381000" y="638175"/>
            <a:ext cx="1122045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</a:t>
            </a:r>
            <a:r>
              <a:rPr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결과</a:t>
            </a:r>
            <a:r>
              <a:rPr lang="ko-KR" alt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en-US" altLang="ko-KR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기술</a:t>
            </a:r>
            <a:r>
              <a:rPr lang="ko-KR" alt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과</a:t>
            </a:r>
            <a:r>
              <a:rPr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475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통계</a:t>
            </a:r>
            <a:r>
              <a:rPr 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2475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방법</a:t>
            </a:r>
            <a:endParaRPr sz="2475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931609-7CAC-454C-A622-478298CDB1F8}"/>
              </a:ext>
            </a:extLst>
          </p:cNvPr>
          <p:cNvSpPr>
            <a:spLocks noGrp="1"/>
          </p:cNvSpPr>
          <p:nvPr/>
        </p:nvSpPr>
        <p:spPr>
          <a:xfrm>
            <a:off x="400050" y="1076325"/>
            <a:ext cx="112014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Python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기반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데이터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파이프라인에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비모수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검정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상관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민감도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분석을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20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결합</a:t>
            </a:r>
            <a:r>
              <a:rPr sz="120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8612E5-F078-45BE-9F31-10845318CB09}"/>
              </a:ext>
            </a:extLst>
          </p:cNvPr>
          <p:cNvSpPr>
            <a:spLocks noGrp="1"/>
          </p:cNvSpPr>
          <p:nvPr/>
        </p:nvSpPr>
        <p:spPr>
          <a:xfrm>
            <a:off x="361950" y="1504950"/>
            <a:ext cx="3676650" cy="33147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DFE013B-6AF3-48F8-A2B6-E5EF09F2AC7C}"/>
              </a:ext>
            </a:extLst>
          </p:cNvPr>
          <p:cNvSpPr>
            <a:spLocks noGrp="1"/>
          </p:cNvSpPr>
          <p:nvPr/>
        </p:nvSpPr>
        <p:spPr>
          <a:xfrm>
            <a:off x="4257675" y="1504950"/>
            <a:ext cx="3676650" cy="33147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6C9FF43-2CFC-42E4-96BD-A99AFE12DA69}"/>
              </a:ext>
            </a:extLst>
          </p:cNvPr>
          <p:cNvSpPr>
            <a:spLocks noGrp="1"/>
          </p:cNvSpPr>
          <p:nvPr/>
        </p:nvSpPr>
        <p:spPr>
          <a:xfrm>
            <a:off x="8153400" y="1504950"/>
            <a:ext cx="3676650" cy="33147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3C8C67D-4E39-4777-9409-9C66DA57A7A9}"/>
              </a:ext>
            </a:extLst>
          </p:cNvPr>
          <p:cNvSpPr>
            <a:spLocks noGrp="1"/>
          </p:cNvSpPr>
          <p:nvPr/>
        </p:nvSpPr>
        <p:spPr>
          <a:xfrm>
            <a:off x="533400" y="1676400"/>
            <a:ext cx="323850" cy="32385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2273CA-7091-4E7F-A5E2-92FD3011740A}"/>
              </a:ext>
            </a:extLst>
          </p:cNvPr>
          <p:cNvSpPr>
            <a:spLocks noGrp="1"/>
          </p:cNvSpPr>
          <p:nvPr/>
        </p:nvSpPr>
        <p:spPr>
          <a:xfrm>
            <a:off x="533400" y="16859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97A2C6-D531-4844-AE29-5739EF9370DB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27813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환경과 라이브러리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6A5576E-7B21-43C1-AEAE-B196AF3D83F9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333750" cy="9525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EBFA7D4-38F9-4066-B6AA-822899447A5F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CCE3FD-BCBC-43DC-AD61-D7BB90AFC00A}"/>
              </a:ext>
            </a:extLst>
          </p:cNvPr>
          <p:cNvSpPr>
            <a:spLocks noGrp="1"/>
          </p:cNvSpPr>
          <p:nvPr/>
        </p:nvSpPr>
        <p:spPr>
          <a:xfrm>
            <a:off x="533400" y="2247900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8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Python, Jupyter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D75BD5B-99B7-4268-8048-A5A9E714EFEE}"/>
              </a:ext>
            </a:extLst>
          </p:cNvPr>
          <p:cNvSpPr>
            <a:spLocks noGrp="1"/>
          </p:cNvSpPr>
          <p:nvPr/>
        </p:nvSpPr>
        <p:spPr>
          <a:xfrm>
            <a:off x="1714500" y="2238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전체 분석 실행과 재현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304568-1997-44D0-989C-97D2B73805DC}"/>
              </a:ext>
            </a:extLst>
          </p:cNvPr>
          <p:cNvSpPr>
            <a:spLocks noGrp="1"/>
          </p:cNvSpPr>
          <p:nvPr/>
        </p:nvSpPr>
        <p:spPr>
          <a:xfrm>
            <a:off x="533400" y="261937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AC837C2-3D20-4BD8-BB06-4EBA7EE6B281}"/>
              </a:ext>
            </a:extLst>
          </p:cNvPr>
          <p:cNvSpPr>
            <a:spLocks noGrp="1"/>
          </p:cNvSpPr>
          <p:nvPr/>
        </p:nvSpPr>
        <p:spPr>
          <a:xfrm>
            <a:off x="533400" y="2733675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EFF86E-866B-4925-BD90-440477E01A79}"/>
              </a:ext>
            </a:extLst>
          </p:cNvPr>
          <p:cNvSpPr>
            <a:spLocks noGrp="1"/>
          </p:cNvSpPr>
          <p:nvPr/>
        </p:nvSpPr>
        <p:spPr>
          <a:xfrm>
            <a:off x="533400" y="273367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Pandas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156FC1D-2DD6-4185-9B2C-3B16B88FD3D1}"/>
              </a:ext>
            </a:extLst>
          </p:cNvPr>
          <p:cNvSpPr>
            <a:spLocks noGrp="1"/>
          </p:cNvSpPr>
          <p:nvPr/>
        </p:nvSpPr>
        <p:spPr>
          <a:xfrm>
            <a:off x="1714500" y="27241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정제, 병합, 그룹 집계, Q75, 순위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E4C9E69-75A0-4A13-ACC7-232B676A1552}"/>
              </a:ext>
            </a:extLst>
          </p:cNvPr>
          <p:cNvSpPr>
            <a:spLocks noGrp="1"/>
          </p:cNvSpPr>
          <p:nvPr/>
        </p:nvSpPr>
        <p:spPr>
          <a:xfrm>
            <a:off x="533400" y="3105150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BC539E0-58E6-4871-B3A3-54F92D651D99}"/>
              </a:ext>
            </a:extLst>
          </p:cNvPr>
          <p:cNvSpPr>
            <a:spLocks noGrp="1"/>
          </p:cNvSpPr>
          <p:nvPr/>
        </p:nvSpPr>
        <p:spPr>
          <a:xfrm>
            <a:off x="533400" y="321945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5FC714-C933-4525-9FC8-78674655866A}"/>
              </a:ext>
            </a:extLst>
          </p:cNvPr>
          <p:cNvSpPr>
            <a:spLocks noGrp="1"/>
          </p:cNvSpPr>
          <p:nvPr/>
        </p:nvSpPr>
        <p:spPr>
          <a:xfrm>
            <a:off x="533400" y="3219450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NumPy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96528A0-B3E4-4161-BC36-437A30C3E918}"/>
              </a:ext>
            </a:extLst>
          </p:cNvPr>
          <p:cNvSpPr>
            <a:spLocks noGrp="1"/>
          </p:cNvSpPr>
          <p:nvPr/>
        </p:nvSpPr>
        <p:spPr>
          <a:xfrm>
            <a:off x="1714500" y="320992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 가중합과 수치 연산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F99DD68-6DB9-46C1-9EEC-67CE0E11E67A}"/>
              </a:ext>
            </a:extLst>
          </p:cNvPr>
          <p:cNvSpPr>
            <a:spLocks noGrp="1"/>
          </p:cNvSpPr>
          <p:nvPr/>
        </p:nvSpPr>
        <p:spPr>
          <a:xfrm>
            <a:off x="533400" y="35909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1F6287A-3857-40D5-92A7-FD83A015F6EE}"/>
              </a:ext>
            </a:extLst>
          </p:cNvPr>
          <p:cNvSpPr>
            <a:spLocks noGrp="1"/>
          </p:cNvSpPr>
          <p:nvPr/>
        </p:nvSpPr>
        <p:spPr>
          <a:xfrm>
            <a:off x="533400" y="3705225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3046817-2F8C-46F3-808B-F6A19048C1BA}"/>
              </a:ext>
            </a:extLst>
          </p:cNvPr>
          <p:cNvSpPr>
            <a:spLocks noGrp="1"/>
          </p:cNvSpPr>
          <p:nvPr/>
        </p:nvSpPr>
        <p:spPr>
          <a:xfrm>
            <a:off x="533400" y="3705225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requests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583FE8-532D-41C6-B9B1-EB5344D0FA60}"/>
              </a:ext>
            </a:extLst>
          </p:cNvPr>
          <p:cNvSpPr>
            <a:spLocks noGrp="1"/>
          </p:cNvSpPr>
          <p:nvPr/>
        </p:nvSpPr>
        <p:spPr>
          <a:xfrm>
            <a:off x="1714500" y="3695699"/>
            <a:ext cx="21526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NAVER Search, Shopping API </a:t>
            </a:r>
            <a:r>
              <a:rPr sz="99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호출</a:t>
            </a:r>
            <a:endParaRPr sz="99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BB69BB2-C8B9-4063-9F31-9D48CE02607C}"/>
              </a:ext>
            </a:extLst>
          </p:cNvPr>
          <p:cNvSpPr>
            <a:spLocks noGrp="1"/>
          </p:cNvSpPr>
          <p:nvPr/>
        </p:nvSpPr>
        <p:spPr>
          <a:xfrm>
            <a:off x="533400" y="4076700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71423FC-0F79-4078-9C47-1BB780095E7D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106680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FCFA899-AE1F-47CB-AB74-4C35FCDBFB3E}"/>
              </a:ext>
            </a:extLst>
          </p:cNvPr>
          <p:cNvSpPr>
            <a:spLocks noGrp="1"/>
          </p:cNvSpPr>
          <p:nvPr/>
        </p:nvSpPr>
        <p:spPr>
          <a:xfrm>
            <a:off x="533400" y="4191000"/>
            <a:ext cx="10668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Matplotlib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D86FC42-5073-4E0B-A368-699FF147A655}"/>
              </a:ext>
            </a:extLst>
          </p:cNvPr>
          <p:cNvSpPr>
            <a:spLocks noGrp="1"/>
          </p:cNvSpPr>
          <p:nvPr/>
        </p:nvSpPr>
        <p:spPr>
          <a:xfrm>
            <a:off x="1714500" y="41814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분석 결과 시각화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DB7AECC-DD27-4AED-A998-DD144DA772DD}"/>
              </a:ext>
            </a:extLst>
          </p:cNvPr>
          <p:cNvSpPr>
            <a:spLocks noGrp="1"/>
          </p:cNvSpPr>
          <p:nvPr/>
        </p:nvSpPr>
        <p:spPr>
          <a:xfrm>
            <a:off x="4429125" y="1676400"/>
            <a:ext cx="323850" cy="32385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57F8AD-E4CC-4241-A82F-8439E4E28025}"/>
              </a:ext>
            </a:extLst>
          </p:cNvPr>
          <p:cNvSpPr>
            <a:spLocks noGrp="1"/>
          </p:cNvSpPr>
          <p:nvPr/>
        </p:nvSpPr>
        <p:spPr>
          <a:xfrm>
            <a:off x="4429125" y="16859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7EC3268-CE35-400E-81AF-90C25721577E}"/>
              </a:ext>
            </a:extLst>
          </p:cNvPr>
          <p:cNvSpPr>
            <a:spLocks noGrp="1"/>
          </p:cNvSpPr>
          <p:nvPr/>
        </p:nvSpPr>
        <p:spPr>
          <a:xfrm>
            <a:off x="4886325" y="1647825"/>
            <a:ext cx="27813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통계 검증 방법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A945D53-32BF-4A2D-9122-D84D6C6A31B0}"/>
              </a:ext>
            </a:extLst>
          </p:cNvPr>
          <p:cNvSpPr>
            <a:spLocks noGrp="1"/>
          </p:cNvSpPr>
          <p:nvPr/>
        </p:nvSpPr>
        <p:spPr>
          <a:xfrm>
            <a:off x="4429125" y="2095500"/>
            <a:ext cx="3333750" cy="9525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F755D61-C409-4F98-A0D7-7939805BD7E3}"/>
              </a:ext>
            </a:extLst>
          </p:cNvPr>
          <p:cNvSpPr>
            <a:spLocks noGrp="1"/>
          </p:cNvSpPr>
          <p:nvPr/>
        </p:nvSpPr>
        <p:spPr>
          <a:xfrm>
            <a:off x="4429125" y="2257425"/>
            <a:ext cx="135255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DB5568-560F-4E89-812B-535C260B31CD}"/>
              </a:ext>
            </a:extLst>
          </p:cNvPr>
          <p:cNvSpPr>
            <a:spLocks noGrp="1"/>
          </p:cNvSpPr>
          <p:nvPr/>
        </p:nvSpPr>
        <p:spPr>
          <a:xfrm>
            <a:off x="4429125" y="2257425"/>
            <a:ext cx="13525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Mann-Whitney U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EC12C56-76D5-4D8C-AA04-70750C05CE6A}"/>
              </a:ext>
            </a:extLst>
          </p:cNvPr>
          <p:cNvSpPr>
            <a:spLocks noGrp="1"/>
          </p:cNvSpPr>
          <p:nvPr/>
        </p:nvSpPr>
        <p:spPr>
          <a:xfrm>
            <a:off x="4429125" y="2562225"/>
            <a:ext cx="32956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성장군과 비성장군의 Stress 분포 차이 검정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0D10015-4AF0-4947-992A-00D5DB7D472B}"/>
              </a:ext>
            </a:extLst>
          </p:cNvPr>
          <p:cNvSpPr>
            <a:spLocks noGrp="1"/>
          </p:cNvSpPr>
          <p:nvPr/>
        </p:nvSpPr>
        <p:spPr>
          <a:xfrm>
            <a:off x="4429125" y="2933700"/>
            <a:ext cx="3333750" cy="571500"/>
          </a:xfrm>
          <a:prstGeom prst="roundRect">
            <a:avLst>
              <a:gd name="adj" fmla="val 20000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DAE19B-99EF-4EE2-84D8-A2D2261E0778}"/>
              </a:ext>
            </a:extLst>
          </p:cNvPr>
          <p:cNvSpPr>
            <a:spLocks noGrp="1"/>
          </p:cNvSpPr>
          <p:nvPr/>
        </p:nvSpPr>
        <p:spPr>
          <a:xfrm>
            <a:off x="4552950" y="2990850"/>
            <a:ext cx="30861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표본 수가 작고 정규분포를 가정하기 어려워</a:t>
            </a:r>
          </a:p>
          <a:p>
            <a:pPr algn="l">
              <a:def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순위 기반 비모수 검정을 사용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310D508-574B-47FF-B5BE-8CA4FB01CA30}"/>
              </a:ext>
            </a:extLst>
          </p:cNvPr>
          <p:cNvSpPr>
            <a:spLocks noGrp="1"/>
          </p:cNvSpPr>
          <p:nvPr/>
        </p:nvSpPr>
        <p:spPr>
          <a:xfrm>
            <a:off x="4429125" y="3686175"/>
            <a:ext cx="1238250" cy="228600"/>
          </a:xfrm>
          <a:prstGeom prst="roundRect">
            <a:avLst>
              <a:gd name="adj" fmla="val 50000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72BA813-4D33-4C33-94E0-0D1103712F07}"/>
              </a:ext>
            </a:extLst>
          </p:cNvPr>
          <p:cNvSpPr>
            <a:spLocks noGrp="1"/>
          </p:cNvSpPr>
          <p:nvPr/>
        </p:nvSpPr>
        <p:spPr>
          <a:xfrm>
            <a:off x="4429125" y="3686175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Spearman rho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F0771DB-A591-4D38-BDE9-1BBEA35322CB}"/>
              </a:ext>
            </a:extLst>
          </p:cNvPr>
          <p:cNvSpPr>
            <a:spLocks noGrp="1"/>
          </p:cNvSpPr>
          <p:nvPr/>
        </p:nvSpPr>
        <p:spPr>
          <a:xfrm>
            <a:off x="4429125" y="3981450"/>
            <a:ext cx="32956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외부유입 보정 후에도 기존 위험순위가</a:t>
            </a:r>
          </a:p>
          <a:p>
            <a:pPr algn="l">
              <a:def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유지되는지 확인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E25333D-090C-409D-A129-B467483EE06A}"/>
              </a:ext>
            </a:extLst>
          </p:cNvPr>
          <p:cNvSpPr>
            <a:spLocks noGrp="1"/>
          </p:cNvSpPr>
          <p:nvPr/>
        </p:nvSpPr>
        <p:spPr>
          <a:xfrm>
            <a:off x="4429125" y="4486275"/>
            <a:ext cx="32956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38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938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rho가 1에 가까울수록 위험순위가 안정적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AB6EA69-D878-4794-AD60-5EF570402183}"/>
              </a:ext>
            </a:extLst>
          </p:cNvPr>
          <p:cNvSpPr>
            <a:spLocks noGrp="1"/>
          </p:cNvSpPr>
          <p:nvPr/>
        </p:nvSpPr>
        <p:spPr>
          <a:xfrm>
            <a:off x="8324850" y="1676400"/>
            <a:ext cx="323850" cy="323850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421B039-8932-48F3-96C0-3780C7A673EF}"/>
              </a:ext>
            </a:extLst>
          </p:cNvPr>
          <p:cNvSpPr>
            <a:spLocks noGrp="1"/>
          </p:cNvSpPr>
          <p:nvPr/>
        </p:nvSpPr>
        <p:spPr>
          <a:xfrm>
            <a:off x="8324850" y="1685925"/>
            <a:ext cx="3238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8DD6459-8CA2-4C12-BA76-4791E0FD56FC}"/>
              </a:ext>
            </a:extLst>
          </p:cNvPr>
          <p:cNvSpPr>
            <a:spLocks noGrp="1"/>
          </p:cNvSpPr>
          <p:nvPr/>
        </p:nvSpPr>
        <p:spPr>
          <a:xfrm>
            <a:off x="8782050" y="1647825"/>
            <a:ext cx="278130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로직과 공식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0A385CB-5B69-4271-AF0E-E77BBA4C314C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3333750" cy="9525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AF6DDE43-1FE8-420D-8B87-90C07D94335E}"/>
              </a:ext>
            </a:extLst>
          </p:cNvPr>
          <p:cNvSpPr>
            <a:spLocks noGrp="1"/>
          </p:cNvSpPr>
          <p:nvPr/>
        </p:nvSpPr>
        <p:spPr>
          <a:xfrm>
            <a:off x="8324850" y="22288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B74211A-7078-494A-A52F-0E0D36480906}"/>
              </a:ext>
            </a:extLst>
          </p:cNvPr>
          <p:cNvSpPr>
            <a:spLocks noGrp="1"/>
          </p:cNvSpPr>
          <p:nvPr/>
        </p:nvSpPr>
        <p:spPr>
          <a:xfrm>
            <a:off x="8324850" y="22383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4E45BE3-2134-4A8B-93F3-BF1F9B4B0858}"/>
              </a:ext>
            </a:extLst>
          </p:cNvPr>
          <p:cNvSpPr>
            <a:spLocks noGrp="1"/>
          </p:cNvSpPr>
          <p:nvPr/>
        </p:nvSpPr>
        <p:spPr>
          <a:xfrm>
            <a:off x="8677275" y="22098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규모 보정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C8974A8-00D2-4DF8-94E8-1F1F4FE3399A}"/>
              </a:ext>
            </a:extLst>
          </p:cNvPr>
          <p:cNvSpPr>
            <a:spLocks noGrp="1"/>
          </p:cNvSpPr>
          <p:nvPr/>
        </p:nvSpPr>
        <p:spPr>
          <a:xfrm>
            <a:off x="9648825" y="22098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 업종 이용금액 Q75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2E81E92-6816-4AB4-A784-1363297D5536}"/>
              </a:ext>
            </a:extLst>
          </p:cNvPr>
          <p:cNvSpPr>
            <a:spLocks noGrp="1"/>
          </p:cNvSpPr>
          <p:nvPr/>
        </p:nvSpPr>
        <p:spPr>
          <a:xfrm>
            <a:off x="8324850" y="26003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82F5933-E868-4AD9-9AE0-7A4F32070286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FFDA19-9573-4B14-B53C-F89AFAFC9A4D}"/>
              </a:ext>
            </a:extLst>
          </p:cNvPr>
          <p:cNvSpPr>
            <a:spLocks noGrp="1"/>
          </p:cNvSpPr>
          <p:nvPr/>
        </p:nvSpPr>
        <p:spPr>
          <a:xfrm>
            <a:off x="8324850" y="27336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B4BA228-6AFA-4321-9F6A-ABF0BE51B64F}"/>
              </a:ext>
            </a:extLst>
          </p:cNvPr>
          <p:cNvSpPr>
            <a:spLocks noGrp="1"/>
          </p:cNvSpPr>
          <p:nvPr/>
        </p:nvSpPr>
        <p:spPr>
          <a:xfrm>
            <a:off x="8677275" y="27051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</a:t>
            </a:r>
            <a:r>
              <a:rPr sz="1013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성장</a:t>
            </a:r>
            <a:endParaRPr sz="1013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596F5CE-637E-4BB4-A9CD-94F5EB9CE4FD}"/>
              </a:ext>
            </a:extLst>
          </p:cNvPr>
          <p:cNvSpPr>
            <a:spLocks noGrp="1"/>
          </p:cNvSpPr>
          <p:nvPr/>
        </p:nvSpPr>
        <p:spPr>
          <a:xfrm>
            <a:off x="9648825" y="27051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추세, 방향, 지속성 3조건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F12634D-FD3A-499E-BE3B-5E0EC936C0E1}"/>
              </a:ext>
            </a:extLst>
          </p:cNvPr>
          <p:cNvSpPr>
            <a:spLocks noGrp="1"/>
          </p:cNvSpPr>
          <p:nvPr/>
        </p:nvSpPr>
        <p:spPr>
          <a:xfrm>
            <a:off x="8324850" y="30956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954D4041-ADD6-499D-880C-352BD15DECE5}"/>
              </a:ext>
            </a:extLst>
          </p:cNvPr>
          <p:cNvSpPr>
            <a:spLocks noGrp="1"/>
          </p:cNvSpPr>
          <p:nvPr/>
        </p:nvSpPr>
        <p:spPr>
          <a:xfrm>
            <a:off x="8324850" y="3219450"/>
            <a:ext cx="257175" cy="257175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D3D7542-D042-415F-99DC-BC7A3ECC25F3}"/>
              </a:ext>
            </a:extLst>
          </p:cNvPr>
          <p:cNvSpPr>
            <a:spLocks noGrp="1"/>
          </p:cNvSpPr>
          <p:nvPr/>
        </p:nvSpPr>
        <p:spPr>
          <a:xfrm>
            <a:off x="8324850" y="32289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F50E639-9358-44BD-8439-A6FF4F30F9D1}"/>
              </a:ext>
            </a:extLst>
          </p:cNvPr>
          <p:cNvSpPr>
            <a:spLocks noGrp="1"/>
          </p:cNvSpPr>
          <p:nvPr/>
        </p:nvSpPr>
        <p:spPr>
          <a:xfrm>
            <a:off x="8677274" y="3200400"/>
            <a:ext cx="1063626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0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0CBCC91-783D-4E44-A55A-8FE86506EB6A}"/>
              </a:ext>
            </a:extLst>
          </p:cNvPr>
          <p:cNvSpPr>
            <a:spLocks noGrp="1"/>
          </p:cNvSpPr>
          <p:nvPr/>
        </p:nvSpPr>
        <p:spPr>
          <a:xfrm>
            <a:off x="9648825" y="32004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 소비비중 x 2040 인구변화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030C552-8BD1-46CB-9A7B-99155A749D7D}"/>
              </a:ext>
            </a:extLst>
          </p:cNvPr>
          <p:cNvSpPr>
            <a:spLocks noGrp="1"/>
          </p:cNvSpPr>
          <p:nvPr/>
        </p:nvSpPr>
        <p:spPr>
          <a:xfrm>
            <a:off x="8324850" y="35909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31573238-FCEC-4224-88DC-3EFA843B2E19}"/>
              </a:ext>
            </a:extLst>
          </p:cNvPr>
          <p:cNvSpPr>
            <a:spLocks noGrp="1"/>
          </p:cNvSpPr>
          <p:nvPr/>
        </p:nvSpPr>
        <p:spPr>
          <a:xfrm>
            <a:off x="8324850" y="37147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ECCF3FAE-93C3-4DC4-9464-2C28A6A75C96}"/>
              </a:ext>
            </a:extLst>
          </p:cNvPr>
          <p:cNvSpPr>
            <a:spLocks noGrp="1"/>
          </p:cNvSpPr>
          <p:nvPr/>
        </p:nvSpPr>
        <p:spPr>
          <a:xfrm>
            <a:off x="8324850" y="37242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40C1D50-42DB-4B83-8673-143C9E2DCC04}"/>
              </a:ext>
            </a:extLst>
          </p:cNvPr>
          <p:cNvSpPr>
            <a:spLocks noGrp="1"/>
          </p:cNvSpPr>
          <p:nvPr/>
        </p:nvSpPr>
        <p:spPr>
          <a:xfrm>
            <a:off x="8677275" y="36957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진단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D04C047-C826-4A97-AFD0-F66AE2BFF788}"/>
              </a:ext>
            </a:extLst>
          </p:cNvPr>
          <p:cNvSpPr>
            <a:spLocks noGrp="1"/>
          </p:cNvSpPr>
          <p:nvPr/>
        </p:nvSpPr>
        <p:spPr>
          <a:xfrm>
            <a:off x="9648825" y="36957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성장 여부 x Stress 부호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07C8602-1BF2-4A82-852D-DBC2299D328B}"/>
              </a:ext>
            </a:extLst>
          </p:cNvPr>
          <p:cNvSpPr>
            <a:spLocks noGrp="1"/>
          </p:cNvSpPr>
          <p:nvPr/>
        </p:nvSpPr>
        <p:spPr>
          <a:xfrm>
            <a:off x="8324850" y="4086225"/>
            <a:ext cx="3333750" cy="9525"/>
          </a:xfrm>
          <a:prstGeom prst="rect">
            <a:avLst/>
          </a:prstGeom>
          <a:solidFill>
            <a:srgbClr val="E5ECFA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82C8F499-8465-46E4-996D-4BB04C90DBA8}"/>
              </a:ext>
            </a:extLst>
          </p:cNvPr>
          <p:cNvSpPr>
            <a:spLocks noGrp="1"/>
          </p:cNvSpPr>
          <p:nvPr/>
        </p:nvSpPr>
        <p:spPr>
          <a:xfrm>
            <a:off x="8324850" y="4210050"/>
            <a:ext cx="257175" cy="257175"/>
          </a:xfrm>
          <a:prstGeom prst="ellipse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D27CE4C-5454-472C-A5EA-9E2CCDF1F6B1}"/>
              </a:ext>
            </a:extLst>
          </p:cNvPr>
          <p:cNvSpPr>
            <a:spLocks noGrp="1"/>
          </p:cNvSpPr>
          <p:nvPr/>
        </p:nvSpPr>
        <p:spPr>
          <a:xfrm>
            <a:off x="8324850" y="4219575"/>
            <a:ext cx="2571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795AF54-1094-49D5-A180-C89629FDF4A1}"/>
              </a:ext>
            </a:extLst>
          </p:cNvPr>
          <p:cNvSpPr>
            <a:spLocks noGrp="1"/>
          </p:cNvSpPr>
          <p:nvPr/>
        </p:nvSpPr>
        <p:spPr>
          <a:xfrm>
            <a:off x="8677275" y="41910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민감도 검증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C01A818-9DE4-4CBC-B23B-DE16B6D45E72}"/>
              </a:ext>
            </a:extLst>
          </p:cNvPr>
          <p:cNvSpPr>
            <a:spLocks noGrp="1"/>
          </p:cNvSpPr>
          <p:nvPr/>
        </p:nvSpPr>
        <p:spPr>
          <a:xfrm>
            <a:off x="9648825" y="4191000"/>
            <a:ext cx="19716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분류 일치율과 순위 상관 확인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5AE4E16-60DB-407A-8E12-4B329162AE42}"/>
              </a:ext>
            </a:extLst>
          </p:cNvPr>
          <p:cNvSpPr>
            <a:spLocks noGrp="1"/>
          </p:cNvSpPr>
          <p:nvPr/>
        </p:nvSpPr>
        <p:spPr>
          <a:xfrm>
            <a:off x="361950" y="5019675"/>
            <a:ext cx="11468100" cy="1905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FD5B998-1398-4C26-BDE1-AD5E3D5D2184}"/>
              </a:ext>
            </a:extLst>
          </p:cNvPr>
          <p:cNvSpPr>
            <a:spLocks noGrp="1"/>
          </p:cNvSpPr>
          <p:nvPr/>
        </p:nvSpPr>
        <p:spPr>
          <a:xfrm>
            <a:off x="381000" y="5105400"/>
            <a:ext cx="30480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실제</a:t>
            </a:r>
            <a:r>
              <a:rPr sz="13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구현</a:t>
            </a:r>
            <a:r>
              <a:rPr sz="13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코드</a:t>
            </a:r>
            <a:r>
              <a:rPr lang="en-US" sz="13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lang="ko-KR" altLang="en-US" sz="13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요약</a:t>
            </a:r>
            <a:endParaRPr sz="1350" b="1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E0BD0DF-72C4-4465-A46A-3A4EA21C167E}"/>
              </a:ext>
            </a:extLst>
          </p:cNvPr>
          <p:cNvSpPr>
            <a:spLocks noGrp="1"/>
          </p:cNvSpPr>
          <p:nvPr/>
        </p:nvSpPr>
        <p:spPr>
          <a:xfrm>
            <a:off x="361950" y="5429250"/>
            <a:ext cx="7524750" cy="1066800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44B2FE7A-9201-436C-987F-448CA4631E55}"/>
              </a:ext>
            </a:extLst>
          </p:cNvPr>
          <p:cNvSpPr>
            <a:spLocks noGrp="1"/>
          </p:cNvSpPr>
          <p:nvPr/>
        </p:nvSpPr>
        <p:spPr>
          <a:xfrm>
            <a:off x="552450" y="5524500"/>
            <a:ext cx="7124700" cy="876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q75 = city["업종총이용금액"].quantile(0.75)</a:t>
            </a:r>
          </a:p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stress = (age_share * pop_change_2040).groupby(case).sum()</a:t>
            </a:r>
          </a:p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segment = classify_2x2(current_growth, stress)</a:t>
            </a:r>
          </a:p>
          <a:p>
            <a:pPr algn="l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rho, p = spearmanr(stress, adjusted_stress)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560433DD-A2E4-4C70-B829-C1AB299C3122}"/>
              </a:ext>
            </a:extLst>
          </p:cNvPr>
          <p:cNvSpPr>
            <a:spLocks noGrp="1"/>
          </p:cNvSpPr>
          <p:nvPr/>
        </p:nvSpPr>
        <p:spPr>
          <a:xfrm>
            <a:off x="8067675" y="5105400"/>
            <a:ext cx="3762375" cy="1390650"/>
          </a:xfrm>
          <a:prstGeom prst="roundRect">
            <a:avLst>
              <a:gd name="adj" fmla="val 10959"/>
            </a:avLst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6D31300-6C89-47AC-9461-EF92C4FB7E98}"/>
              </a:ext>
            </a:extLst>
          </p:cNvPr>
          <p:cNvSpPr>
            <a:spLocks noGrp="1"/>
          </p:cNvSpPr>
          <p:nvPr/>
        </p:nvSpPr>
        <p:spPr>
          <a:xfrm>
            <a:off x="8277225" y="5219700"/>
            <a:ext cx="32861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결과와 연결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3575DBA5-00EC-44F2-9BB1-FEAE3C2B515E}"/>
              </a:ext>
            </a:extLst>
          </p:cNvPr>
          <p:cNvSpPr>
            <a:spLocks noGrp="1"/>
          </p:cNvSpPr>
          <p:nvPr/>
        </p:nvSpPr>
        <p:spPr>
          <a:xfrm>
            <a:off x="8286750" y="5543550"/>
            <a:ext cx="12096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규모 편향 완화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5AFD36E5-3EAF-4CEC-8D00-90CB73F82679}"/>
              </a:ext>
            </a:extLst>
          </p:cNvPr>
          <p:cNvSpPr>
            <a:spLocks noGrp="1"/>
          </p:cNvSpPr>
          <p:nvPr/>
        </p:nvSpPr>
        <p:spPr>
          <a:xfrm>
            <a:off x="9525000" y="5543550"/>
            <a:ext cx="2133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 Q75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05A1C6CA-85EA-4E0F-B34C-EFD51C9EAEB3}"/>
              </a:ext>
            </a:extLst>
          </p:cNvPr>
          <p:cNvSpPr>
            <a:spLocks noGrp="1"/>
          </p:cNvSpPr>
          <p:nvPr/>
        </p:nvSpPr>
        <p:spPr>
          <a:xfrm>
            <a:off x="8286750" y="5819775"/>
            <a:ext cx="12096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미래 위험 계산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4461E61-4D05-4BBD-8598-50A1AE4F0D2F}"/>
              </a:ext>
            </a:extLst>
          </p:cNvPr>
          <p:cNvSpPr>
            <a:spLocks noGrp="1"/>
          </p:cNvSpPr>
          <p:nvPr/>
        </p:nvSpPr>
        <p:spPr>
          <a:xfrm>
            <a:off x="9525000" y="5819775"/>
            <a:ext cx="2133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소비비중 x 인구변화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CC568C88-1198-436E-9E3D-B7614F7C68B9}"/>
              </a:ext>
            </a:extLst>
          </p:cNvPr>
          <p:cNvSpPr>
            <a:spLocks noGrp="1"/>
          </p:cNvSpPr>
          <p:nvPr/>
        </p:nvSpPr>
        <p:spPr>
          <a:xfrm>
            <a:off x="8286750" y="6096000"/>
            <a:ext cx="1209675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96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강건성 확인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986E7871-2E2F-437E-BD39-3CD7BA9CE948}"/>
              </a:ext>
            </a:extLst>
          </p:cNvPr>
          <p:cNvSpPr>
            <a:spLocks noGrp="1"/>
          </p:cNvSpPr>
          <p:nvPr/>
        </p:nvSpPr>
        <p:spPr>
          <a:xfrm>
            <a:off x="9525000" y="6096000"/>
            <a:ext cx="21336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923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분류 일치율, Spearman rho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219CDCE-1104-467C-A491-F1C8BCAF9BCA}"/>
              </a:ext>
            </a:extLst>
          </p:cNvPr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92666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5B3C39C-B813-43EB-B837-B3133817E41B}"/>
              </a:ext>
            </a:extLst>
          </p:cNvPr>
          <p:cNvSpPr>
            <a:spLocks noGrp="1"/>
          </p:cNvSpPr>
          <p:nvPr/>
        </p:nvSpPr>
        <p:spPr>
          <a:xfrm>
            <a:off x="361950" y="6677025"/>
            <a:ext cx="47625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6F0D768-B749-43DB-9C29-F8632DA5EEE0}"/>
              </a:ext>
            </a:extLst>
          </p:cNvPr>
          <p:cNvSpPr>
            <a:spLocks noGrp="1"/>
          </p:cNvSpPr>
          <p:nvPr/>
        </p:nvSpPr>
        <p:spPr>
          <a:xfrm>
            <a:off x="11382375" y="6677025"/>
            <a:ext cx="43815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endParaRPr sz="788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052C4F0-A21B-69C1-B6FE-AFDBEB02ECBE}"/>
              </a:ext>
            </a:extLst>
          </p:cNvPr>
          <p:cNvSpPr>
            <a:spLocks noGrp="1"/>
          </p:cNvSpPr>
          <p:nvPr/>
        </p:nvSpPr>
        <p:spPr>
          <a:xfrm>
            <a:off x="11468100" y="66827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  <a:r>
              <a:rPr lang="en-US"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  <a:endParaRPr sz="720" b="0" dirty="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9FDF4E9-6954-ABF8-C7BD-5CEB1069B4FC}"/>
              </a:ext>
            </a:extLst>
          </p:cNvPr>
          <p:cNvSpPr>
            <a:spLocks noGrp="1"/>
          </p:cNvSpPr>
          <p:nvPr/>
        </p:nvSpPr>
        <p:spPr>
          <a:xfrm>
            <a:off x="11620500" y="6835140"/>
            <a:ext cx="350520" cy="137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72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 dirty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65910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타원 70">
            <a:extLst>
              <a:ext uri="{FF2B5EF4-FFF2-40B4-BE49-F238E27FC236}">
                <a16:creationId xmlns:a16="http://schemas.microsoft.com/office/drawing/2014/main" id="{5E3196B7-4C4E-46EC-9124-BCB7BCAF4310}"/>
              </a:ext>
            </a:extLst>
          </p:cNvPr>
          <p:cNvSpPr>
            <a:spLocks noGrp="1"/>
          </p:cNvSpPr>
          <p:nvPr/>
        </p:nvSpPr>
        <p:spPr>
          <a:xfrm>
            <a:off x="381000" y="133350"/>
            <a:ext cx="438150" cy="438150"/>
          </a:xfrm>
          <a:prstGeom prst="ellipse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F64516-7476-4798-8448-76DDFF2ADF7A}"/>
              </a:ext>
            </a:extLst>
          </p:cNvPr>
          <p:cNvSpPr>
            <a:spLocks noGrp="1"/>
          </p:cNvSpPr>
          <p:nvPr/>
        </p:nvSpPr>
        <p:spPr>
          <a:xfrm>
            <a:off x="381000" y="161925"/>
            <a:ext cx="4381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160978-0525-4624-BE21-CF0546D99C6A}"/>
              </a:ext>
            </a:extLst>
          </p:cNvPr>
          <p:cNvSpPr>
            <a:spLocks noGrp="1"/>
          </p:cNvSpPr>
          <p:nvPr/>
        </p:nvSpPr>
        <p:spPr>
          <a:xfrm>
            <a:off x="962025" y="123825"/>
            <a:ext cx="5715000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MODELING PIPELINE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194C1D6-06E4-4290-B1CD-1759A87B01EB}"/>
              </a:ext>
            </a:extLst>
          </p:cNvPr>
          <p:cNvSpPr>
            <a:spLocks noGrp="1"/>
          </p:cNvSpPr>
          <p:nvPr/>
        </p:nvSpPr>
        <p:spPr>
          <a:xfrm>
            <a:off x="381000" y="638175"/>
            <a:ext cx="11191875" cy="409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데이터 모델링 및 검증 흐름도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DD2A65-039A-4DBC-BD46-BF94E0571585}"/>
              </a:ext>
            </a:extLst>
          </p:cNvPr>
          <p:cNvSpPr>
            <a:spLocks noGrp="1"/>
          </p:cNvSpPr>
          <p:nvPr/>
        </p:nvSpPr>
        <p:spPr>
          <a:xfrm>
            <a:off x="400050" y="1104900"/>
            <a:ext cx="112395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분석 단위: 지역 × 업종    /    현재 소비구조와 미래 인구변화를 결합한 규칙 기반 진단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105473C-6E20-44B6-9596-5B35BF01AAA4}"/>
              </a:ext>
            </a:extLst>
          </p:cNvPr>
          <p:cNvSpPr>
            <a:spLocks noGrp="1"/>
          </p:cNvSpPr>
          <p:nvPr/>
        </p:nvSpPr>
        <p:spPr>
          <a:xfrm>
            <a:off x="381000" y="1476375"/>
            <a:ext cx="2143125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원천</a:t>
            </a:r>
            <a:r>
              <a:rPr sz="10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데이터</a:t>
            </a:r>
            <a:endParaRPr sz="105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7F5F01-5CB4-4DB8-94CC-F9ED98E7CBF9}"/>
              </a:ext>
            </a:extLst>
          </p:cNvPr>
          <p:cNvSpPr>
            <a:spLocks noGrp="1"/>
          </p:cNvSpPr>
          <p:nvPr/>
        </p:nvSpPr>
        <p:spPr>
          <a:xfrm>
            <a:off x="3143250" y="14763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정합화와</a:t>
            </a:r>
            <a:r>
              <a:rPr sz="10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분석</a:t>
            </a:r>
            <a:r>
              <a:rPr sz="10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변수</a:t>
            </a:r>
            <a:endParaRPr sz="105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BBF5D0-062C-48CF-97A7-A1AE2665A5D1}"/>
              </a:ext>
            </a:extLst>
          </p:cNvPr>
          <p:cNvSpPr>
            <a:spLocks noGrp="1"/>
          </p:cNvSpPr>
          <p:nvPr/>
        </p:nvSpPr>
        <p:spPr>
          <a:xfrm>
            <a:off x="6286500" y="1476375"/>
            <a:ext cx="21907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핵심</a:t>
            </a:r>
            <a:r>
              <a:rPr sz="10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지표</a:t>
            </a:r>
            <a:endParaRPr sz="105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22B50F-A6D1-44E4-9BD3-A7C173BA7FB2}"/>
              </a:ext>
            </a:extLst>
          </p:cNvPr>
          <p:cNvSpPr>
            <a:spLocks noGrp="1"/>
          </p:cNvSpPr>
          <p:nvPr/>
        </p:nvSpPr>
        <p:spPr>
          <a:xfrm>
            <a:off x="9439275" y="1476375"/>
            <a:ext cx="2286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진단과</a:t>
            </a:r>
            <a:r>
              <a:rPr sz="10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1" dirty="0" err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전략</a:t>
            </a:r>
            <a:endParaRPr sz="1050" b="1" dirty="0">
              <a:solidFill>
                <a:srgbClr val="3F6FD1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5E4121-6FEC-4DB3-9CC9-36B568A6187E}"/>
              </a:ext>
            </a:extLst>
          </p:cNvPr>
          <p:cNvSpPr>
            <a:spLocks noGrp="1"/>
          </p:cNvSpPr>
          <p:nvPr/>
        </p:nvSpPr>
        <p:spPr>
          <a:xfrm>
            <a:off x="2638425" y="212407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16C2ADA-D560-4020-830C-05D1E050017D}"/>
              </a:ext>
            </a:extLst>
          </p:cNvPr>
          <p:cNvSpPr>
            <a:spLocks noGrp="1"/>
          </p:cNvSpPr>
          <p:nvPr/>
        </p:nvSpPr>
        <p:spPr>
          <a:xfrm>
            <a:off x="5829300" y="2124075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61BECB4-1E7B-4109-806C-931B37CEDD96}"/>
              </a:ext>
            </a:extLst>
          </p:cNvPr>
          <p:cNvSpPr>
            <a:spLocks noGrp="1"/>
          </p:cNvSpPr>
          <p:nvPr/>
        </p:nvSpPr>
        <p:spPr>
          <a:xfrm>
            <a:off x="2638425" y="3270250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5C57A46-C4AE-48ED-AFF1-FDB64F83528B}"/>
              </a:ext>
            </a:extLst>
          </p:cNvPr>
          <p:cNvSpPr>
            <a:spLocks noGrp="1"/>
          </p:cNvSpPr>
          <p:nvPr/>
        </p:nvSpPr>
        <p:spPr>
          <a:xfrm>
            <a:off x="5829300" y="3270250"/>
            <a:ext cx="4095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AB44C4-0209-4A18-AABE-0D7BB63D3FFD}"/>
              </a:ext>
            </a:extLst>
          </p:cNvPr>
          <p:cNvSpPr>
            <a:spLocks noGrp="1"/>
          </p:cNvSpPr>
          <p:nvPr/>
        </p:nvSpPr>
        <p:spPr>
          <a:xfrm>
            <a:off x="2638425" y="4384675"/>
            <a:ext cx="4572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DF38007-99EC-4A0D-A1CF-1EF965449C0D}"/>
              </a:ext>
            </a:extLst>
          </p:cNvPr>
          <p:cNvSpPr>
            <a:spLocks noGrp="1"/>
          </p:cNvSpPr>
          <p:nvPr/>
        </p:nvSpPr>
        <p:spPr>
          <a:xfrm>
            <a:off x="8864601" y="2790825"/>
            <a:ext cx="508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F64F88A-F7AB-413C-BB64-70C03A0A1E8A}"/>
              </a:ext>
            </a:extLst>
          </p:cNvPr>
          <p:cNvSpPr>
            <a:spLocks noGrp="1"/>
          </p:cNvSpPr>
          <p:nvPr/>
        </p:nvSpPr>
        <p:spPr>
          <a:xfrm>
            <a:off x="4429125" y="2771775"/>
            <a:ext cx="266700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10446D-EA59-4749-B327-C2963FF05A9F}"/>
              </a:ext>
            </a:extLst>
          </p:cNvPr>
          <p:cNvSpPr>
            <a:spLocks noGrp="1"/>
          </p:cNvSpPr>
          <p:nvPr/>
        </p:nvSpPr>
        <p:spPr>
          <a:xfrm>
            <a:off x="10458450" y="3571875"/>
            <a:ext cx="266700" cy="542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65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↓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23581FF-7BA4-48DF-B360-42E08EAB442B}"/>
              </a:ext>
            </a:extLst>
          </p:cNvPr>
          <p:cNvSpPr>
            <a:spLocks noGrp="1"/>
          </p:cNvSpPr>
          <p:nvPr/>
        </p:nvSpPr>
        <p:spPr>
          <a:xfrm>
            <a:off x="8864601" y="4406900"/>
            <a:ext cx="508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dirty="0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0980F26-659F-4A3C-A2BA-8227BEDEB390}"/>
              </a:ext>
            </a:extLst>
          </p:cNvPr>
          <p:cNvSpPr>
            <a:spLocks noGrp="1"/>
          </p:cNvSpPr>
          <p:nvPr/>
        </p:nvSpPr>
        <p:spPr>
          <a:xfrm>
            <a:off x="361950" y="1809750"/>
            <a:ext cx="2276475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3A9CCF3-3927-44D3-8D71-3D38CA20814D}"/>
              </a:ext>
            </a:extLst>
          </p:cNvPr>
          <p:cNvSpPr>
            <a:spLocks noGrp="1"/>
          </p:cNvSpPr>
          <p:nvPr/>
        </p:nvSpPr>
        <p:spPr>
          <a:xfrm>
            <a:off x="495300" y="1895475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BC Card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A5E0D60-5D6C-465A-81E2-9116AC06155D}"/>
              </a:ext>
            </a:extLst>
          </p:cNvPr>
          <p:cNvSpPr>
            <a:spLocks noGrp="1"/>
          </p:cNvSpPr>
          <p:nvPr/>
        </p:nvSpPr>
        <p:spPr>
          <a:xfrm>
            <a:off x="495300" y="2200275"/>
            <a:ext cx="20097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2026년 1~6월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지역, 업종, 연령별 결제금액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A9469B6-1CDB-489F-B52C-E1F1FFE92274}"/>
              </a:ext>
            </a:extLst>
          </p:cNvPr>
          <p:cNvSpPr>
            <a:spLocks noGrp="1"/>
          </p:cNvSpPr>
          <p:nvPr/>
        </p:nvSpPr>
        <p:spPr>
          <a:xfrm>
            <a:off x="3095625" y="1809750"/>
            <a:ext cx="27432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A20A01B-DA36-419A-B76B-7B538367F9C8}"/>
              </a:ext>
            </a:extLst>
          </p:cNvPr>
          <p:cNvSpPr>
            <a:spLocks noGrp="1"/>
          </p:cNvSpPr>
          <p:nvPr/>
        </p:nvSpPr>
        <p:spPr>
          <a:xfrm>
            <a:off x="3228975" y="1895475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분석 베이스 구성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1E7593C-9640-4ED7-91C7-B90118494E5A}"/>
              </a:ext>
            </a:extLst>
          </p:cNvPr>
          <p:cNvSpPr>
            <a:spLocks noGrp="1"/>
          </p:cNvSpPr>
          <p:nvPr/>
        </p:nvSpPr>
        <p:spPr>
          <a:xfrm>
            <a:off x="3228975" y="2200275"/>
            <a:ext cx="247650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행정구역 통합, 6개월 완전 사례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지역별 Q75, 연령별 소비비중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38871222-86C9-47A8-A197-3541AEFE1EF7}"/>
              </a:ext>
            </a:extLst>
          </p:cNvPr>
          <p:cNvSpPr>
            <a:spLocks noGrp="1"/>
          </p:cNvSpPr>
          <p:nvPr/>
        </p:nvSpPr>
        <p:spPr>
          <a:xfrm>
            <a:off x="6238875" y="1809750"/>
            <a:ext cx="2543175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5E34E63-07E8-4049-8345-C539FF9FB798}"/>
              </a:ext>
            </a:extLst>
          </p:cNvPr>
          <p:cNvSpPr>
            <a:spLocks noGrp="1"/>
          </p:cNvSpPr>
          <p:nvPr/>
        </p:nvSpPr>
        <p:spPr>
          <a:xfrm>
            <a:off x="6372225" y="1895475"/>
            <a:ext cx="22764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현재 성장 판정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1D31321-A622-4144-A656-796F66DAEA03}"/>
              </a:ext>
            </a:extLst>
          </p:cNvPr>
          <p:cNvSpPr>
            <a:spLocks noGrp="1"/>
          </p:cNvSpPr>
          <p:nvPr/>
        </p:nvSpPr>
        <p:spPr>
          <a:xfrm>
            <a:off x="6372225" y="2200275"/>
            <a:ext cx="2276475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월평균증감률 &gt; 0, 6월 &gt; 1월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상승개월수 ≥ 3을 모두 충족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6753D3E-CD48-49F0-BAA7-F6042BFACD74}"/>
              </a:ext>
            </a:extLst>
          </p:cNvPr>
          <p:cNvSpPr>
            <a:spLocks noGrp="1"/>
          </p:cNvSpPr>
          <p:nvPr/>
        </p:nvSpPr>
        <p:spPr>
          <a:xfrm>
            <a:off x="361950" y="3019425"/>
            <a:ext cx="227647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89904F1-F177-4DD9-9CC8-960D06193C21}"/>
              </a:ext>
            </a:extLst>
          </p:cNvPr>
          <p:cNvSpPr>
            <a:spLocks noGrp="1"/>
          </p:cNvSpPr>
          <p:nvPr/>
        </p:nvSpPr>
        <p:spPr>
          <a:xfrm>
            <a:off x="495300" y="3105150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장래인구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EE5A537-62C0-4948-A153-1C7172823BDA}"/>
              </a:ext>
            </a:extLst>
          </p:cNvPr>
          <p:cNvSpPr>
            <a:spLocks noGrp="1"/>
          </p:cNvSpPr>
          <p:nvPr/>
        </p:nvSpPr>
        <p:spPr>
          <a:xfrm>
            <a:off x="495300" y="3409950"/>
            <a:ext cx="2009775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서울, 부산, 경기의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2040년 연령별 인구변화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BD3C45C-40E0-4077-8BF5-F0959D5C9E41}"/>
              </a:ext>
            </a:extLst>
          </p:cNvPr>
          <p:cNvSpPr>
            <a:spLocks noGrp="1"/>
          </p:cNvSpPr>
          <p:nvPr/>
        </p:nvSpPr>
        <p:spPr>
          <a:xfrm>
            <a:off x="3095625" y="3019425"/>
            <a:ext cx="2743200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C320CA9-FC13-4C4A-8FE5-92A4BA9A0D3E}"/>
              </a:ext>
            </a:extLst>
          </p:cNvPr>
          <p:cNvSpPr>
            <a:spLocks noGrp="1"/>
          </p:cNvSpPr>
          <p:nvPr/>
        </p:nvSpPr>
        <p:spPr>
          <a:xfrm>
            <a:off x="3228975" y="3105150"/>
            <a:ext cx="247650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지역과 연령구간 정합화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DAC979B-9D23-4C76-9E9A-976A0D6C3195}"/>
              </a:ext>
            </a:extLst>
          </p:cNvPr>
          <p:cNvSpPr>
            <a:spLocks noGrp="1"/>
          </p:cNvSpPr>
          <p:nvPr/>
        </p:nvSpPr>
        <p:spPr>
          <a:xfrm>
            <a:off x="3228975" y="3409950"/>
            <a:ext cx="2476500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소비비중과 인구증감률 연결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기준연도: 2026년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7D85AC9-A67B-4010-914D-F972F885F095}"/>
              </a:ext>
            </a:extLst>
          </p:cNvPr>
          <p:cNvSpPr>
            <a:spLocks noGrp="1"/>
          </p:cNvSpPr>
          <p:nvPr/>
        </p:nvSpPr>
        <p:spPr>
          <a:xfrm>
            <a:off x="6238875" y="3019425"/>
            <a:ext cx="2543175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0E804EB-43AB-4BD1-BAAF-3AC82DA8C831}"/>
              </a:ext>
            </a:extLst>
          </p:cNvPr>
          <p:cNvSpPr>
            <a:spLocks noGrp="1"/>
          </p:cNvSpPr>
          <p:nvPr/>
        </p:nvSpPr>
        <p:spPr>
          <a:xfrm>
            <a:off x="6372225" y="3105150"/>
            <a:ext cx="22764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Future Stress 계산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ACDF22D-E768-4927-BD48-09A245176557}"/>
              </a:ext>
            </a:extLst>
          </p:cNvPr>
          <p:cNvSpPr>
            <a:spLocks noGrp="1"/>
          </p:cNvSpPr>
          <p:nvPr/>
        </p:nvSpPr>
        <p:spPr>
          <a:xfrm>
            <a:off x="6372225" y="3409950"/>
            <a:ext cx="2276475" cy="3905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Σ(연령별 소비비중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× 2040년 인구증감률)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36CC34E-6967-465C-8D78-97DAB17D68AA}"/>
              </a:ext>
            </a:extLst>
          </p:cNvPr>
          <p:cNvSpPr>
            <a:spLocks noGrp="1"/>
          </p:cNvSpPr>
          <p:nvPr/>
        </p:nvSpPr>
        <p:spPr>
          <a:xfrm>
            <a:off x="361950" y="4114800"/>
            <a:ext cx="2276475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D30E2BB-0206-421F-B0EC-E7544A72BFCD}"/>
              </a:ext>
            </a:extLst>
          </p:cNvPr>
          <p:cNvSpPr>
            <a:spLocks noGrp="1"/>
          </p:cNvSpPr>
          <p:nvPr/>
        </p:nvSpPr>
        <p:spPr>
          <a:xfrm>
            <a:off x="495300" y="4200525"/>
            <a:ext cx="20097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NAVER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8B62C06-C60A-490D-B00C-A90B41DD7FC8}"/>
              </a:ext>
            </a:extLst>
          </p:cNvPr>
          <p:cNvSpPr>
            <a:spLocks noGrp="1"/>
          </p:cNvSpPr>
          <p:nvPr/>
        </p:nvSpPr>
        <p:spPr>
          <a:xfrm>
            <a:off x="495300" y="4505325"/>
            <a:ext cx="2009775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Search와 Shopping Insight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연령별 관심도, 상품 검색 신호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0AF79B9-4A3D-46C9-8D46-230A64411850}"/>
              </a:ext>
            </a:extLst>
          </p:cNvPr>
          <p:cNvSpPr>
            <a:spLocks noGrp="1"/>
          </p:cNvSpPr>
          <p:nvPr/>
        </p:nvSpPr>
        <p:spPr>
          <a:xfrm>
            <a:off x="3095625" y="4114800"/>
            <a:ext cx="5686425" cy="819150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5DFBFBA-5F6F-42EE-8075-90D50F99A111}"/>
              </a:ext>
            </a:extLst>
          </p:cNvPr>
          <p:cNvSpPr>
            <a:spLocks noGrp="1"/>
          </p:cNvSpPr>
          <p:nvPr/>
        </p:nvSpPr>
        <p:spPr>
          <a:xfrm>
            <a:off x="3228975" y="4200525"/>
            <a:ext cx="541972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고객과 상품 신호 해석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70D7F2F-D8D7-4B0E-BCE3-54E304B7E84F}"/>
              </a:ext>
            </a:extLst>
          </p:cNvPr>
          <p:cNvSpPr>
            <a:spLocks noGrp="1"/>
          </p:cNvSpPr>
          <p:nvPr/>
        </p:nvSpPr>
        <p:spPr>
          <a:xfrm>
            <a:off x="3228975" y="4505325"/>
            <a:ext cx="5419725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결제순위와 관심순위의 차이로 관심고객 파악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인구변화로 미래고객 판단, 같은 연령 안에서 상품 후보 비교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E916E47-117E-4191-94A7-C6E80F10781C}"/>
              </a:ext>
            </a:extLst>
          </p:cNvPr>
          <p:cNvSpPr>
            <a:spLocks noGrp="1"/>
          </p:cNvSpPr>
          <p:nvPr/>
        </p:nvSpPr>
        <p:spPr>
          <a:xfrm>
            <a:off x="9372600" y="1809750"/>
            <a:ext cx="2457450" cy="1762125"/>
          </a:xfrm>
          <a:prstGeom prst="roundRect">
            <a:avLst>
              <a:gd name="adj" fmla="val 7568"/>
            </a:avLst>
          </a:prstGeom>
          <a:solidFill>
            <a:srgbClr val="EAF1FF"/>
          </a:solidFill>
          <a:ln w="952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2B27A4A-48D5-4354-B174-6AE0B9BEF584}"/>
              </a:ext>
            </a:extLst>
          </p:cNvPr>
          <p:cNvSpPr>
            <a:spLocks noGrp="1"/>
          </p:cNvSpPr>
          <p:nvPr/>
        </p:nvSpPr>
        <p:spPr>
          <a:xfrm>
            <a:off x="9505950" y="189547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4유형 </a:t>
            </a:r>
            <a:r>
              <a:rPr sz="13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진단</a:t>
            </a:r>
            <a:endParaRPr sz="135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9F038DC-4BDD-4879-A217-30251DAD7C68}"/>
              </a:ext>
            </a:extLst>
          </p:cNvPr>
          <p:cNvSpPr>
            <a:spLocks noGrp="1"/>
          </p:cNvSpPr>
          <p:nvPr/>
        </p:nvSpPr>
        <p:spPr>
          <a:xfrm>
            <a:off x="9505950" y="2200275"/>
            <a:ext cx="2190750" cy="1314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현재 성장 여부 × Stress 부호</a:t>
            </a:r>
          </a:p>
          <a:p>
            <a:pPr algn="ctr"/>
            <a:endParaRPr sz="1050" b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 / 취약: 착시성장형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성장 / 안정: 지속성장형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비성장 / 취약: 구조취약형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비성장 / 안정: 회복기회형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723BEB3C-1E03-4A8B-A273-F36410F666A0}"/>
              </a:ext>
            </a:extLst>
          </p:cNvPr>
          <p:cNvSpPr>
            <a:spLocks noGrp="1"/>
          </p:cNvSpPr>
          <p:nvPr/>
        </p:nvSpPr>
        <p:spPr>
          <a:xfrm>
            <a:off x="9372600" y="4108450"/>
            <a:ext cx="2457450" cy="819150"/>
          </a:xfrm>
          <a:prstGeom prst="roundRect">
            <a:avLst>
              <a:gd name="adj" fmla="val 16279"/>
            </a:avLst>
          </a:prstGeom>
          <a:solidFill>
            <a:srgbClr val="EAF1FF"/>
          </a:solidFill>
          <a:ln w="9525">
            <a:solidFill>
              <a:srgbClr val="3F6FD1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44ABF92-46EB-4DBD-9EBA-EF3D3C6E5450}"/>
              </a:ext>
            </a:extLst>
          </p:cNvPr>
          <p:cNvSpPr>
            <a:spLocks noGrp="1"/>
          </p:cNvSpPr>
          <p:nvPr/>
        </p:nvSpPr>
        <p:spPr>
          <a:xfrm>
            <a:off x="9505950" y="4194175"/>
            <a:ext cx="219075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상권별</a:t>
            </a:r>
            <a:r>
              <a:rPr sz="13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전략</a:t>
            </a:r>
            <a:r>
              <a:rPr sz="1350" b="1" dirty="0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35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제안</a:t>
            </a:r>
            <a:endParaRPr sz="135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DE614C4D-A29C-467F-BF75-8D85867F3143}"/>
              </a:ext>
            </a:extLst>
          </p:cNvPr>
          <p:cNvSpPr>
            <a:spLocks noGrp="1"/>
          </p:cNvSpPr>
          <p:nvPr/>
        </p:nvSpPr>
        <p:spPr>
          <a:xfrm>
            <a:off x="9505950" y="4498975"/>
            <a:ext cx="2190750" cy="371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방어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확장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재편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,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선점</a:t>
            </a:r>
            <a:endParaRPr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유형에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맞는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고객과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상품</a:t>
            </a:r>
            <a:r>
              <a:rPr sz="1050" b="0" dirty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연결</a:t>
            </a:r>
            <a:endParaRPr sz="1050" b="0" dirty="0">
              <a:solidFill>
                <a:srgbClr val="193770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A11B795-F1B0-4FB0-ABE1-90139AAC3C2C}"/>
              </a:ext>
            </a:extLst>
          </p:cNvPr>
          <p:cNvSpPr>
            <a:spLocks noGrp="1"/>
          </p:cNvSpPr>
          <p:nvPr/>
        </p:nvSpPr>
        <p:spPr>
          <a:xfrm>
            <a:off x="361950" y="5124450"/>
            <a:ext cx="11468100" cy="9525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C9C0A586-D43F-471E-BD4E-DBAFBA9B551B}"/>
              </a:ext>
            </a:extLst>
          </p:cNvPr>
          <p:cNvSpPr>
            <a:spLocks noGrp="1"/>
          </p:cNvSpPr>
          <p:nvPr/>
        </p:nvSpPr>
        <p:spPr>
          <a:xfrm>
            <a:off x="361950" y="5200650"/>
            <a:ext cx="105727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75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별도 검증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ACFD4B0-0160-4BFE-9576-60E75E842AE0}"/>
              </a:ext>
            </a:extLst>
          </p:cNvPr>
          <p:cNvSpPr>
            <a:spLocks noGrp="1"/>
          </p:cNvSpPr>
          <p:nvPr/>
        </p:nvSpPr>
        <p:spPr>
          <a:xfrm>
            <a:off x="1438275" y="5200650"/>
            <a:ext cx="515302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성장군</a:t>
            </a:r>
            <a:r>
              <a:rPr sz="105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비교</a:t>
            </a:r>
            <a:r>
              <a:rPr lang="en-US" sz="105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50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: Mann-Whitney U </a:t>
            </a:r>
            <a:r>
              <a:rPr sz="1050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검정</a:t>
            </a:r>
            <a:endParaRPr sz="1050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9201201-B3E4-4678-8D44-BB6E1B06F50E}"/>
              </a:ext>
            </a:extLst>
          </p:cNvPr>
          <p:cNvSpPr>
            <a:spLocks noGrp="1"/>
          </p:cNvSpPr>
          <p:nvPr/>
        </p:nvSpPr>
        <p:spPr>
          <a:xfrm>
            <a:off x="6191250" y="5200650"/>
            <a:ext cx="5667375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013" b="0">
                <a:solidFill>
                  <a:srgbClr val="60739A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외부유입</a:t>
            </a:r>
            <a:r>
              <a:rPr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검증</a:t>
            </a:r>
            <a:r>
              <a:rPr lang="en-US"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: </a:t>
            </a: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결제지역과</a:t>
            </a:r>
            <a:r>
              <a:rPr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거주지역</a:t>
            </a:r>
            <a:r>
              <a:rPr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차이에</a:t>
            </a:r>
            <a:r>
              <a:rPr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대한</a:t>
            </a:r>
            <a:r>
              <a:rPr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민감도</a:t>
            </a:r>
            <a:r>
              <a:rPr sz="1013" b="0" dirty="0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1013" b="0" dirty="0" err="1">
                <a:solidFill>
                  <a:srgbClr val="60739A"/>
                </a:solidFill>
                <a:latin typeface="Noto Sans KR"/>
                <a:ea typeface="Noto Sans KR"/>
                <a:cs typeface="Noto Sans KR"/>
              </a:rPr>
              <a:t>확인</a:t>
            </a:r>
            <a:endParaRPr sz="1013" b="0" dirty="0">
              <a:solidFill>
                <a:srgbClr val="60739A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4B8B1B07-1BAB-4A49-8304-003BD117819A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505325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C68CC93-1263-498D-ACE3-9071B59ECC3B}"/>
              </a:ext>
            </a:extLst>
          </p:cNvPr>
          <p:cNvSpPr>
            <a:spLocks noGrp="1"/>
          </p:cNvSpPr>
          <p:nvPr/>
        </p:nvSpPr>
        <p:spPr>
          <a:xfrm>
            <a:off x="495300" y="5610225"/>
            <a:ext cx="423862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외부유입 자료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C752C83-1D9B-4211-8A17-F73F387E72A5}"/>
              </a:ext>
            </a:extLst>
          </p:cNvPr>
          <p:cNvSpPr>
            <a:spLocks noGrp="1"/>
          </p:cNvSpPr>
          <p:nvPr/>
        </p:nvSpPr>
        <p:spPr>
          <a:xfrm>
            <a:off x="495300" y="5915025"/>
            <a:ext cx="423862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 2025 생활인구 / 부산 2025 주거, 직장, 방문인구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경기 2026년 1~3월 유동인구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E9E27E1-0971-46E8-B162-8E87594B129B}"/>
              </a:ext>
            </a:extLst>
          </p:cNvPr>
          <p:cNvSpPr>
            <a:spLocks noGrp="1"/>
          </p:cNvSpPr>
          <p:nvPr/>
        </p:nvSpPr>
        <p:spPr>
          <a:xfrm>
            <a:off x="4895850" y="57467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8D54867-B911-425F-8E1A-19394276503E}"/>
              </a:ext>
            </a:extLst>
          </p:cNvPr>
          <p:cNvSpPr>
            <a:spLocks noGrp="1"/>
          </p:cNvSpPr>
          <p:nvPr/>
        </p:nvSpPr>
        <p:spPr>
          <a:xfrm>
            <a:off x="5305425" y="5524500"/>
            <a:ext cx="2905125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9646ABA-830B-4B51-A965-CC5F940F93FE}"/>
              </a:ext>
            </a:extLst>
          </p:cNvPr>
          <p:cNvSpPr>
            <a:spLocks noGrp="1"/>
          </p:cNvSpPr>
          <p:nvPr/>
        </p:nvSpPr>
        <p:spPr>
          <a:xfrm>
            <a:off x="5438775" y="5610225"/>
            <a:ext cx="263842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방식으로 Stress 재계산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2960BBB-6CA5-485F-9E88-ECD917DD207A}"/>
              </a:ext>
            </a:extLst>
          </p:cNvPr>
          <p:cNvSpPr>
            <a:spLocks noGrp="1"/>
          </p:cNvSpPr>
          <p:nvPr/>
        </p:nvSpPr>
        <p:spPr>
          <a:xfrm>
            <a:off x="5438775" y="5915025"/>
            <a:ext cx="263842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서울과 경기: 연령구조 재가중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부산: 거주노출비율 적용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222BDA9-E352-4D9B-9314-62F75D7EB353}"/>
              </a:ext>
            </a:extLst>
          </p:cNvPr>
          <p:cNvSpPr>
            <a:spLocks noGrp="1"/>
          </p:cNvSpPr>
          <p:nvPr/>
        </p:nvSpPr>
        <p:spPr>
          <a:xfrm>
            <a:off x="8239125" y="5746750"/>
            <a:ext cx="381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F6FD1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69BF048-C521-4923-9998-8412D833BBB4}"/>
              </a:ext>
            </a:extLst>
          </p:cNvPr>
          <p:cNvSpPr>
            <a:spLocks noGrp="1"/>
          </p:cNvSpPr>
          <p:nvPr/>
        </p:nvSpPr>
        <p:spPr>
          <a:xfrm>
            <a:off x="8648700" y="5524500"/>
            <a:ext cx="3181350" cy="723900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C7D7F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106D56B-7319-49D8-A1D4-537E6A8125DC}"/>
              </a:ext>
            </a:extLst>
          </p:cNvPr>
          <p:cNvSpPr>
            <a:spLocks noGrp="1"/>
          </p:cNvSpPr>
          <p:nvPr/>
        </p:nvSpPr>
        <p:spPr>
          <a:xfrm>
            <a:off x="8782050" y="5610225"/>
            <a:ext cx="291465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기존 진단과 비교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2C863A6-D6B4-4B5C-8E25-F1471586B03F}"/>
              </a:ext>
            </a:extLst>
          </p:cNvPr>
          <p:cNvSpPr>
            <a:spLocks noGrp="1"/>
          </p:cNvSpPr>
          <p:nvPr/>
        </p:nvSpPr>
        <p:spPr>
          <a:xfrm>
            <a:off x="8782050" y="5915025"/>
            <a:ext cx="2914650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위험 / 안정 분류 일치율</a:t>
            </a:r>
          </a:p>
          <a:p>
            <a:pPr algn="ctr">
              <a:def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770"/>
                </a:solidFill>
                <a:latin typeface="Noto Sans KR"/>
                <a:ea typeface="Noto Sans KR"/>
                <a:cs typeface="Noto Sans KR"/>
              </a:rPr>
              <a:t>Spearman 순위 상관계수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889B4A2-CCA1-4249-9226-B0D9AA197D69}"/>
              </a:ext>
            </a:extLst>
          </p:cNvPr>
          <p:cNvSpPr>
            <a:spLocks noGrp="1"/>
          </p:cNvSpPr>
          <p:nvPr/>
        </p:nvSpPr>
        <p:spPr>
          <a:xfrm>
            <a:off x="361950" y="6305550"/>
            <a:ext cx="114681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지역별 데이터의 기간, 구조, 보정 방식이 달라 수치 간 직접 비교는 하지 않음.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FDE2B28-3356-4469-B037-60EE59568868}"/>
              </a:ext>
            </a:extLst>
          </p:cNvPr>
          <p:cNvSpPr>
            <a:spLocks noGrp="1"/>
          </p:cNvSpPr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B2C6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B267AF49-90C5-4EA0-A730-2BBC41B0FDCC}"/>
              </a:ext>
            </a:extLst>
          </p:cNvPr>
          <p:cNvSpPr>
            <a:spLocks noGrp="1"/>
          </p:cNvSpPr>
          <p:nvPr/>
        </p:nvSpPr>
        <p:spPr>
          <a:xfrm>
            <a:off x="361950" y="6677025"/>
            <a:ext cx="476250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미래 소비기반 스트레스 테스트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823E6DE-2400-49C7-AB82-7A05EDCA39DF}"/>
              </a:ext>
            </a:extLst>
          </p:cNvPr>
          <p:cNvSpPr>
            <a:spLocks noGrp="1"/>
          </p:cNvSpPr>
          <p:nvPr/>
        </p:nvSpPr>
        <p:spPr>
          <a:xfrm>
            <a:off x="11382375" y="6677025"/>
            <a:ext cx="438150" cy="1619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7586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095DAA3F-E28F-424D-BB01-0BD6D2EACB87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6858000"/>
          </a:xfrm>
          <a:prstGeom prst="rect">
            <a:avLst/>
          </a:prstGeom>
          <a:solidFill>
            <a:srgbClr val="EAF1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315BC7-D208-466F-8A90-5C3B4ADB7B2A}"/>
              </a:ext>
            </a:extLst>
          </p:cNvPr>
          <p:cNvSpPr>
            <a:spLocks noGrp="1"/>
          </p:cNvSpPr>
          <p:nvPr/>
        </p:nvSpPr>
        <p:spPr>
          <a:xfrm>
            <a:off x="9763125" y="0"/>
            <a:ext cx="1190625" cy="6858000"/>
          </a:xfrm>
          <a:prstGeom prst="rect">
            <a:avLst/>
          </a:prstGeom>
          <a:solidFill>
            <a:srgbClr val="D9E6FF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BE17C6-184C-4AE4-B6AC-DD93D2FDC8DB}"/>
              </a:ext>
            </a:extLst>
          </p:cNvPr>
          <p:cNvSpPr>
            <a:spLocks noGrp="1"/>
          </p:cNvSpPr>
          <p:nvPr/>
        </p:nvSpPr>
        <p:spPr>
          <a:xfrm>
            <a:off x="10953750" y="0"/>
            <a:ext cx="1238250" cy="6858000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398545-7E07-4A43-95BC-94390F7C1F3B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7524750" cy="45719"/>
          </a:xfrm>
          <a:prstGeom prst="rect">
            <a:avLst/>
          </a:prstGeom>
          <a:solidFill>
            <a:srgbClr val="3F6FD1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CA3690E-A678-4364-B374-84FB1768DCA3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3619500" cy="19050"/>
          </a:xfrm>
          <a:prstGeom prst="rect">
            <a:avLst/>
          </a:prstGeom>
          <a:solidFill>
            <a:srgbClr val="C7D7F2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E9E3D-2CE7-4B1C-859D-6BD08454FA83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72390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5700" b="1">
                <a:solidFill>
                  <a:srgbClr val="092666"/>
                </a:solidFill>
                <a:latin typeface="Noto Sans KR"/>
                <a:ea typeface="Noto Sans KR"/>
                <a:cs typeface="Noto Sans KR"/>
              </a:defRPr>
            </a:pPr>
            <a:r>
              <a:rPr sz="5700" b="1" dirty="0" err="1">
                <a:solidFill>
                  <a:srgbClr val="092666"/>
                </a:solidFill>
                <a:latin typeface="Noto Sans KR"/>
                <a:ea typeface="Noto Sans KR"/>
                <a:cs typeface="Noto Sans KR"/>
              </a:rPr>
              <a:t>감사합니다</a:t>
            </a:r>
            <a:endParaRPr sz="5700" b="1" dirty="0">
              <a:solidFill>
                <a:srgbClr val="092666"/>
              </a:solidFill>
              <a:latin typeface="Noto Sans KR"/>
              <a:ea typeface="Noto Sans KR"/>
              <a:cs typeface="Noto Sans KR"/>
            </a:endParaRPr>
          </a:p>
        </p:txBody>
      </p:sp>
    </p:spTree>
    <p:extLst>
      <p:ext uri="{BB962C8B-B14F-4D97-AF65-F5344CB8AC3E}">
        <p14:creationId xmlns:p14="http://schemas.microsoft.com/office/powerpoint/2010/main" val="7080538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3650</Words>
  <Application>Microsoft Office PowerPoint</Application>
  <DocSecurity>0</DocSecurity>
  <PresentationFormat>와이드스크린</PresentationFormat>
  <Paragraphs>700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Noto Sans KR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4243</cp:lastModifiedBy>
  <cp:revision>62</cp:revision>
  <dcterms:created xsi:type="dcterms:W3CDTF">2026-09-15T10:18:36Z</dcterms:created>
  <dcterms:modified xsi:type="dcterms:W3CDTF">2026-09-18T12:20:05Z</dcterms:modified>
</cp:coreProperties>
</file>