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108b3c1ddb4da2" /><Relationship Type="http://schemas.openxmlformats.org/officeDocument/2006/relationships/extended-properties" Target="/docProps/app.xml" Id="Rde042e64643846eb" /><Relationship Type="http://schemas.openxmlformats.org/officeDocument/2006/relationships/officeDocument" Target="/ppt/presentation.xml" Id="R8c1a6dbb6d4a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1d92c91b0241bb"/>
  </p:sldMasterIdLst>
  <p:notesMasterIdLst>
    <p:notesMasterId xmlns:r="http://schemas.openxmlformats.org/officeDocument/2006/relationships" r:id="Rc9687992f69148a4"/>
  </p:notesMasterIdLst>
  <p:sldIdLst>
    <p:sldId xmlns:r="http://schemas.openxmlformats.org/officeDocument/2006/relationships" id="256" r:id="R9890a81834cc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3877cada9b4450" /><Relationship Type="http://schemas.openxmlformats.org/officeDocument/2006/relationships/slideMaster" Target="/ppt/slideMasters/slideMaster1.xml" Id="Re31d92c91b0241bb" /><Relationship Type="http://schemas.openxmlformats.org/officeDocument/2006/relationships/notesMaster" Target="/ppt/notesMasters/notesMaster1.xml" Id="Rc9687992f69148a4" /><Relationship Type="http://schemas.openxmlformats.org/officeDocument/2006/relationships/presProps" Target="/ppt/presProps.xml" Id="R3c100c0ecfb643ed" /><Relationship Type="http://schemas.openxmlformats.org/officeDocument/2006/relationships/tableStyles" Target="/ppt/tableStyles.xml" Id="R89c3075934ef46d7" /><Relationship Type="http://schemas.openxmlformats.org/officeDocument/2006/relationships/slide" Target="/ppt/slides/slide1.xml" Id="R9890a81834cc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ff8690f62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bd74b41679472b" /><Relationship Type="http://schemas.openxmlformats.org/officeDocument/2006/relationships/notesMaster" Target="/ppt/notesMasters/notesMaster1.xml" Id="R5ede95dd628444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data/processed/seoul_busan_gyeonggi_2x2_types.csv. 총 176건: 착시성장형 17, 지속성장형 9, 구조취약형 92, 회복기회형 58. 현재 성장 26건 중 17건, 17/26*100=65.384615...%. 성장군 지역 구성: 서울 9, 부산 4, 경기 13. 지역별 진단 비율을 전체 상권의 유병률 또는 미래 실현 확률로 일반화하지 않는다. 규모기준 민감도 CSV는 2035 지표를 사용하므로 본 페이지 2040 결과의 강건성 근거로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fc50558184b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fc85a5d2d9497a" /><Relationship Type="http://schemas.openxmlformats.org/officeDocument/2006/relationships/slideLayout" Target="/ppt/slideLayouts/slideLayout1.xml" Id="R31a829cbe1e343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829cbe1e343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34b369d824241" /><Relationship Type="http://schemas.openxmlformats.org/officeDocument/2006/relationships/notesSlide" Target="/ppt/notesSlides/notesSlide1.xml" Id="R444206bb1ec04e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F983C-4EA5-44A3-9039-670F591A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F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93536-0071-4132-BBDF-8D5591F1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095F7-D79A-4E21-A858-19C60069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238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CORE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C5B5E-7A93-46C7-9400-FCA0DA84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1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핵심 발견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2EDFE-BFE7-482F-8345-B46A5E55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성장 사례의 65.4%에서 미래 소비기반 취약 진단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371C1-274D-4613-AA03-0C1256E4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서울, 부산, 경기의 지역별 Q75 분석 대상 176건 중 현재 성장 사례 26건을 확인했습니다.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0D544-2E79-43E9-AEB6-7289C02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4648200" cy="3057525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667CA-393E-4754-B361-64F05F3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4219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성장 26건 중 착시성장형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EEA4C-CB1A-4E9D-BAF9-5D45D428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2195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65.4%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AD0F7-F7DC-4053-BE99-215D57CF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4143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17건 / 26건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1B02C-2666-4BF7-9630-39864911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4143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성장은 확인됐지만, 연령별 소비비중에</a:t>
            </a:r>
          </a:p>
          <a:p xmlns:a="http://schemas.openxmlformats.org/drawingml/2006/main">
            <a:pPr algn="l">
              <a:defRPr sz="12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2040년 인구변화를 반영하면 Stress가 음수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97A93-B4B0-47DD-93AE-1C889070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71625"/>
            <a:ext cx="6619875" cy="3057525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F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CBF61-DE82-4F35-B266-F4BD6579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62125"/>
            <a:ext cx="6172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성장 사례의 구성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5429250" y="2219325"/>
          <a:ext xmlns:a="http://schemas.openxmlformats.org/drawingml/2006/main" cx="6172200" cy="1866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지역</a:t>
                      </a:r>
                    </a:p>
                  </a:txBody>
                  <a:tcPr marL="91440" marR="91440" marT="45720" marB="45720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성장</a:t>
                      </a:r>
                    </a:p>
                  </a:txBody>
                  <a:tcPr marL="91440" marR="91440" marT="45720" marB="45720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착시성장형</a:t>
                      </a:r>
                    </a:p>
                  </a:txBody>
                  <a:tcPr marL="91440" marR="91440" marT="45720" marB="45720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지속성장형</a:t>
                      </a:r>
                    </a:p>
                  </a:txBody>
                  <a:tcPr marL="91440" marR="91440" marT="45720" marB="45720">
                    <a:solidFill>
                      <a:srgbClr val="EAF1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26건</a:t>
                      </a:r>
                    </a:p>
                  </a:txBody>
                  <a:tcPr marL="91440" marR="91440" marT="45720" marB="45720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17건</a:t>
                      </a:r>
                    </a:p>
                  </a:txBody>
                  <a:tcPr marL="91440" marR="91440" marT="45720" marB="45720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9건</a:t>
                      </a:r>
                    </a:p>
                  </a:txBody>
                  <a:tcPr marL="91440" marR="91440" marT="45720" marB="45720">
                    <a:solidFill>
                      <a:srgbClr val="F0F5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1C257-25F6-477F-B245-1FFFFE2B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단위: 지역 × 업종    착시성장형: 성장 + 취약 / 지속성장형: 성장 + 안정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DB583-83FD-4C47-9201-25554F6B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81550"/>
            <a:ext cx="11468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926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C69D7-6A35-4DBC-AA98-7E2AD8C9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의사결정 활용: 성장 사례 26건 중 17건은 확장에 앞서 미래 고객기반을 추가 점검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C208C-924F-41BB-83FA-6B356DD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495925"/>
            <a:ext cx="51625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EF3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E7CCA-59A3-4B46-9C76-4DAFD394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05450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계산 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221AB-C3C3-4F38-B973-F9C04F1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91200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growth = df[df["유형"].isin(["착시성장형", "지속성장형"])]</a:t>
            </a:r>
          </a:p>
          <a:p xmlns:a="http://schemas.openxmlformats.org/drawingml/2006/main">
            <a:pPr algn="l">
              <a:defRPr sz="975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share = growth["유형"].eq("착시성장형").mean() * 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19931-7490-4677-A2C9-6828096B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505450"/>
            <a:ext cx="585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 범위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5ED05-0236-4D69-A710-8933BB26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00725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65.4%는 선정된 분석 대상 안에서의 진단 비율입니다.</a:t>
            </a:r>
          </a:p>
          <a:p xmlns:a="http://schemas.openxmlformats.org/drawingml/2006/main">
            <a:pPr algn="l">
              <a:def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실제 매출 감소 확률이나 전체 상권의 비율을 뜻하지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55CAF-01F9-410F-91D8-C7F6A48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집계 기준: 최종 4유형 CSV / 현재 성장 3조건 충족 / 취약 기준: 2040 Future Stress &lt;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50EF5-099B-44D2-8659-0571A904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66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50CCD-53BE-4A76-9A49-3D61C19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77025"/>
            <a:ext cx="571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61813-C8D1-4FE1-B0CB-A4B19732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677025"/>
            <a:ext cx="438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7448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2026-09-18T12:51:12.6920000Z</dcterms:created>
  <dcterms:modified xsi:type="dcterms:W3CDTF">2026-09-18T12:51:12.6930000Z</dcterms:modified>
</coreProperties>
</file>