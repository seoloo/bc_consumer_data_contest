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77ebb2ec994c88" /><Relationship Type="http://schemas.openxmlformats.org/officeDocument/2006/relationships/extended-properties" Target="/docProps/app.xml" Id="R833c9cc711de438d" /><Relationship Type="http://schemas.openxmlformats.org/officeDocument/2006/relationships/officeDocument" Target="/ppt/presentation.xml" Id="R60c96dbbed8d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9f3070447a4caa"/>
  </p:sldMasterIdLst>
  <p:notesMasterIdLst>
    <p:notesMasterId xmlns:r="http://schemas.openxmlformats.org/officeDocument/2006/relationships" r:id="R5ebc38b1ec4d4243"/>
  </p:notesMasterIdLst>
  <p:sldIdLst>
    <p:sldId xmlns:r="http://schemas.openxmlformats.org/officeDocument/2006/relationships" id="256" r:id="R9bfab1d7fdff4d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4c435ed0304eb6" /><Relationship Type="http://schemas.openxmlformats.org/officeDocument/2006/relationships/slideMaster" Target="/ppt/slideMasters/slideMaster1.xml" Id="R7e9f3070447a4caa" /><Relationship Type="http://schemas.openxmlformats.org/officeDocument/2006/relationships/notesMaster" Target="/ppt/notesMasters/notesMaster1.xml" Id="R5ebc38b1ec4d4243" /><Relationship Type="http://schemas.openxmlformats.org/officeDocument/2006/relationships/presProps" Target="/ppt/presProps.xml" Id="R1f41d3f886294ab3" /><Relationship Type="http://schemas.openxmlformats.org/officeDocument/2006/relationships/tableStyles" Target="/ppt/tableStyles.xml" Id="R2c6abe817fbd44f7" /><Relationship Type="http://schemas.openxmlformats.org/officeDocument/2006/relationships/slide" Target="/ppt/slides/slide1.xml" Id="R9bfab1d7fdff4d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dc3307a99e4f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777556cb7547b1" /><Relationship Type="http://schemas.openxmlformats.org/officeDocument/2006/relationships/notesMaster" Target="/ppt/notesMasters/notesMaster1.xml" Id="R574d6124c4944a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근거: 사용자 최종 발표자료 bc_contest_v2.7.pptx와 notebook/01_population.ipynb, 02_naver_api.ipynb, 03_bc_data.ipynb. 소비비중은 0~1 비율을 사용한다. 외부유입은 지역별 민감도 검증이며 실제 고객 거주지를 식별하거나 보정한 결과가 아니다. 서울의 고연령 생활인구는 60~74세 대리구간을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d0d323c9b48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a39114720b4b65" /><Relationship Type="http://schemas.openxmlformats.org/officeDocument/2006/relationships/slideLayout" Target="/ppt/slideLayouts/slideLayout1.xml" Id="Ra105eeb76065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05eeb76065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f69392b464a5f" /><Relationship Type="http://schemas.openxmlformats.org/officeDocument/2006/relationships/notesSlide" Target="/ppt/notesSlides/notesSlide1.xml" Id="R719fd48f0f7545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3196B7-4C4E-46EC-9124-BCB7BCA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F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64516-7476-4798-8448-76DDFF2A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60978-0525-4624-BE21-CF0546D9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238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MODELING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A3326-D094-421F-B1AB-FA0A0F8A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1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분석 기술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4C1D6-06E4-4290-B1CD-1759A87B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데이터 모델링 및 검증 흐름도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D2A65-039A-4DBC-BD46-BF94E057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23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분석 단위: 지역 × 업종    /    현재 소비구조와 미래 인구변화를 결합한 규칙 기반 진단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5473C-6E20-44B6-9596-5B35BF01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원천 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F5F01-5CB4-4DB8-94CC-F9ED98E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정합화와 분석 변수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BF5D0-062C-48CF-97A7-A1AE266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핵심 지표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2B50F-A6D1-44E4-9BD3-A7C173BA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763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진단과 전략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E4121-6FEC-4DB3-9CC9-36B568A6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124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C2ADA-D560-4020-830C-05D1E05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2407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BECB4-1E7B-4109-806C-931B37CE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00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57A46-C4AE-48ED-AFF1-FDB64F8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00400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B44C4-0209-4A18-AABE-0D7BB63D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2767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38007-99EC-4A0D-A1CF-1EF96544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43150"/>
            <a:ext cx="447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F309B-3DDA-4245-93BF-CFDC523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24100"/>
            <a:ext cx="19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503A3-ED7B-44C7-8DA1-5E051CE1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432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4F88A-F7AB-413C-BB64-70C03A0A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7177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0446D-EA59-4749-B327-C2963FF0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71875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581FF-7BA4-48DF-B360-42E08EAB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86250"/>
            <a:ext cx="447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80F26-659F-4A3C-A2BA-8227BEDE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09750"/>
            <a:ext cx="2276475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9CCF3-3927-44D3-8D71-3D38CA2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2009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Card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E0D60-5D6C-465A-81E2-9116AC06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0275"/>
            <a:ext cx="200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2026년 1~6월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지역, 업종, 연령별 결제금액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469B6-1CDB-489F-B52C-E1F1FFE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27432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0A01B-DA36-419A-B76B-7B538367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8954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베이스 구성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7593C-9640-4ED7-91C7-B901184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200275"/>
            <a:ext cx="247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행정구역 통합, 6개월 완전 사례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 Q75, 연령별 소비비중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71222-86C9-47A8-A197-3541AEFE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2543175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E34E63-07E8-4049-8345-C539FF9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95475"/>
            <a:ext cx="2276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성장 판정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D31321-A622-4144-A656-796F66DA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00275"/>
            <a:ext cx="2276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월평균증감률 &gt; 0, 6월 &gt; 1월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상승개월수 ≥ 3을 모두 충족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753D3E-CD48-49F0-BAA7-F6042BFA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19425"/>
            <a:ext cx="227647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904F1-F177-4DD9-9CC8-960D0619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2009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장래인구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E5A537-62C0-4948-A153-1C717282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서울, 부산, 경기의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2040년 연령별 인구변화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D3C45C-40E0-4077-8BF5-F0959D5C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19425"/>
            <a:ext cx="27432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320CA9-FC13-4C4A-8FE5-92A4BA9A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10515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지역과 연령구간 정합화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AC979B-9D23-4C76-9E9A-976A0D6C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409950"/>
            <a:ext cx="2476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소비비중과 인구증감률 연결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기준연도: 2026년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D85AC9-A67B-4010-914D-F972F885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4317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E804EB-43AB-4BD1-BAAF-3AC82DA8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05150"/>
            <a:ext cx="2276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Future Stress 계산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CDF22D-E768-4927-BD48-09A24517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09950"/>
            <a:ext cx="2276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Σ(연령별 소비비중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× 2040년 인구증감률)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6CC34E-6967-465C-8D78-97DAB17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14800"/>
            <a:ext cx="22764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30E2BB-0206-421F-B0EC-E7544A72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00525"/>
            <a:ext cx="2009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NAVER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B62C06-C60A-490D-B00C-A90B41DD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05325"/>
            <a:ext cx="2009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Search와 Shopping Insight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 관심도, 상품 검색 신호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AF79B9-4A3D-46C9-8D46-230A6441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14800"/>
            <a:ext cx="568642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DFBFBA-5F6F-42EE-8075-90D50F99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200525"/>
            <a:ext cx="541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고객과 상품 신호 해석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0D7F2F-D8D7-4B0E-BCE3-54E304B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505325"/>
            <a:ext cx="541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결제순위와 관심순위의 차이로 관심고객 파악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인구변화로 미래고객 판단, 같은 연령 안에서 상품 후보 비교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916E47-117E-4191-94A7-C6E80F10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245745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3F6FD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B27A4A-48D5-4354-B174-6AE0B9BE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954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4유형 진단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F038DC-4BDD-4879-A217-30251DAD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00275"/>
            <a:ext cx="2190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성장 여부 × Stress 부호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 / 취약: 착시성장형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 / 안정: 지속성장형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비성장 / 취약: 구조취약형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비성장 / 안정: 회복기회형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3BEB3C-1E03-4A8B-A273-F36410F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14800"/>
            <a:ext cx="24574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3F6FD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4ABF92-46EB-4DBD-9EBA-EF3D3C6E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005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상권별 전략 제안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614C4D-A29C-467F-BF75-8D85867F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05325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방어, 확장, 재편, 선점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유형에 맞는 고객과 상품 연결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11B795-F1B0-4FB0-ABE1-90139AAC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244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F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C0A586-D43F-471E-BD4E-DBAFBA9B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00650"/>
            <a:ext cx="1057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별도 검증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CFD4B0-0160-4BFE-9576-60E75E84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00650"/>
            <a:ext cx="515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성장군 비교: Mann-Whitney U 검정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201201-B3E4-4678-8D44-BB6E1B0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566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외부유입 검증: 결제지역과 거주지역 차이에 대한 민감도 확인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8B1B07-1BAB-4A49-8304-003BD117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24500"/>
            <a:ext cx="4505325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68CC93-1263-498D-ACE3-9071B59E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0225"/>
            <a:ext cx="4238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외부유입 자료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752C83-1D9B-4211-8A17-F73F387E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15025"/>
            <a:ext cx="4238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 2025 생활인구 / 부산 2025 주거, 직장, 방문인구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경기 2026년 1~3월 유동인구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9E27E1-0971-46E8-B162-8E87594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734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D54867-B911-425F-8E1A-19394276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524500"/>
            <a:ext cx="2905125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646ABA-830B-4B51-A965-CC5F940F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610225"/>
            <a:ext cx="2638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방식으로 Stress 재계산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960BBB-6CA5-485F-9E88-ECD917DD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915025"/>
            <a:ext cx="2638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서울과 경기: 연령구조 재가중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부산: 거주노출비율 적용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22BDA9-E352-4D9B-9314-62F75D7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34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9BF048-C521-4923-9998-8412D83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24500"/>
            <a:ext cx="31813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106D56B-7319-49D8-A1D4-537E6A81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10225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기존 진단과 비교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C863A6-D6B4-4B5C-8E25-F147158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15025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 / 안정 분류 일치율</a:t>
            </a:r>
          </a:p>
          <a:p xmlns:a="http://schemas.openxmlformats.org/drawingml/2006/main"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Spearman 순위 상관계수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89B4A2-CCA1-4249-9226-B0D9AA1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05550"/>
            <a:ext cx="1146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데이터의 기간, 구조, 보정 방식이 달라 수치 간 직접 비교는 하지 않음.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DE2B28-3356-4469-B037-60EE595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9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67AF49-90C5-4EA0-A730-2BBC41B0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770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23E6DE-2400-49C7-AB82-7A05EDCA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677025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7586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2026-09-18T12:12:40.3580000Z</dcterms:created>
  <dcterms:modified xsi:type="dcterms:W3CDTF">2026-09-18T12:12:40.3580000Z</dcterms:modified>
</coreProperties>
</file>